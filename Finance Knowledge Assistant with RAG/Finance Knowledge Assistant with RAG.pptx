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libri" pitchFamily="34" charset="0"/>
      <p:regular r:id="rId15"/>
      <p:bold r:id="rId16"/>
      <p:italic r:id="rId17"/>
      <p:boldItalic r:id="rId18"/>
    </p:embeddedFont>
    <p:embeddedFont>
      <p:font typeface="TT Interphases" charset="0"/>
      <p:regular r:id="rId19"/>
    </p:embeddedFont>
    <p:embeddedFont>
      <p:font typeface="TT Interphases Italics" charset="0"/>
      <p:regular r:id="rId20"/>
    </p:embeddedFont>
    <p:embeddedFont>
      <p:font typeface="TT Interphases Bold" charset="0"/>
      <p:regular r:id="rId21"/>
    </p:embeddedFont>
    <p:embeddedFont>
      <p:font typeface="TT Interphases Bold Italics"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autoAdjust="0"/>
    <p:restoredTop sz="94622" autoAdjust="0"/>
  </p:normalViewPr>
  <p:slideViewPr>
    <p:cSldViewPr>
      <p:cViewPr varScale="1">
        <p:scale>
          <a:sx n="48" d="100"/>
          <a:sy n="48" d="100"/>
        </p:scale>
        <p:origin x="-60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png"/><Relationship Id="rId3" Type="http://schemas.openxmlformats.org/officeDocument/2006/relationships/image" Target="../media/image2.sv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image" Target="../media/image1.png"/><Relationship Id="rId16"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7.png"/><Relationship Id="rId5" Type="http://schemas.openxmlformats.org/officeDocument/2006/relationships/image" Target="../media/image3.png"/><Relationship Id="rId15" Type="http://schemas.openxmlformats.org/officeDocument/2006/relationships/image" Target="../media/image9.png"/><Relationship Id="rId10" Type="http://schemas.openxmlformats.org/officeDocument/2006/relationships/image" Target="../media/image9.sv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3.svg"/></Relationships>
</file>

<file path=ppt/slides/_rels/slide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2.svg"/><Relationship Id="rId7" Type="http://schemas.openxmlformats.org/officeDocument/2006/relationships/image" Target="../media/image7.png"/><Relationship Id="rId12"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1.png"/><Relationship Id="rId10" Type="http://schemas.openxmlformats.org/officeDocument/2006/relationships/image" Target="../media/image1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2.svg"/><Relationship Id="rId12"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11" Type="http://schemas.openxmlformats.org/officeDocument/2006/relationships/image" Target="../media/image14.png"/><Relationship Id="rId5" Type="http://schemas.openxmlformats.org/officeDocument/2006/relationships/image" Target="../media/image7.pn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13.svg"/><Relationship Id="rId3" Type="http://schemas.openxmlformats.org/officeDocument/2006/relationships/image" Target="../media/image2.svg"/><Relationship Id="rId7" Type="http://schemas.openxmlformats.org/officeDocument/2006/relationships/image" Target="../media/image21.png"/><Relationship Id="rId12"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19.svg"/><Relationship Id="rId5" Type="http://schemas.openxmlformats.org/officeDocument/2006/relationships/image" Target="../media/image11.svg"/><Relationship Id="rId10"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5.pn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17.svg"/><Relationship Id="rId10" Type="http://schemas.openxmlformats.org/officeDocument/2006/relationships/image" Target="../media/image13.sv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1.svg"/><Relationship Id="rId7"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8.png"/><Relationship Id="rId5" Type="http://schemas.openxmlformats.org/officeDocument/2006/relationships/image" Target="../media/image2.svg"/><Relationship Id="rId10" Type="http://schemas.openxmlformats.org/officeDocument/2006/relationships/image" Target="../media/image29.png"/><Relationship Id="rId4" Type="http://schemas.openxmlformats.org/officeDocument/2006/relationships/image" Target="../media/image1.png"/><Relationship Id="rId9" Type="http://schemas.openxmlformats.org/officeDocument/2006/relationships/image" Target="../media/image5.svg"/><Relationship Id="rId14" Type="http://schemas.openxmlformats.org/officeDocument/2006/relationships/image" Target="../media/image13.sv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5.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7.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png"/><Relationship Id="rId18"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33.png"/><Relationship Id="rId12" Type="http://schemas.openxmlformats.org/officeDocument/2006/relationships/image" Target="../media/image11.svg"/><Relationship Id="rId17" Type="http://schemas.openxmlformats.org/officeDocument/2006/relationships/image" Target="../media/image9.png"/><Relationship Id="rId2" Type="http://schemas.openxmlformats.org/officeDocument/2006/relationships/image" Target="../media/image1.png"/><Relationship Id="rId16"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2026617">
            <a:off x="3395976" y="3190853"/>
            <a:ext cx="20299771" cy="6754287"/>
          </a:xfrm>
          <a:custGeom>
            <a:avLst/>
            <a:gdLst/>
            <a:ahLst/>
            <a:cxnLst/>
            <a:rect l="l" t="t" r="r" b="b"/>
            <a:pathLst>
              <a:path w="20299771" h="6754287">
                <a:moveTo>
                  <a:pt x="0" y="0"/>
                </a:moveTo>
                <a:lnTo>
                  <a:pt x="20299771" y="0"/>
                </a:lnTo>
                <a:lnTo>
                  <a:pt x="20299771" y="6754287"/>
                </a:lnTo>
                <a:lnTo>
                  <a:pt x="0" y="6754287"/>
                </a:lnTo>
                <a:lnTo>
                  <a:pt x="0" y="0"/>
                </a:lnTo>
                <a:close/>
              </a:path>
            </a:pathLst>
          </a:custGeom>
          <a:blipFill>
            <a:blip r:embed="rId2">
              <a:alphaModFix amt="15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8841392" y="587451"/>
            <a:ext cx="9122342" cy="9105756"/>
          </a:xfrm>
          <a:custGeom>
            <a:avLst/>
            <a:gdLst/>
            <a:ahLst/>
            <a:cxnLst/>
            <a:rect l="l" t="t" r="r" b="b"/>
            <a:pathLst>
              <a:path w="9122342" h="9105756">
                <a:moveTo>
                  <a:pt x="0" y="0"/>
                </a:moveTo>
                <a:lnTo>
                  <a:pt x="9122342" y="0"/>
                </a:lnTo>
                <a:lnTo>
                  <a:pt x="9122342" y="9105756"/>
                </a:lnTo>
                <a:lnTo>
                  <a:pt x="0" y="9105756"/>
                </a:lnTo>
                <a:lnTo>
                  <a:pt x="0" y="0"/>
                </a:lnTo>
                <a:close/>
              </a:path>
            </a:pathLst>
          </a:custGeom>
          <a:blipFill>
            <a:blip r:embed="rId4"/>
            <a:stretch>
              <a:fillRect/>
            </a:stretch>
          </a:blipFill>
        </p:spPr>
      </p:sp>
      <p:sp>
        <p:nvSpPr>
          <p:cNvPr id="4" name="Freeform 4"/>
          <p:cNvSpPr/>
          <p:nvPr/>
        </p:nvSpPr>
        <p:spPr>
          <a:xfrm rot="2157946">
            <a:off x="10971715" y="1704128"/>
            <a:ext cx="7674174" cy="2885362"/>
          </a:xfrm>
          <a:custGeom>
            <a:avLst/>
            <a:gdLst/>
            <a:ahLst/>
            <a:cxnLst/>
            <a:rect l="l" t="t" r="r" b="b"/>
            <a:pathLst>
              <a:path w="7674174" h="2885362">
                <a:moveTo>
                  <a:pt x="0" y="0"/>
                </a:moveTo>
                <a:lnTo>
                  <a:pt x="7674174" y="0"/>
                </a:lnTo>
                <a:lnTo>
                  <a:pt x="7674174" y="2885362"/>
                </a:lnTo>
                <a:lnTo>
                  <a:pt x="0" y="2885362"/>
                </a:lnTo>
                <a:lnTo>
                  <a:pt x="0" y="0"/>
                </a:lnTo>
                <a:close/>
              </a:path>
            </a:pathLst>
          </a:custGeom>
          <a:blipFill>
            <a:blip r:embed="rId5">
              <a:extLst>
                <a:ext uri="{96DAC541-7B7A-43D3-8B79-37D633B846F1}">
                  <asvg:svgBlip xmlns:asvg="http://schemas.microsoft.com/office/drawing/2016/SVG/main" xmlns="" r:embed="rId6"/>
                </a:ext>
              </a:extLst>
            </a:blip>
            <a:stretch>
              <a:fillRect b="-32984"/>
            </a:stretch>
          </a:blipFill>
        </p:spPr>
      </p:sp>
      <p:sp>
        <p:nvSpPr>
          <p:cNvPr id="5" name="Freeform 5"/>
          <p:cNvSpPr/>
          <p:nvPr/>
        </p:nvSpPr>
        <p:spPr>
          <a:xfrm rot="2157946" flipV="1">
            <a:off x="8438712" y="4719029"/>
            <a:ext cx="7674174" cy="3837087"/>
          </a:xfrm>
          <a:custGeom>
            <a:avLst/>
            <a:gdLst/>
            <a:ahLst/>
            <a:cxnLst/>
            <a:rect l="l" t="t" r="r" b="b"/>
            <a:pathLst>
              <a:path w="7674174" h="3837087">
                <a:moveTo>
                  <a:pt x="0" y="3837087"/>
                </a:moveTo>
                <a:lnTo>
                  <a:pt x="7674174" y="3837087"/>
                </a:lnTo>
                <a:lnTo>
                  <a:pt x="7674174" y="0"/>
                </a:lnTo>
                <a:lnTo>
                  <a:pt x="0" y="0"/>
                </a:lnTo>
                <a:lnTo>
                  <a:pt x="0" y="3837087"/>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6" name="Group 6"/>
          <p:cNvGrpSpPr/>
          <p:nvPr/>
        </p:nvGrpSpPr>
        <p:grpSpPr>
          <a:xfrm>
            <a:off x="9975622" y="1713388"/>
            <a:ext cx="6853883" cy="685388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01D89">
                    <a:alpha val="100000"/>
                  </a:srgbClr>
                </a:gs>
                <a:gs pos="100000">
                  <a:srgbClr val="D2689C">
                    <a:alpha val="100000"/>
                  </a:srgbClr>
                </a:gs>
              </a:gsLst>
              <a:lin ang="0"/>
            </a:gradFill>
          </p:spPr>
        </p:sp>
        <p:sp>
          <p:nvSpPr>
            <p:cNvPr id="8" name="TextBox 8"/>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10176794" y="1914560"/>
            <a:ext cx="6451538" cy="645153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a:stretch>
            </a:blipFill>
          </p:spPr>
        </p:sp>
      </p:grpSp>
      <p:sp>
        <p:nvSpPr>
          <p:cNvPr id="11" name="Freeform 11"/>
          <p:cNvSpPr/>
          <p:nvPr/>
        </p:nvSpPr>
        <p:spPr>
          <a:xfrm>
            <a:off x="-458594" y="5993565"/>
            <a:ext cx="1519526" cy="3084508"/>
          </a:xfrm>
          <a:custGeom>
            <a:avLst/>
            <a:gdLst/>
            <a:ahLst/>
            <a:cxnLst/>
            <a:rect l="l" t="t" r="r" b="b"/>
            <a:pathLst>
              <a:path w="1519526" h="3084508">
                <a:moveTo>
                  <a:pt x="0" y="0"/>
                </a:moveTo>
                <a:lnTo>
                  <a:pt x="1519526" y="0"/>
                </a:lnTo>
                <a:lnTo>
                  <a:pt x="1519526" y="3084508"/>
                </a:lnTo>
                <a:lnTo>
                  <a:pt x="0" y="3084508"/>
                </a:lnTo>
                <a:lnTo>
                  <a:pt x="0" y="0"/>
                </a:lnTo>
                <a:close/>
              </a:path>
            </a:pathLst>
          </a:custGeom>
          <a:blipFill>
            <a:blip r:embed="rId8"/>
            <a:stretch>
              <a:fillRect/>
            </a:stretch>
          </a:blipFill>
        </p:spPr>
      </p:sp>
      <p:sp>
        <p:nvSpPr>
          <p:cNvPr id="12" name="Freeform 12"/>
          <p:cNvSpPr/>
          <p:nvPr/>
        </p:nvSpPr>
        <p:spPr>
          <a:xfrm flipH="1">
            <a:off x="16818832" y="0"/>
            <a:ext cx="2071591" cy="4205152"/>
          </a:xfrm>
          <a:custGeom>
            <a:avLst/>
            <a:gdLst/>
            <a:ahLst/>
            <a:cxnLst/>
            <a:rect l="l" t="t" r="r" b="b"/>
            <a:pathLst>
              <a:path w="2071591" h="4205152">
                <a:moveTo>
                  <a:pt x="2071591" y="0"/>
                </a:moveTo>
                <a:lnTo>
                  <a:pt x="0" y="0"/>
                </a:lnTo>
                <a:lnTo>
                  <a:pt x="0" y="4205152"/>
                </a:lnTo>
                <a:lnTo>
                  <a:pt x="2071591" y="4205152"/>
                </a:lnTo>
                <a:lnTo>
                  <a:pt x="2071591" y="0"/>
                </a:lnTo>
                <a:close/>
              </a:path>
            </a:pathLst>
          </a:custGeom>
          <a:blipFill>
            <a:blip r:embed="rId8"/>
            <a:stretch>
              <a:fillRect/>
            </a:stretch>
          </a:blipFill>
        </p:spPr>
      </p:sp>
      <p:sp>
        <p:nvSpPr>
          <p:cNvPr id="13" name="Freeform 13"/>
          <p:cNvSpPr/>
          <p:nvPr/>
        </p:nvSpPr>
        <p:spPr>
          <a:xfrm>
            <a:off x="1060932" y="8585592"/>
            <a:ext cx="672708" cy="672708"/>
          </a:xfrm>
          <a:custGeom>
            <a:avLst/>
            <a:gdLst/>
            <a:ahLst/>
            <a:cxnLst/>
            <a:rect l="l" t="t" r="r" b="b"/>
            <a:pathLst>
              <a:path w="672708" h="672708">
                <a:moveTo>
                  <a:pt x="0" y="0"/>
                </a:moveTo>
                <a:lnTo>
                  <a:pt x="672709" y="0"/>
                </a:lnTo>
                <a:lnTo>
                  <a:pt x="672709" y="672708"/>
                </a:lnTo>
                <a:lnTo>
                  <a:pt x="0" y="672708"/>
                </a:lnTo>
                <a:lnTo>
                  <a:pt x="0" y="0"/>
                </a:lnTo>
                <a:close/>
              </a:path>
            </a:pathLst>
          </a:custGeom>
          <a:blipFill>
            <a:blip r:embed="rId9" cstate="print">
              <a:extLst>
                <a:ext uri="{96DAC541-7B7A-43D3-8B79-37D633B846F1}">
                  <asvg:svgBlip xmlns:asvg="http://schemas.microsoft.com/office/drawing/2016/SVG/main" xmlns="" r:embed="rId10"/>
                </a:ext>
              </a:extLst>
            </a:blip>
            <a:stretch>
              <a:fillRect/>
            </a:stretch>
          </a:blipFill>
        </p:spPr>
      </p:sp>
      <p:sp>
        <p:nvSpPr>
          <p:cNvPr id="14" name="Freeform 14"/>
          <p:cNvSpPr/>
          <p:nvPr/>
        </p:nvSpPr>
        <p:spPr>
          <a:xfrm>
            <a:off x="7481992" y="-3498726"/>
            <a:ext cx="4793807" cy="4802539"/>
          </a:xfrm>
          <a:custGeom>
            <a:avLst/>
            <a:gdLst/>
            <a:ahLst/>
            <a:cxnLst/>
            <a:rect l="l" t="t" r="r" b="b"/>
            <a:pathLst>
              <a:path w="4793807" h="4802539">
                <a:moveTo>
                  <a:pt x="0" y="0"/>
                </a:moveTo>
                <a:lnTo>
                  <a:pt x="4793807" y="0"/>
                </a:lnTo>
                <a:lnTo>
                  <a:pt x="4793807" y="4802539"/>
                </a:lnTo>
                <a:lnTo>
                  <a:pt x="0" y="4802539"/>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sp>
      <p:sp>
        <p:nvSpPr>
          <p:cNvPr id="15" name="Freeform 15"/>
          <p:cNvSpPr/>
          <p:nvPr/>
        </p:nvSpPr>
        <p:spPr>
          <a:xfrm>
            <a:off x="16108917" y="8366098"/>
            <a:ext cx="4940090" cy="4949088"/>
          </a:xfrm>
          <a:custGeom>
            <a:avLst/>
            <a:gdLst/>
            <a:ahLst/>
            <a:cxnLst/>
            <a:rect l="l" t="t" r="r" b="b"/>
            <a:pathLst>
              <a:path w="4940090" h="4949088">
                <a:moveTo>
                  <a:pt x="0" y="0"/>
                </a:moveTo>
                <a:lnTo>
                  <a:pt x="4940090" y="0"/>
                </a:lnTo>
                <a:lnTo>
                  <a:pt x="4940090" y="4949088"/>
                </a:lnTo>
                <a:lnTo>
                  <a:pt x="0" y="4949088"/>
                </a:lnTo>
                <a:lnTo>
                  <a:pt x="0" y="0"/>
                </a:lnTo>
                <a:close/>
              </a:path>
            </a:pathLst>
          </a:custGeom>
          <a:blipFill>
            <a:blip r:embed="rId11">
              <a:alphaModFix amt="50000"/>
              <a:extLst>
                <a:ext uri="{96DAC541-7B7A-43D3-8B79-37D633B846F1}">
                  <asvg:svgBlip xmlns:asvg="http://schemas.microsoft.com/office/drawing/2016/SVG/main" xmlns="" r:embed="rId12"/>
                </a:ext>
              </a:extLst>
            </a:blip>
            <a:stretch>
              <a:fillRect/>
            </a:stretch>
          </a:blipFill>
        </p:spPr>
      </p:sp>
      <p:sp>
        <p:nvSpPr>
          <p:cNvPr id="16" name="Freeform 16"/>
          <p:cNvSpPr/>
          <p:nvPr/>
        </p:nvSpPr>
        <p:spPr>
          <a:xfrm>
            <a:off x="9212750" y="8440510"/>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r:embed="rId13" cstate="print">
              <a:extLst>
                <a:ext uri="{96DAC541-7B7A-43D3-8B79-37D633B846F1}">
                  <asvg:svgBlip xmlns:asvg="http://schemas.microsoft.com/office/drawing/2016/SVG/main" xmlns="" r:embed="rId14"/>
                </a:ext>
              </a:extLst>
            </a:blip>
            <a:stretch>
              <a:fillRect t="-106388" r="-103152"/>
            </a:stretch>
          </a:blipFill>
        </p:spPr>
      </p:sp>
      <p:grpSp>
        <p:nvGrpSpPr>
          <p:cNvPr id="17" name="Group 17"/>
          <p:cNvGrpSpPr/>
          <p:nvPr/>
        </p:nvGrpSpPr>
        <p:grpSpPr>
          <a:xfrm>
            <a:off x="7894620" y="7020146"/>
            <a:ext cx="5254433" cy="641311"/>
            <a:chOff x="0" y="0"/>
            <a:chExt cx="3329743" cy="406400"/>
          </a:xfrm>
        </p:grpSpPr>
        <p:sp>
          <p:nvSpPr>
            <p:cNvPr id="18" name="Freeform 18"/>
            <p:cNvSpPr/>
            <p:nvPr/>
          </p:nvSpPr>
          <p:spPr>
            <a:xfrm>
              <a:off x="0" y="0"/>
              <a:ext cx="3329743" cy="406400"/>
            </a:xfrm>
            <a:custGeom>
              <a:avLst/>
              <a:gdLst/>
              <a:ahLst/>
              <a:cxnLst/>
              <a:rect l="l" t="t" r="r" b="b"/>
              <a:pathLst>
                <a:path w="3329743" h="406400">
                  <a:moveTo>
                    <a:pt x="3126543" y="0"/>
                  </a:moveTo>
                  <a:cubicBezTo>
                    <a:pt x="3238767" y="0"/>
                    <a:pt x="3329743" y="90976"/>
                    <a:pt x="3329743" y="203200"/>
                  </a:cubicBezTo>
                  <a:cubicBezTo>
                    <a:pt x="3329743" y="315424"/>
                    <a:pt x="3238767" y="406400"/>
                    <a:pt x="3126543" y="406400"/>
                  </a:cubicBezTo>
                  <a:lnTo>
                    <a:pt x="203200" y="406400"/>
                  </a:lnTo>
                  <a:cubicBezTo>
                    <a:pt x="90976" y="406400"/>
                    <a:pt x="0" y="315424"/>
                    <a:pt x="0" y="203200"/>
                  </a:cubicBezTo>
                  <a:cubicBezTo>
                    <a:pt x="0" y="90976"/>
                    <a:pt x="90976" y="0"/>
                    <a:pt x="203200" y="0"/>
                  </a:cubicBezTo>
                  <a:close/>
                </a:path>
              </a:pathLst>
            </a:custGeom>
            <a:gradFill rotWithShape="1">
              <a:gsLst>
                <a:gs pos="0">
                  <a:srgbClr val="401D89">
                    <a:alpha val="100000"/>
                  </a:srgbClr>
                </a:gs>
                <a:gs pos="100000">
                  <a:srgbClr val="D2689C">
                    <a:alpha val="100000"/>
                  </a:srgbClr>
                </a:gs>
              </a:gsLst>
              <a:lin ang="0"/>
            </a:gradFill>
          </p:spPr>
        </p:sp>
        <p:sp>
          <p:nvSpPr>
            <p:cNvPr id="19" name="TextBox 19"/>
            <p:cNvSpPr txBox="1"/>
            <p:nvPr/>
          </p:nvSpPr>
          <p:spPr>
            <a:xfrm>
              <a:off x="0" y="-57150"/>
              <a:ext cx="3329743" cy="463550"/>
            </a:xfrm>
            <a:prstGeom prst="rect">
              <a:avLst/>
            </a:prstGeom>
          </p:spPr>
          <p:txBody>
            <a:bodyPr lIns="50800" tIns="50800" rIns="50800" bIns="50800" rtlCol="0" anchor="ctr"/>
            <a:lstStyle/>
            <a:p>
              <a:pPr marL="0" lvl="0" indent="0" algn="ctr">
                <a:lnSpc>
                  <a:spcPts val="3359"/>
                </a:lnSpc>
              </a:pPr>
              <a:endParaRPr/>
            </a:p>
          </p:txBody>
        </p:sp>
      </p:grpSp>
      <p:sp>
        <p:nvSpPr>
          <p:cNvPr id="20" name="Freeform 20"/>
          <p:cNvSpPr/>
          <p:nvPr/>
        </p:nvSpPr>
        <p:spPr>
          <a:xfrm>
            <a:off x="1028700" y="1053061"/>
            <a:ext cx="781082" cy="781082"/>
          </a:xfrm>
          <a:custGeom>
            <a:avLst/>
            <a:gdLst/>
            <a:ahLst/>
            <a:cxnLst/>
            <a:rect l="l" t="t" r="r" b="b"/>
            <a:pathLst>
              <a:path w="781082" h="781082">
                <a:moveTo>
                  <a:pt x="0" y="0"/>
                </a:moveTo>
                <a:lnTo>
                  <a:pt x="781082" y="0"/>
                </a:lnTo>
                <a:lnTo>
                  <a:pt x="781082" y="781082"/>
                </a:lnTo>
                <a:lnTo>
                  <a:pt x="0" y="781082"/>
                </a:lnTo>
                <a:lnTo>
                  <a:pt x="0" y="0"/>
                </a:lnTo>
                <a:close/>
              </a:path>
            </a:pathLst>
          </a:custGeom>
          <a:blipFill>
            <a:blip r:embed="rId15" cstate="print">
              <a:extLst>
                <a:ext uri="{96DAC541-7B7A-43D3-8B79-37D633B846F1}">
                  <asvg:svgBlip xmlns:asvg="http://schemas.microsoft.com/office/drawing/2016/SVG/main" xmlns="" r:embed="rId16"/>
                </a:ext>
              </a:extLst>
            </a:blip>
            <a:stretch>
              <a:fillRect/>
            </a:stretch>
          </a:blipFill>
        </p:spPr>
      </p:sp>
      <p:sp>
        <p:nvSpPr>
          <p:cNvPr id="21" name="TextBox 21"/>
          <p:cNvSpPr txBox="1"/>
          <p:nvPr/>
        </p:nvSpPr>
        <p:spPr>
          <a:xfrm>
            <a:off x="1927008" y="1170113"/>
            <a:ext cx="2885638" cy="372494"/>
          </a:xfrm>
          <a:prstGeom prst="rect">
            <a:avLst/>
          </a:prstGeom>
        </p:spPr>
        <p:txBody>
          <a:bodyPr lIns="0" tIns="0" rIns="0" bIns="0" rtlCol="0" anchor="t">
            <a:spAutoFit/>
          </a:bodyPr>
          <a:lstStyle/>
          <a:p>
            <a:pPr marL="0" lvl="0" indent="0" algn="l">
              <a:lnSpc>
                <a:spcPts val="3093"/>
              </a:lnSpc>
              <a:spcBef>
                <a:spcPct val="0"/>
              </a:spcBef>
            </a:pPr>
            <a:r>
              <a:rPr lang="en-US" sz="2209">
                <a:solidFill>
                  <a:srgbClr val="FFFFFF"/>
                </a:solidFill>
                <a:latin typeface="TT Interphases"/>
                <a:ea typeface="TT Interphases"/>
                <a:cs typeface="TT Interphases"/>
                <a:sym typeface="TT Interphases"/>
              </a:rPr>
              <a:t>Capstone Project</a:t>
            </a:r>
          </a:p>
        </p:txBody>
      </p:sp>
      <p:sp>
        <p:nvSpPr>
          <p:cNvPr id="22" name="TextBox 22"/>
          <p:cNvSpPr txBox="1"/>
          <p:nvPr/>
        </p:nvSpPr>
        <p:spPr>
          <a:xfrm>
            <a:off x="1927008" y="8716649"/>
            <a:ext cx="7551409" cy="1153544"/>
          </a:xfrm>
          <a:prstGeom prst="rect">
            <a:avLst/>
          </a:prstGeom>
        </p:spPr>
        <p:txBody>
          <a:bodyPr lIns="0" tIns="0" rIns="0" bIns="0" rtlCol="0" anchor="t">
            <a:spAutoFit/>
          </a:bodyPr>
          <a:lstStyle/>
          <a:p>
            <a:pPr marL="0" lvl="0" indent="0" algn="l">
              <a:lnSpc>
                <a:spcPts val="3093"/>
              </a:lnSpc>
              <a:spcBef>
                <a:spcPct val="0"/>
              </a:spcBef>
            </a:pPr>
            <a:r>
              <a:rPr lang="en-US" sz="2209">
                <a:solidFill>
                  <a:srgbClr val="FFFFFF"/>
                </a:solidFill>
                <a:latin typeface="TT Interphases"/>
                <a:ea typeface="TT Interphases"/>
                <a:cs typeface="TT Interphases"/>
                <a:sym typeface="TT Interphases"/>
              </a:rPr>
              <a:t>Finance RAG | Capstone Project|| Guru Swaminathan | Narendran S| L.Ashok| Vignesh Ramachandran| S Chandrasekar | Chandrasekhar kypa| Dharmendra Kumar</a:t>
            </a:r>
          </a:p>
        </p:txBody>
      </p:sp>
      <p:sp>
        <p:nvSpPr>
          <p:cNvPr id="23" name="TextBox 23"/>
          <p:cNvSpPr txBox="1"/>
          <p:nvPr/>
        </p:nvSpPr>
        <p:spPr>
          <a:xfrm>
            <a:off x="8294059" y="7015096"/>
            <a:ext cx="4455554" cy="584797"/>
          </a:xfrm>
          <a:prstGeom prst="rect">
            <a:avLst/>
          </a:prstGeom>
        </p:spPr>
        <p:txBody>
          <a:bodyPr lIns="0" tIns="0" rIns="0" bIns="0" rtlCol="0" anchor="t">
            <a:spAutoFit/>
          </a:bodyPr>
          <a:lstStyle/>
          <a:p>
            <a:pPr marL="0" lvl="0" indent="0" algn="ctr">
              <a:lnSpc>
                <a:spcPts val="4833"/>
              </a:lnSpc>
              <a:spcBef>
                <a:spcPct val="0"/>
              </a:spcBef>
            </a:pPr>
            <a:r>
              <a:rPr lang="en-US" sz="3452">
                <a:solidFill>
                  <a:srgbClr val="FFFFFF"/>
                </a:solidFill>
                <a:latin typeface="TT Interphases"/>
                <a:ea typeface="TT Interphases"/>
                <a:cs typeface="TT Interphases"/>
                <a:sym typeface="TT Interphases"/>
              </a:rPr>
              <a:t>IITM Pravartak DSA 03</a:t>
            </a:r>
          </a:p>
        </p:txBody>
      </p:sp>
      <p:sp>
        <p:nvSpPr>
          <p:cNvPr id="24" name="TextBox 24"/>
          <p:cNvSpPr txBox="1"/>
          <p:nvPr/>
        </p:nvSpPr>
        <p:spPr>
          <a:xfrm>
            <a:off x="1028700" y="6347062"/>
            <a:ext cx="8449717" cy="681352"/>
          </a:xfrm>
          <a:prstGeom prst="rect">
            <a:avLst/>
          </a:prstGeom>
        </p:spPr>
        <p:txBody>
          <a:bodyPr lIns="0" tIns="0" rIns="0" bIns="0" rtlCol="0" anchor="t">
            <a:spAutoFit/>
          </a:bodyPr>
          <a:lstStyle/>
          <a:p>
            <a:pPr marL="0" lvl="0" indent="0" algn="l">
              <a:lnSpc>
                <a:spcPts val="2644"/>
              </a:lnSpc>
            </a:pPr>
            <a:r>
              <a:rPr lang="en-US" sz="2299" i="1" spc="16">
                <a:solidFill>
                  <a:srgbClr val="FFFFFF"/>
                </a:solidFill>
                <a:latin typeface="TT Interphases Italics"/>
                <a:ea typeface="TT Interphases Italics"/>
                <a:cs typeface="TT Interphases Italics"/>
                <a:sym typeface="TT Interphases Italics"/>
              </a:rPr>
              <a:t>Intelligent Financial Agent  Using Retrieval-Augmented Generation</a:t>
            </a:r>
          </a:p>
        </p:txBody>
      </p:sp>
      <p:sp>
        <p:nvSpPr>
          <p:cNvPr id="25" name="TextBox 25"/>
          <p:cNvSpPr txBox="1"/>
          <p:nvPr/>
        </p:nvSpPr>
        <p:spPr>
          <a:xfrm>
            <a:off x="1028700" y="3302626"/>
            <a:ext cx="6467749" cy="819126"/>
          </a:xfrm>
          <a:prstGeom prst="rect">
            <a:avLst/>
          </a:prstGeom>
        </p:spPr>
        <p:txBody>
          <a:bodyPr lIns="0" tIns="0" rIns="0" bIns="0" rtlCol="0" anchor="t">
            <a:spAutoFit/>
          </a:bodyPr>
          <a:lstStyle/>
          <a:p>
            <a:pPr marL="0" lvl="0" indent="0" algn="l">
              <a:lnSpc>
                <a:spcPts val="6008"/>
              </a:lnSpc>
            </a:pPr>
            <a:r>
              <a:rPr lang="en-US" sz="6194" b="1">
                <a:solidFill>
                  <a:srgbClr val="A94BC6"/>
                </a:solidFill>
                <a:latin typeface="TT Interphases Bold"/>
                <a:ea typeface="TT Interphases Bold"/>
                <a:cs typeface="TT Interphases Bold"/>
                <a:sym typeface="TT Interphases Bold"/>
              </a:rPr>
              <a:t>Finance</a:t>
            </a:r>
          </a:p>
        </p:txBody>
      </p:sp>
      <p:sp>
        <p:nvSpPr>
          <p:cNvPr id="26" name="TextBox 26"/>
          <p:cNvSpPr txBox="1"/>
          <p:nvPr/>
        </p:nvSpPr>
        <p:spPr>
          <a:xfrm>
            <a:off x="1028700" y="4554942"/>
            <a:ext cx="8265321" cy="1581126"/>
          </a:xfrm>
          <a:prstGeom prst="rect">
            <a:avLst/>
          </a:prstGeom>
        </p:spPr>
        <p:txBody>
          <a:bodyPr lIns="0" tIns="0" rIns="0" bIns="0" rtlCol="0" anchor="t">
            <a:spAutoFit/>
          </a:bodyPr>
          <a:lstStyle/>
          <a:p>
            <a:pPr marL="0" lvl="0" indent="0" algn="l">
              <a:lnSpc>
                <a:spcPts val="6008"/>
              </a:lnSpc>
            </a:pPr>
            <a:r>
              <a:rPr lang="en-US" sz="6194" b="1">
                <a:solidFill>
                  <a:srgbClr val="FFFFFF"/>
                </a:solidFill>
                <a:latin typeface="TT Interphases Bold"/>
                <a:ea typeface="TT Interphases Bold"/>
                <a:cs typeface="TT Interphases Bold"/>
                <a:sym typeface="TT Interphases Bold"/>
              </a:rPr>
              <a:t>Knowledge</a:t>
            </a:r>
          </a:p>
          <a:p>
            <a:pPr marL="0" lvl="0" indent="0" algn="l">
              <a:lnSpc>
                <a:spcPts val="6008"/>
              </a:lnSpc>
            </a:pPr>
            <a:r>
              <a:rPr lang="en-US" sz="6194" b="1">
                <a:solidFill>
                  <a:srgbClr val="FFFFFF"/>
                </a:solidFill>
                <a:latin typeface="TT Interphases Bold"/>
                <a:ea typeface="TT Interphases Bold"/>
                <a:cs typeface="TT Interphases Bold"/>
                <a:sym typeface="TT Interphases Bold"/>
              </a:rPr>
              <a:t>Assistant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859737">
            <a:off x="3121357" y="4914121"/>
            <a:ext cx="20299771" cy="6754287"/>
          </a:xfrm>
          <a:custGeom>
            <a:avLst/>
            <a:gdLst/>
            <a:ahLst/>
            <a:cxnLst/>
            <a:rect l="l" t="t" r="r" b="b"/>
            <a:pathLst>
              <a:path w="20299771" h="6754287">
                <a:moveTo>
                  <a:pt x="0" y="0"/>
                </a:moveTo>
                <a:lnTo>
                  <a:pt x="20299771" y="0"/>
                </a:lnTo>
                <a:lnTo>
                  <a:pt x="20299771" y="6754287"/>
                </a:lnTo>
                <a:lnTo>
                  <a:pt x="0" y="6754287"/>
                </a:lnTo>
                <a:lnTo>
                  <a:pt x="0" y="0"/>
                </a:lnTo>
                <a:close/>
              </a:path>
            </a:pathLst>
          </a:custGeom>
          <a:blipFill>
            <a:blip r:embed="rId2">
              <a:alphaModFix amt="15000"/>
              <a:extLst>
                <a:ext uri="{96DAC541-7B7A-43D3-8B79-37D633B846F1}">
                  <asvg:svgBlip xmlns:asvg="http://schemas.microsoft.com/office/drawing/2016/SVG/main" xmlns="" r:embed="rId3"/>
                </a:ext>
              </a:extLst>
            </a:blip>
            <a:stretch>
              <a:fillRect/>
            </a:stretch>
          </a:blipFill>
        </p:spPr>
      </p:sp>
      <p:sp>
        <p:nvSpPr>
          <p:cNvPr id="3" name="Freeform 3"/>
          <p:cNvSpPr/>
          <p:nvPr/>
        </p:nvSpPr>
        <p:spPr>
          <a:xfrm rot="5400000" flipH="1">
            <a:off x="16439008" y="7391920"/>
            <a:ext cx="2220593" cy="4507614"/>
          </a:xfrm>
          <a:custGeom>
            <a:avLst/>
            <a:gdLst/>
            <a:ahLst/>
            <a:cxnLst/>
            <a:rect l="l" t="t" r="r" b="b"/>
            <a:pathLst>
              <a:path w="2220593" h="4507614">
                <a:moveTo>
                  <a:pt x="2220592" y="0"/>
                </a:moveTo>
                <a:lnTo>
                  <a:pt x="0" y="0"/>
                </a:lnTo>
                <a:lnTo>
                  <a:pt x="0" y="4507613"/>
                </a:lnTo>
                <a:lnTo>
                  <a:pt x="2220592" y="4507613"/>
                </a:lnTo>
                <a:lnTo>
                  <a:pt x="2220592" y="0"/>
                </a:lnTo>
                <a:close/>
              </a:path>
            </a:pathLst>
          </a:custGeom>
          <a:blipFill>
            <a:blip r:embed="rId4"/>
            <a:stretch>
              <a:fillRect/>
            </a:stretch>
          </a:blipFill>
        </p:spPr>
      </p:sp>
      <p:sp>
        <p:nvSpPr>
          <p:cNvPr id="4" name="Freeform 4"/>
          <p:cNvSpPr/>
          <p:nvPr/>
        </p:nvSpPr>
        <p:spPr>
          <a:xfrm rot="5400000" flipV="1">
            <a:off x="-279147" y="-1633942"/>
            <a:ext cx="2490075" cy="5054639"/>
          </a:xfrm>
          <a:custGeom>
            <a:avLst/>
            <a:gdLst/>
            <a:ahLst/>
            <a:cxnLst/>
            <a:rect l="l" t="t" r="r" b="b"/>
            <a:pathLst>
              <a:path w="2490075" h="5054639">
                <a:moveTo>
                  <a:pt x="0" y="5054639"/>
                </a:moveTo>
                <a:lnTo>
                  <a:pt x="2490075" y="5054639"/>
                </a:lnTo>
                <a:lnTo>
                  <a:pt x="2490075" y="0"/>
                </a:lnTo>
                <a:lnTo>
                  <a:pt x="0" y="0"/>
                </a:lnTo>
                <a:lnTo>
                  <a:pt x="0" y="5054639"/>
                </a:lnTo>
                <a:close/>
              </a:path>
            </a:pathLst>
          </a:custGeom>
          <a:blipFill>
            <a:blip r:embed="rId4"/>
            <a:stretch>
              <a:fillRect/>
            </a:stretch>
          </a:blipFill>
        </p:spPr>
      </p:sp>
      <p:sp>
        <p:nvSpPr>
          <p:cNvPr id="5" name="TextBox 5"/>
          <p:cNvSpPr txBox="1"/>
          <p:nvPr/>
        </p:nvSpPr>
        <p:spPr>
          <a:xfrm>
            <a:off x="11079818" y="1143000"/>
            <a:ext cx="6179482" cy="664092"/>
          </a:xfrm>
          <a:prstGeom prst="rect">
            <a:avLst/>
          </a:prstGeom>
        </p:spPr>
        <p:txBody>
          <a:bodyPr lIns="0" tIns="0" rIns="0" bIns="0" rtlCol="0" anchor="t">
            <a:spAutoFit/>
          </a:bodyPr>
          <a:lstStyle/>
          <a:p>
            <a:pPr marL="0" lvl="0" indent="0" algn="r">
              <a:lnSpc>
                <a:spcPts val="4972"/>
              </a:lnSpc>
            </a:pPr>
            <a:r>
              <a:rPr lang="en-US" sz="5126">
                <a:solidFill>
                  <a:srgbClr val="FFFFFF"/>
                </a:solidFill>
                <a:latin typeface="TT Interphases"/>
                <a:ea typeface="TT Interphases"/>
                <a:cs typeface="TT Interphases"/>
                <a:sym typeface="TT Interphases"/>
              </a:rPr>
              <a:t>Problem Statement &amp;</a:t>
            </a:r>
          </a:p>
        </p:txBody>
      </p:sp>
      <p:sp>
        <p:nvSpPr>
          <p:cNvPr id="6" name="TextBox 6"/>
          <p:cNvSpPr txBox="1"/>
          <p:nvPr/>
        </p:nvSpPr>
        <p:spPr>
          <a:xfrm>
            <a:off x="7805912" y="2050698"/>
            <a:ext cx="9453388" cy="664092"/>
          </a:xfrm>
          <a:prstGeom prst="rect">
            <a:avLst/>
          </a:prstGeom>
        </p:spPr>
        <p:txBody>
          <a:bodyPr lIns="0" tIns="0" rIns="0" bIns="0" rtlCol="0" anchor="t">
            <a:spAutoFit/>
          </a:bodyPr>
          <a:lstStyle/>
          <a:p>
            <a:pPr marL="0" lvl="0" indent="0" algn="r">
              <a:lnSpc>
                <a:spcPts val="4972"/>
              </a:lnSpc>
            </a:pPr>
            <a:r>
              <a:rPr lang="en-US" sz="5126" b="1">
                <a:solidFill>
                  <a:srgbClr val="A94BC6"/>
                </a:solidFill>
                <a:latin typeface="TT Interphases Bold"/>
                <a:ea typeface="TT Interphases Bold"/>
                <a:cs typeface="TT Interphases Bold"/>
                <a:sym typeface="TT Interphases Bold"/>
              </a:rPr>
              <a:t>Project Objective</a:t>
            </a:r>
          </a:p>
        </p:txBody>
      </p:sp>
      <p:sp>
        <p:nvSpPr>
          <p:cNvPr id="7" name="TextBox 7"/>
          <p:cNvSpPr txBox="1"/>
          <p:nvPr/>
        </p:nvSpPr>
        <p:spPr>
          <a:xfrm>
            <a:off x="1525025" y="3728135"/>
            <a:ext cx="7771971" cy="3683022"/>
          </a:xfrm>
          <a:prstGeom prst="rect">
            <a:avLst/>
          </a:prstGeom>
        </p:spPr>
        <p:txBody>
          <a:bodyPr lIns="0" tIns="0" rIns="0" bIns="0" rtlCol="0" anchor="t">
            <a:spAutoFit/>
          </a:bodyPr>
          <a:lstStyle/>
          <a:p>
            <a:pPr marL="0" lvl="0" indent="0" algn="ctr">
              <a:lnSpc>
                <a:spcPts val="3247"/>
              </a:lnSpc>
            </a:pPr>
            <a:r>
              <a:rPr lang="en-US" sz="2498">
                <a:solidFill>
                  <a:srgbClr val="FFFFFF"/>
                </a:solidFill>
                <a:latin typeface="TT Interphases"/>
                <a:ea typeface="TT Interphases"/>
                <a:cs typeface="TT Interphases"/>
                <a:sym typeface="TT Interphases"/>
              </a:rPr>
              <a:t>Financial analysts and researchers struggle to quickly extract insights from structured financial statements. Manually querying balance sheets, income statements, and cash flow data across multiple companies is time-consuming and error-prone. There is a clear need for an intelligent assistant that can understand natural language queries and retrieve accurate, grounded answers from structured financial data — enabling faster, more informed decision-making.</a:t>
            </a:r>
          </a:p>
        </p:txBody>
      </p:sp>
      <p:grpSp>
        <p:nvGrpSpPr>
          <p:cNvPr id="8" name="Group 8"/>
          <p:cNvGrpSpPr/>
          <p:nvPr/>
        </p:nvGrpSpPr>
        <p:grpSpPr>
          <a:xfrm>
            <a:off x="10236796" y="3581660"/>
            <a:ext cx="6068894" cy="629296"/>
            <a:chOff x="0" y="0"/>
            <a:chExt cx="8091859" cy="839061"/>
          </a:xfrm>
        </p:grpSpPr>
        <p:grpSp>
          <p:nvGrpSpPr>
            <p:cNvPr id="9" name="Group 9"/>
            <p:cNvGrpSpPr/>
            <p:nvPr/>
          </p:nvGrpSpPr>
          <p:grpSpPr>
            <a:xfrm>
              <a:off x="0" y="0"/>
              <a:ext cx="8091859" cy="839061"/>
              <a:chOff x="0" y="0"/>
              <a:chExt cx="3298963" cy="342076"/>
            </a:xfrm>
          </p:grpSpPr>
          <p:sp>
            <p:nvSpPr>
              <p:cNvPr id="10" name="Freeform 10"/>
              <p:cNvSpPr/>
              <p:nvPr/>
            </p:nvSpPr>
            <p:spPr>
              <a:xfrm>
                <a:off x="0" y="0"/>
                <a:ext cx="3298963" cy="342076"/>
              </a:xfrm>
              <a:custGeom>
                <a:avLst/>
                <a:gdLst/>
                <a:ahLst/>
                <a:cxnLst/>
                <a:rect l="l" t="t" r="r" b="b"/>
                <a:pathLst>
                  <a:path w="3298963" h="342076">
                    <a:moveTo>
                      <a:pt x="3095763" y="0"/>
                    </a:moveTo>
                    <a:cubicBezTo>
                      <a:pt x="3207987" y="0"/>
                      <a:pt x="3298963" y="76576"/>
                      <a:pt x="3298963" y="171038"/>
                    </a:cubicBezTo>
                    <a:cubicBezTo>
                      <a:pt x="3298963" y="265500"/>
                      <a:pt x="3207987" y="342076"/>
                      <a:pt x="3095763" y="342076"/>
                    </a:cubicBezTo>
                    <a:lnTo>
                      <a:pt x="203200" y="342076"/>
                    </a:lnTo>
                    <a:cubicBezTo>
                      <a:pt x="90976" y="342076"/>
                      <a:pt x="0" y="265500"/>
                      <a:pt x="0" y="171038"/>
                    </a:cubicBezTo>
                    <a:cubicBezTo>
                      <a:pt x="0" y="765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1" name="TextBox 11"/>
              <p:cNvSpPr txBox="1"/>
              <p:nvPr/>
            </p:nvSpPr>
            <p:spPr>
              <a:xfrm>
                <a:off x="0" y="-57150"/>
                <a:ext cx="3298963" cy="399226"/>
              </a:xfrm>
              <a:prstGeom prst="rect">
                <a:avLst/>
              </a:prstGeom>
            </p:spPr>
            <p:txBody>
              <a:bodyPr lIns="50800" tIns="50800" rIns="50800" bIns="50800" rtlCol="0" anchor="ctr"/>
              <a:lstStyle/>
              <a:p>
                <a:pPr marL="0" lvl="0" indent="0" algn="ctr">
                  <a:lnSpc>
                    <a:spcPts val="3359"/>
                  </a:lnSpc>
                </a:pPr>
                <a:endParaRPr/>
              </a:p>
            </p:txBody>
          </p:sp>
        </p:grpSp>
        <p:sp>
          <p:nvSpPr>
            <p:cNvPr id="12" name="TextBox 12"/>
            <p:cNvSpPr txBox="1"/>
            <p:nvPr/>
          </p:nvSpPr>
          <p:spPr>
            <a:xfrm>
              <a:off x="533929" y="201662"/>
              <a:ext cx="7024001" cy="492886"/>
            </a:xfrm>
            <a:prstGeom prst="rect">
              <a:avLst/>
            </a:prstGeom>
          </p:spPr>
          <p:txBody>
            <a:bodyPr lIns="0" tIns="0" rIns="0" bIns="0" rtlCol="0" anchor="t">
              <a:spAutoFit/>
            </a:bodyPr>
            <a:lstStyle/>
            <a:p>
              <a:pPr marL="0" lvl="0" indent="0" algn="ctr">
                <a:lnSpc>
                  <a:spcPts val="2628"/>
                </a:lnSpc>
              </a:pPr>
              <a:r>
                <a:rPr lang="en-US" sz="2709" b="1" i="1">
                  <a:solidFill>
                    <a:srgbClr val="FFFFFF"/>
                  </a:solidFill>
                  <a:latin typeface="TT Interphases Bold Italics"/>
                  <a:ea typeface="TT Interphases Bold Italics"/>
                  <a:cs typeface="TT Interphases Bold Italics"/>
                  <a:sym typeface="TT Interphases Bold Italics"/>
                </a:rPr>
                <a:t>Slow Manual Data Retrieval</a:t>
              </a:r>
            </a:p>
          </p:txBody>
        </p:sp>
      </p:grpSp>
      <p:grpSp>
        <p:nvGrpSpPr>
          <p:cNvPr id="13" name="Group 13"/>
          <p:cNvGrpSpPr/>
          <p:nvPr/>
        </p:nvGrpSpPr>
        <p:grpSpPr>
          <a:xfrm>
            <a:off x="10236796" y="7062511"/>
            <a:ext cx="6068894" cy="629296"/>
            <a:chOff x="0" y="0"/>
            <a:chExt cx="8091859" cy="839061"/>
          </a:xfrm>
        </p:grpSpPr>
        <p:grpSp>
          <p:nvGrpSpPr>
            <p:cNvPr id="14" name="Group 14"/>
            <p:cNvGrpSpPr/>
            <p:nvPr/>
          </p:nvGrpSpPr>
          <p:grpSpPr>
            <a:xfrm>
              <a:off x="0" y="0"/>
              <a:ext cx="8091859" cy="839061"/>
              <a:chOff x="0" y="0"/>
              <a:chExt cx="3298963" cy="342076"/>
            </a:xfrm>
          </p:grpSpPr>
          <p:sp>
            <p:nvSpPr>
              <p:cNvPr id="15" name="Freeform 15"/>
              <p:cNvSpPr/>
              <p:nvPr/>
            </p:nvSpPr>
            <p:spPr>
              <a:xfrm>
                <a:off x="0" y="0"/>
                <a:ext cx="3298963" cy="342076"/>
              </a:xfrm>
              <a:custGeom>
                <a:avLst/>
                <a:gdLst/>
                <a:ahLst/>
                <a:cxnLst/>
                <a:rect l="l" t="t" r="r" b="b"/>
                <a:pathLst>
                  <a:path w="3298963" h="342076">
                    <a:moveTo>
                      <a:pt x="3095763" y="0"/>
                    </a:moveTo>
                    <a:cubicBezTo>
                      <a:pt x="3207987" y="0"/>
                      <a:pt x="3298963" y="76576"/>
                      <a:pt x="3298963" y="171038"/>
                    </a:cubicBezTo>
                    <a:cubicBezTo>
                      <a:pt x="3298963" y="265500"/>
                      <a:pt x="3207987" y="342076"/>
                      <a:pt x="3095763" y="342076"/>
                    </a:cubicBezTo>
                    <a:lnTo>
                      <a:pt x="203200" y="342076"/>
                    </a:lnTo>
                    <a:cubicBezTo>
                      <a:pt x="90976" y="342076"/>
                      <a:pt x="0" y="265500"/>
                      <a:pt x="0" y="171038"/>
                    </a:cubicBezTo>
                    <a:cubicBezTo>
                      <a:pt x="0" y="765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6" name="TextBox 16"/>
              <p:cNvSpPr txBox="1"/>
              <p:nvPr/>
            </p:nvSpPr>
            <p:spPr>
              <a:xfrm>
                <a:off x="0" y="-57150"/>
                <a:ext cx="3298963" cy="399226"/>
              </a:xfrm>
              <a:prstGeom prst="rect">
                <a:avLst/>
              </a:prstGeom>
            </p:spPr>
            <p:txBody>
              <a:bodyPr lIns="50800" tIns="50800" rIns="50800" bIns="50800" rtlCol="0" anchor="ctr"/>
              <a:lstStyle/>
              <a:p>
                <a:pPr marL="0" lvl="0" indent="0" algn="ctr">
                  <a:lnSpc>
                    <a:spcPts val="3359"/>
                  </a:lnSpc>
                </a:pPr>
                <a:endParaRPr/>
              </a:p>
            </p:txBody>
          </p:sp>
        </p:grpSp>
        <p:sp>
          <p:nvSpPr>
            <p:cNvPr id="17" name="TextBox 17"/>
            <p:cNvSpPr txBox="1"/>
            <p:nvPr/>
          </p:nvSpPr>
          <p:spPr>
            <a:xfrm>
              <a:off x="533929" y="201662"/>
              <a:ext cx="7024001" cy="492886"/>
            </a:xfrm>
            <a:prstGeom prst="rect">
              <a:avLst/>
            </a:prstGeom>
          </p:spPr>
          <p:txBody>
            <a:bodyPr lIns="0" tIns="0" rIns="0" bIns="0" rtlCol="0" anchor="t">
              <a:spAutoFit/>
            </a:bodyPr>
            <a:lstStyle/>
            <a:p>
              <a:pPr marL="0" lvl="0" indent="0" algn="ctr">
                <a:lnSpc>
                  <a:spcPts val="2628"/>
                </a:lnSpc>
              </a:pPr>
              <a:r>
                <a:rPr lang="en-US" sz="2709" b="1" i="1">
                  <a:solidFill>
                    <a:srgbClr val="FFFFFF"/>
                  </a:solidFill>
                  <a:latin typeface="TT Interphases Bold Italics"/>
                  <a:ea typeface="TT Interphases Bold Italics"/>
                  <a:cs typeface="TT Interphases Bold Italics"/>
                  <a:sym typeface="TT Interphases Bold Italics"/>
                </a:rPr>
                <a:t>Build a RAG Finance Assistant</a:t>
              </a:r>
            </a:p>
          </p:txBody>
        </p:sp>
      </p:grpSp>
      <p:grpSp>
        <p:nvGrpSpPr>
          <p:cNvPr id="18" name="Group 18"/>
          <p:cNvGrpSpPr/>
          <p:nvPr/>
        </p:nvGrpSpPr>
        <p:grpSpPr>
          <a:xfrm>
            <a:off x="10236796" y="4741944"/>
            <a:ext cx="6068894" cy="962671"/>
            <a:chOff x="0" y="0"/>
            <a:chExt cx="8091859" cy="1283561"/>
          </a:xfrm>
        </p:grpSpPr>
        <p:grpSp>
          <p:nvGrpSpPr>
            <p:cNvPr id="19" name="Group 19"/>
            <p:cNvGrpSpPr/>
            <p:nvPr/>
          </p:nvGrpSpPr>
          <p:grpSpPr>
            <a:xfrm>
              <a:off x="0" y="0"/>
              <a:ext cx="8091859" cy="1283561"/>
              <a:chOff x="0" y="0"/>
              <a:chExt cx="3298963" cy="523294"/>
            </a:xfrm>
          </p:grpSpPr>
          <p:sp>
            <p:nvSpPr>
              <p:cNvPr id="20" name="Freeform 20"/>
              <p:cNvSpPr/>
              <p:nvPr/>
            </p:nvSpPr>
            <p:spPr>
              <a:xfrm>
                <a:off x="0" y="0"/>
                <a:ext cx="3298963" cy="523294"/>
              </a:xfrm>
              <a:custGeom>
                <a:avLst/>
                <a:gdLst/>
                <a:ahLst/>
                <a:cxnLst/>
                <a:rect l="l" t="t" r="r" b="b"/>
                <a:pathLst>
                  <a:path w="3298963" h="523294">
                    <a:moveTo>
                      <a:pt x="3095763" y="0"/>
                    </a:moveTo>
                    <a:cubicBezTo>
                      <a:pt x="3207987" y="0"/>
                      <a:pt x="3298963" y="117143"/>
                      <a:pt x="3298963" y="261647"/>
                    </a:cubicBezTo>
                    <a:cubicBezTo>
                      <a:pt x="3298963" y="406150"/>
                      <a:pt x="3207987" y="523294"/>
                      <a:pt x="3095763" y="523294"/>
                    </a:cubicBezTo>
                    <a:lnTo>
                      <a:pt x="203200" y="523294"/>
                    </a:lnTo>
                    <a:cubicBezTo>
                      <a:pt x="90976" y="523294"/>
                      <a:pt x="0" y="406150"/>
                      <a:pt x="0" y="261647"/>
                    </a:cubicBezTo>
                    <a:cubicBezTo>
                      <a:pt x="0" y="117143"/>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21" name="TextBox 21"/>
              <p:cNvSpPr txBox="1"/>
              <p:nvPr/>
            </p:nvSpPr>
            <p:spPr>
              <a:xfrm>
                <a:off x="0" y="-57150"/>
                <a:ext cx="3298963" cy="580444"/>
              </a:xfrm>
              <a:prstGeom prst="rect">
                <a:avLst/>
              </a:prstGeom>
            </p:spPr>
            <p:txBody>
              <a:bodyPr lIns="50800" tIns="50800" rIns="50800" bIns="50800" rtlCol="0" anchor="ctr"/>
              <a:lstStyle/>
              <a:p>
                <a:pPr marL="0" lvl="0" indent="0" algn="ctr">
                  <a:lnSpc>
                    <a:spcPts val="3359"/>
                  </a:lnSpc>
                </a:pPr>
                <a:endParaRPr/>
              </a:p>
            </p:txBody>
          </p:sp>
        </p:grpSp>
        <p:sp>
          <p:nvSpPr>
            <p:cNvPr id="22" name="TextBox 22"/>
            <p:cNvSpPr txBox="1"/>
            <p:nvPr/>
          </p:nvSpPr>
          <p:spPr>
            <a:xfrm>
              <a:off x="1454869" y="201662"/>
              <a:ext cx="5182122" cy="937386"/>
            </a:xfrm>
            <a:prstGeom prst="rect">
              <a:avLst/>
            </a:prstGeom>
          </p:spPr>
          <p:txBody>
            <a:bodyPr lIns="0" tIns="0" rIns="0" bIns="0" rtlCol="0" anchor="t">
              <a:spAutoFit/>
            </a:bodyPr>
            <a:lstStyle/>
            <a:p>
              <a:pPr marL="0" lvl="0" indent="0" algn="ctr">
                <a:lnSpc>
                  <a:spcPts val="2628"/>
                </a:lnSpc>
              </a:pPr>
              <a:r>
                <a:rPr lang="en-US" sz="2709" b="1" i="1">
                  <a:solidFill>
                    <a:srgbClr val="FFFFFF"/>
                  </a:solidFill>
                  <a:latin typeface="TT Interphases Bold Italics"/>
                  <a:ea typeface="TT Interphases Bold Italics"/>
                  <a:cs typeface="TT Interphases Bold Italics"/>
                  <a:sym typeface="TT Interphases Bold Italics"/>
                </a:rPr>
                <a:t>Unstructured Query Handling</a:t>
              </a:r>
            </a:p>
          </p:txBody>
        </p:sp>
      </p:grpSp>
      <p:grpSp>
        <p:nvGrpSpPr>
          <p:cNvPr id="23" name="Group 23"/>
          <p:cNvGrpSpPr/>
          <p:nvPr/>
        </p:nvGrpSpPr>
        <p:grpSpPr>
          <a:xfrm>
            <a:off x="10236796" y="5902227"/>
            <a:ext cx="6068894" cy="962671"/>
            <a:chOff x="0" y="0"/>
            <a:chExt cx="8091859" cy="1283561"/>
          </a:xfrm>
        </p:grpSpPr>
        <p:grpSp>
          <p:nvGrpSpPr>
            <p:cNvPr id="24" name="Group 24"/>
            <p:cNvGrpSpPr/>
            <p:nvPr/>
          </p:nvGrpSpPr>
          <p:grpSpPr>
            <a:xfrm>
              <a:off x="0" y="0"/>
              <a:ext cx="8091859" cy="1283561"/>
              <a:chOff x="0" y="0"/>
              <a:chExt cx="3298963" cy="523294"/>
            </a:xfrm>
          </p:grpSpPr>
          <p:sp>
            <p:nvSpPr>
              <p:cNvPr id="25" name="Freeform 25"/>
              <p:cNvSpPr/>
              <p:nvPr/>
            </p:nvSpPr>
            <p:spPr>
              <a:xfrm>
                <a:off x="0" y="0"/>
                <a:ext cx="3298963" cy="523294"/>
              </a:xfrm>
              <a:custGeom>
                <a:avLst/>
                <a:gdLst/>
                <a:ahLst/>
                <a:cxnLst/>
                <a:rect l="l" t="t" r="r" b="b"/>
                <a:pathLst>
                  <a:path w="3298963" h="523294">
                    <a:moveTo>
                      <a:pt x="3095763" y="0"/>
                    </a:moveTo>
                    <a:cubicBezTo>
                      <a:pt x="3207987" y="0"/>
                      <a:pt x="3298963" y="117143"/>
                      <a:pt x="3298963" y="261647"/>
                    </a:cubicBezTo>
                    <a:cubicBezTo>
                      <a:pt x="3298963" y="406150"/>
                      <a:pt x="3207987" y="523294"/>
                      <a:pt x="3095763" y="523294"/>
                    </a:cubicBezTo>
                    <a:lnTo>
                      <a:pt x="203200" y="523294"/>
                    </a:lnTo>
                    <a:cubicBezTo>
                      <a:pt x="90976" y="523294"/>
                      <a:pt x="0" y="406150"/>
                      <a:pt x="0" y="261647"/>
                    </a:cubicBezTo>
                    <a:cubicBezTo>
                      <a:pt x="0" y="117143"/>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26" name="TextBox 26"/>
              <p:cNvSpPr txBox="1"/>
              <p:nvPr/>
            </p:nvSpPr>
            <p:spPr>
              <a:xfrm>
                <a:off x="0" y="-57150"/>
                <a:ext cx="3298963" cy="580444"/>
              </a:xfrm>
              <a:prstGeom prst="rect">
                <a:avLst/>
              </a:prstGeom>
            </p:spPr>
            <p:txBody>
              <a:bodyPr lIns="50800" tIns="50800" rIns="50800" bIns="50800" rtlCol="0" anchor="ctr"/>
              <a:lstStyle/>
              <a:p>
                <a:pPr marL="0" lvl="0" indent="0" algn="ctr">
                  <a:lnSpc>
                    <a:spcPts val="3359"/>
                  </a:lnSpc>
                </a:pPr>
                <a:endParaRPr/>
              </a:p>
            </p:txBody>
          </p:sp>
        </p:grpSp>
        <p:sp>
          <p:nvSpPr>
            <p:cNvPr id="27" name="TextBox 27"/>
            <p:cNvSpPr txBox="1"/>
            <p:nvPr/>
          </p:nvSpPr>
          <p:spPr>
            <a:xfrm>
              <a:off x="533929" y="201662"/>
              <a:ext cx="7024001" cy="937386"/>
            </a:xfrm>
            <a:prstGeom prst="rect">
              <a:avLst/>
            </a:prstGeom>
          </p:spPr>
          <p:txBody>
            <a:bodyPr lIns="0" tIns="0" rIns="0" bIns="0" rtlCol="0" anchor="t">
              <a:spAutoFit/>
            </a:bodyPr>
            <a:lstStyle/>
            <a:p>
              <a:pPr marL="0" lvl="0" indent="0" algn="ctr">
                <a:lnSpc>
                  <a:spcPts val="2628"/>
                </a:lnSpc>
              </a:pPr>
              <a:r>
                <a:rPr lang="en-US" sz="2709" b="1" i="1">
                  <a:solidFill>
                    <a:srgbClr val="FFFFFF"/>
                  </a:solidFill>
                  <a:latin typeface="TT Interphases Bold Italics"/>
                  <a:ea typeface="TT Interphases Bold Italics"/>
                  <a:cs typeface="TT Interphases Bold Italics"/>
                  <a:sym typeface="TT Interphases Bold Italics"/>
                </a:rPr>
                <a:t>Multi-Company Data Complexity</a:t>
              </a:r>
            </a:p>
          </p:txBody>
        </p:sp>
      </p:grpSp>
      <p:grpSp>
        <p:nvGrpSpPr>
          <p:cNvPr id="32" name="Group 32"/>
          <p:cNvGrpSpPr/>
          <p:nvPr/>
        </p:nvGrpSpPr>
        <p:grpSpPr>
          <a:xfrm>
            <a:off x="16511672" y="3581660"/>
            <a:ext cx="747628" cy="747628"/>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34" name="TextBox 34"/>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35" name="Group 35"/>
          <p:cNvGrpSpPr/>
          <p:nvPr/>
        </p:nvGrpSpPr>
        <p:grpSpPr>
          <a:xfrm>
            <a:off x="16511672" y="4741944"/>
            <a:ext cx="747628" cy="747628"/>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37" name="TextBox 37"/>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sp>
        <p:nvSpPr>
          <p:cNvPr id="38" name="Freeform 38"/>
          <p:cNvSpPr/>
          <p:nvPr/>
        </p:nvSpPr>
        <p:spPr>
          <a:xfrm>
            <a:off x="16670880" y="3756710"/>
            <a:ext cx="429212" cy="397529"/>
          </a:xfrm>
          <a:custGeom>
            <a:avLst/>
            <a:gdLst/>
            <a:ahLst/>
            <a:cxnLst/>
            <a:rect l="l" t="t" r="r" b="b"/>
            <a:pathLst>
              <a:path w="429212" h="397529">
                <a:moveTo>
                  <a:pt x="0" y="0"/>
                </a:moveTo>
                <a:lnTo>
                  <a:pt x="429212" y="0"/>
                </a:lnTo>
                <a:lnTo>
                  <a:pt x="429212" y="397529"/>
                </a:lnTo>
                <a:lnTo>
                  <a:pt x="0" y="397529"/>
                </a:lnTo>
                <a:lnTo>
                  <a:pt x="0" y="0"/>
                </a:lnTo>
                <a:close/>
              </a:path>
            </a:pathLst>
          </a:custGeom>
          <a:blipFill>
            <a:blip r:embed="rId5" cstate="print">
              <a:extLst>
                <a:ext uri="{96DAC541-7B7A-43D3-8B79-37D633B846F1}">
                  <asvg:svgBlip xmlns:asvg="http://schemas.microsoft.com/office/drawing/2016/SVG/main" xmlns="" r:embed="rId6"/>
                </a:ext>
              </a:extLst>
            </a:blip>
            <a:stretch>
              <a:fillRect/>
            </a:stretch>
          </a:blipFill>
        </p:spPr>
      </p:sp>
      <p:sp>
        <p:nvSpPr>
          <p:cNvPr id="39" name="Freeform 39"/>
          <p:cNvSpPr/>
          <p:nvPr/>
        </p:nvSpPr>
        <p:spPr>
          <a:xfrm>
            <a:off x="16670880" y="4916993"/>
            <a:ext cx="429212" cy="397529"/>
          </a:xfrm>
          <a:custGeom>
            <a:avLst/>
            <a:gdLst/>
            <a:ahLst/>
            <a:cxnLst/>
            <a:rect l="l" t="t" r="r" b="b"/>
            <a:pathLst>
              <a:path w="429212" h="397529">
                <a:moveTo>
                  <a:pt x="0" y="0"/>
                </a:moveTo>
                <a:lnTo>
                  <a:pt x="429212" y="0"/>
                </a:lnTo>
                <a:lnTo>
                  <a:pt x="429212" y="397529"/>
                </a:lnTo>
                <a:lnTo>
                  <a:pt x="0" y="397529"/>
                </a:lnTo>
                <a:lnTo>
                  <a:pt x="0" y="0"/>
                </a:lnTo>
                <a:close/>
              </a:path>
            </a:pathLst>
          </a:custGeom>
          <a:blipFill>
            <a:blip r:embed="rId5" cstate="print">
              <a:extLst>
                <a:ext uri="{96DAC541-7B7A-43D3-8B79-37D633B846F1}">
                  <asvg:svgBlip xmlns:asvg="http://schemas.microsoft.com/office/drawing/2016/SVG/main" xmlns="" r:embed="rId6"/>
                </a:ext>
              </a:extLst>
            </a:blip>
            <a:stretch>
              <a:fillRect/>
            </a:stretch>
          </a:blipFill>
        </p:spPr>
      </p:sp>
      <p:grpSp>
        <p:nvGrpSpPr>
          <p:cNvPr id="40" name="Group 40"/>
          <p:cNvGrpSpPr/>
          <p:nvPr/>
        </p:nvGrpSpPr>
        <p:grpSpPr>
          <a:xfrm>
            <a:off x="16511672" y="5902227"/>
            <a:ext cx="747628" cy="747628"/>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42" name="TextBox 42"/>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43" name="Group 43"/>
          <p:cNvGrpSpPr/>
          <p:nvPr/>
        </p:nvGrpSpPr>
        <p:grpSpPr>
          <a:xfrm>
            <a:off x="16511672" y="7062511"/>
            <a:ext cx="747628" cy="747628"/>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45" name="TextBox 45"/>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sp>
        <p:nvSpPr>
          <p:cNvPr id="46" name="Freeform 46"/>
          <p:cNvSpPr/>
          <p:nvPr/>
        </p:nvSpPr>
        <p:spPr>
          <a:xfrm>
            <a:off x="16670880" y="6077277"/>
            <a:ext cx="429212" cy="397529"/>
          </a:xfrm>
          <a:custGeom>
            <a:avLst/>
            <a:gdLst/>
            <a:ahLst/>
            <a:cxnLst/>
            <a:rect l="l" t="t" r="r" b="b"/>
            <a:pathLst>
              <a:path w="429212" h="397529">
                <a:moveTo>
                  <a:pt x="0" y="0"/>
                </a:moveTo>
                <a:lnTo>
                  <a:pt x="429212" y="0"/>
                </a:lnTo>
                <a:lnTo>
                  <a:pt x="429212" y="397529"/>
                </a:lnTo>
                <a:lnTo>
                  <a:pt x="0" y="397529"/>
                </a:lnTo>
                <a:lnTo>
                  <a:pt x="0" y="0"/>
                </a:lnTo>
                <a:close/>
              </a:path>
            </a:pathLst>
          </a:custGeom>
          <a:blipFill>
            <a:blip r:embed="rId5" cstate="print">
              <a:extLst>
                <a:ext uri="{96DAC541-7B7A-43D3-8B79-37D633B846F1}">
                  <asvg:svgBlip xmlns:asvg="http://schemas.microsoft.com/office/drawing/2016/SVG/main" xmlns="" r:embed="rId6"/>
                </a:ext>
              </a:extLst>
            </a:blip>
            <a:stretch>
              <a:fillRect/>
            </a:stretch>
          </a:blipFill>
        </p:spPr>
      </p:sp>
      <p:sp>
        <p:nvSpPr>
          <p:cNvPr id="47" name="Freeform 47"/>
          <p:cNvSpPr/>
          <p:nvPr/>
        </p:nvSpPr>
        <p:spPr>
          <a:xfrm>
            <a:off x="16670880" y="7237560"/>
            <a:ext cx="429212" cy="397529"/>
          </a:xfrm>
          <a:custGeom>
            <a:avLst/>
            <a:gdLst/>
            <a:ahLst/>
            <a:cxnLst/>
            <a:rect l="l" t="t" r="r" b="b"/>
            <a:pathLst>
              <a:path w="429212" h="397529">
                <a:moveTo>
                  <a:pt x="0" y="0"/>
                </a:moveTo>
                <a:lnTo>
                  <a:pt x="429212" y="0"/>
                </a:lnTo>
                <a:lnTo>
                  <a:pt x="429212" y="397530"/>
                </a:lnTo>
                <a:lnTo>
                  <a:pt x="0" y="397530"/>
                </a:lnTo>
                <a:lnTo>
                  <a:pt x="0" y="0"/>
                </a:lnTo>
                <a:close/>
              </a:path>
            </a:pathLst>
          </a:custGeom>
          <a:blipFill>
            <a:blip r:embed="rId5" cstate="print">
              <a:extLst>
                <a:ext uri="{96DAC541-7B7A-43D3-8B79-37D633B846F1}">
                  <asvg:svgBlip xmlns:asvg="http://schemas.microsoft.com/office/drawing/2016/SVG/main" xmlns="" r:embed="rId6"/>
                </a:ext>
              </a:extLst>
            </a:blip>
            <a:stretch>
              <a:fillRect/>
            </a:stretch>
          </a:blipFill>
        </p:spPr>
      </p:sp>
      <p:sp>
        <p:nvSpPr>
          <p:cNvPr id="48" name="Freeform 48"/>
          <p:cNvSpPr/>
          <p:nvPr/>
        </p:nvSpPr>
        <p:spPr>
          <a:xfrm rot="-10800000">
            <a:off x="5504136" y="-4573010"/>
            <a:ext cx="6058172" cy="6069207"/>
          </a:xfrm>
          <a:custGeom>
            <a:avLst/>
            <a:gdLst/>
            <a:ahLst/>
            <a:cxnLst/>
            <a:rect l="l" t="t" r="r" b="b"/>
            <a:pathLst>
              <a:path w="6058172" h="6069207">
                <a:moveTo>
                  <a:pt x="0" y="0"/>
                </a:moveTo>
                <a:lnTo>
                  <a:pt x="6058172" y="0"/>
                </a:lnTo>
                <a:lnTo>
                  <a:pt x="6058172" y="6069206"/>
                </a:lnTo>
                <a:lnTo>
                  <a:pt x="0" y="6069206"/>
                </a:lnTo>
                <a:lnTo>
                  <a:pt x="0" y="0"/>
                </a:lnTo>
                <a:close/>
              </a:path>
            </a:pathLst>
          </a:custGeom>
          <a:blipFill>
            <a:blip r:embed="rId7">
              <a:alphaModFix amt="50000"/>
              <a:extLst>
                <a:ext uri="{96DAC541-7B7A-43D3-8B79-37D633B846F1}">
                  <asvg:svgBlip xmlns:asvg="http://schemas.microsoft.com/office/drawing/2016/SVG/main" xmlns="" r:embed="rId8"/>
                </a:ext>
              </a:extLst>
            </a:blip>
            <a:stretch>
              <a:fillRect/>
            </a:stretch>
          </a:blipFill>
        </p:spPr>
      </p:sp>
      <p:sp>
        <p:nvSpPr>
          <p:cNvPr id="50" name="Freeform 50"/>
          <p:cNvSpPr/>
          <p:nvPr/>
        </p:nvSpPr>
        <p:spPr>
          <a:xfrm>
            <a:off x="9442476" y="8682777"/>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r:embed="rId9" cstate="print">
              <a:extLst>
                <a:ext uri="{96DAC541-7B7A-43D3-8B79-37D633B846F1}">
                  <asvg:svgBlip xmlns:asvg="http://schemas.microsoft.com/office/drawing/2016/SVG/main" xmlns="" r:embed="rId12"/>
                </a:ext>
              </a:extLst>
            </a:blip>
            <a:stretch>
              <a:fillRect t="-106388" r="-103152"/>
            </a:stretch>
          </a:blipFill>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3" name="Freeform 3"/>
          <p:cNvSpPr/>
          <p:nvPr/>
        </p:nvSpPr>
        <p:spPr>
          <a:xfrm rot="-1981365">
            <a:off x="3811636" y="3648079"/>
            <a:ext cx="20299771" cy="6754287"/>
          </a:xfrm>
          <a:custGeom>
            <a:avLst/>
            <a:gdLst/>
            <a:ahLst/>
            <a:cxnLst/>
            <a:rect l="l" t="t" r="r" b="b"/>
            <a:pathLst>
              <a:path w="20299771" h="6754287">
                <a:moveTo>
                  <a:pt x="0" y="0"/>
                </a:moveTo>
                <a:lnTo>
                  <a:pt x="20299771" y="0"/>
                </a:lnTo>
                <a:lnTo>
                  <a:pt x="20299771" y="6754287"/>
                </a:lnTo>
                <a:lnTo>
                  <a:pt x="0" y="6754287"/>
                </a:lnTo>
                <a:lnTo>
                  <a:pt x="0" y="0"/>
                </a:lnTo>
                <a:close/>
              </a:path>
            </a:pathLst>
          </a:custGeom>
          <a:blipFill>
            <a:blip r:embed="rId2">
              <a:alphaModFix amt="15000"/>
              <a:extLst>
                <a:ext uri="{96DAC541-7B7A-43D3-8B79-37D633B846F1}">
                  <asvg:svgBlip xmlns:asvg="http://schemas.microsoft.com/office/drawing/2016/SVG/main" xmlns="" r:embed="rId4"/>
                </a:ext>
              </a:extLst>
            </a:blip>
            <a:stretch>
              <a:fillRect/>
            </a:stretch>
          </a:blipFill>
        </p:spPr>
      </p:sp>
      <p:sp>
        <p:nvSpPr>
          <p:cNvPr id="4" name="Freeform 4"/>
          <p:cNvSpPr/>
          <p:nvPr/>
        </p:nvSpPr>
        <p:spPr>
          <a:xfrm>
            <a:off x="280986" y="2060703"/>
            <a:ext cx="6576998" cy="7297639"/>
          </a:xfrm>
          <a:custGeom>
            <a:avLst/>
            <a:gdLst/>
            <a:ahLst/>
            <a:cxnLst/>
            <a:rect l="l" t="t" r="r" b="b"/>
            <a:pathLst>
              <a:path w="6576998" h="7297639">
                <a:moveTo>
                  <a:pt x="0" y="0"/>
                </a:moveTo>
                <a:lnTo>
                  <a:pt x="6576998" y="0"/>
                </a:lnTo>
                <a:lnTo>
                  <a:pt x="6576998" y="7297639"/>
                </a:lnTo>
                <a:lnTo>
                  <a:pt x="0" y="7297639"/>
                </a:lnTo>
                <a:lnTo>
                  <a:pt x="0" y="0"/>
                </a:lnTo>
                <a:close/>
              </a:path>
            </a:pathLst>
          </a:custGeom>
          <a:blipFill>
            <a:blip r:embed="rId5"/>
            <a:stretch>
              <a:fillRect/>
            </a:stretch>
          </a:blipFill>
        </p:spPr>
      </p:sp>
      <p:sp>
        <p:nvSpPr>
          <p:cNvPr id="5" name="Freeform 5"/>
          <p:cNvSpPr/>
          <p:nvPr/>
        </p:nvSpPr>
        <p:spPr>
          <a:xfrm flipH="1" flipV="1">
            <a:off x="17187372" y="6347008"/>
            <a:ext cx="1519526" cy="3084508"/>
          </a:xfrm>
          <a:custGeom>
            <a:avLst/>
            <a:gdLst/>
            <a:ahLst/>
            <a:cxnLst/>
            <a:rect l="l" t="t" r="r" b="b"/>
            <a:pathLst>
              <a:path w="1519526" h="3084508">
                <a:moveTo>
                  <a:pt x="1519526" y="3084508"/>
                </a:moveTo>
                <a:lnTo>
                  <a:pt x="0" y="3084508"/>
                </a:lnTo>
                <a:lnTo>
                  <a:pt x="0" y="0"/>
                </a:lnTo>
                <a:lnTo>
                  <a:pt x="1519526" y="0"/>
                </a:lnTo>
                <a:lnTo>
                  <a:pt x="1519526" y="3084508"/>
                </a:lnTo>
                <a:close/>
              </a:path>
            </a:pathLst>
          </a:custGeom>
          <a:blipFill>
            <a:blip r:embed="rId6"/>
            <a:stretch>
              <a:fillRect/>
            </a:stretch>
          </a:blipFill>
        </p:spPr>
      </p:sp>
      <p:sp>
        <p:nvSpPr>
          <p:cNvPr id="6" name="Freeform 6"/>
          <p:cNvSpPr/>
          <p:nvPr/>
        </p:nvSpPr>
        <p:spPr>
          <a:xfrm rot="5400000" flipH="1">
            <a:off x="7345876" y="8820306"/>
            <a:ext cx="1186914" cy="2409334"/>
          </a:xfrm>
          <a:custGeom>
            <a:avLst/>
            <a:gdLst/>
            <a:ahLst/>
            <a:cxnLst/>
            <a:rect l="l" t="t" r="r" b="b"/>
            <a:pathLst>
              <a:path w="1186914" h="2409334">
                <a:moveTo>
                  <a:pt x="1186914" y="0"/>
                </a:moveTo>
                <a:lnTo>
                  <a:pt x="0" y="0"/>
                </a:lnTo>
                <a:lnTo>
                  <a:pt x="0" y="2409334"/>
                </a:lnTo>
                <a:lnTo>
                  <a:pt x="1186914" y="2409334"/>
                </a:lnTo>
                <a:lnTo>
                  <a:pt x="1186914" y="0"/>
                </a:lnTo>
                <a:close/>
              </a:path>
            </a:pathLst>
          </a:custGeom>
          <a:blipFill>
            <a:blip r:embed="rId6"/>
            <a:stretch>
              <a:fillRect/>
            </a:stretch>
          </a:blipFill>
        </p:spPr>
      </p:sp>
      <p:sp>
        <p:nvSpPr>
          <p:cNvPr id="7" name="TextBox 7"/>
          <p:cNvSpPr txBox="1"/>
          <p:nvPr/>
        </p:nvSpPr>
        <p:spPr>
          <a:xfrm>
            <a:off x="11079818" y="1181100"/>
            <a:ext cx="6179482" cy="909176"/>
          </a:xfrm>
          <a:prstGeom prst="rect">
            <a:avLst/>
          </a:prstGeom>
        </p:spPr>
        <p:txBody>
          <a:bodyPr lIns="0" tIns="0" rIns="0" bIns="0" rtlCol="0" anchor="t">
            <a:spAutoFit/>
          </a:bodyPr>
          <a:lstStyle/>
          <a:p>
            <a:pPr marL="0" lvl="0" indent="0" algn="r">
              <a:lnSpc>
                <a:spcPts val="6785"/>
              </a:lnSpc>
            </a:pPr>
            <a:r>
              <a:rPr lang="en-US" sz="6995">
                <a:solidFill>
                  <a:srgbClr val="FFFFFF"/>
                </a:solidFill>
                <a:latin typeface="TT Interphases"/>
                <a:ea typeface="TT Interphases"/>
                <a:cs typeface="TT Interphases"/>
                <a:sym typeface="TT Interphases"/>
              </a:rPr>
              <a:t>Why This</a:t>
            </a:r>
          </a:p>
        </p:txBody>
      </p:sp>
      <p:sp>
        <p:nvSpPr>
          <p:cNvPr id="8" name="TextBox 8"/>
          <p:cNvSpPr txBox="1"/>
          <p:nvPr/>
        </p:nvSpPr>
        <p:spPr>
          <a:xfrm>
            <a:off x="7313296" y="3637572"/>
            <a:ext cx="9946004" cy="3503211"/>
          </a:xfrm>
          <a:prstGeom prst="rect">
            <a:avLst/>
          </a:prstGeom>
        </p:spPr>
        <p:txBody>
          <a:bodyPr lIns="0" tIns="0" rIns="0" bIns="0" rtlCol="0" anchor="t">
            <a:spAutoFit/>
          </a:bodyPr>
          <a:lstStyle/>
          <a:p>
            <a:pPr marL="0" lvl="0" indent="0" algn="r">
              <a:lnSpc>
                <a:spcPts val="3128"/>
              </a:lnSpc>
            </a:pPr>
            <a:r>
              <a:rPr lang="en-US" sz="2406">
                <a:solidFill>
                  <a:srgbClr val="FFFFFF"/>
                </a:solidFill>
                <a:latin typeface="TT Interphases"/>
                <a:ea typeface="TT Interphases"/>
                <a:cs typeface="TT Interphases"/>
                <a:sym typeface="TT Interphases"/>
              </a:rPr>
              <a:t>Financial statements hold critical insights — but extracting them is slow, technical, and inaccessible to most stakeholders. Analysts spend hours parsing income statements, balance sheets, and cash flow reports just to answer basic questions.</a:t>
            </a:r>
          </a:p>
          <a:p>
            <a:pPr marL="0" lvl="0" indent="0" algn="r">
              <a:lnSpc>
                <a:spcPts val="3128"/>
              </a:lnSpc>
            </a:pPr>
            <a:r>
              <a:rPr lang="en-US" sz="2406">
                <a:solidFill>
                  <a:srgbClr val="FFFFFF"/>
                </a:solidFill>
                <a:latin typeface="TT Interphases"/>
                <a:ea typeface="TT Interphases"/>
                <a:cs typeface="TT Interphases"/>
                <a:sym typeface="TT Interphases"/>
              </a:rPr>
              <a:t>This project bridges that gap. By enabling natural language queries on structured financial data from Indian IT companies, the Finance Knowledge Assistant transforms complex statements into instant, conversational insights — no SQL, no spreadsheets, no expertise required.</a:t>
            </a:r>
          </a:p>
          <a:p>
            <a:pPr marL="0" lvl="0" indent="0" algn="r">
              <a:lnSpc>
                <a:spcPts val="3128"/>
              </a:lnSpc>
            </a:pPr>
            <a:r>
              <a:rPr lang="en-US" sz="2406">
                <a:solidFill>
                  <a:srgbClr val="FFFFFF"/>
                </a:solidFill>
                <a:latin typeface="TT Interphases"/>
                <a:ea typeface="TT Interphases"/>
                <a:cs typeface="TT Interphases"/>
                <a:sym typeface="TT Interphases"/>
              </a:rPr>
              <a:t>Faster decisions. Broader access. Smarter analysis.</a:t>
            </a:r>
          </a:p>
        </p:txBody>
      </p:sp>
      <p:sp>
        <p:nvSpPr>
          <p:cNvPr id="9" name="TextBox 9"/>
          <p:cNvSpPr txBox="1"/>
          <p:nvPr/>
        </p:nvSpPr>
        <p:spPr>
          <a:xfrm>
            <a:off x="8076845" y="2242820"/>
            <a:ext cx="9182455" cy="909176"/>
          </a:xfrm>
          <a:prstGeom prst="rect">
            <a:avLst/>
          </a:prstGeom>
        </p:spPr>
        <p:txBody>
          <a:bodyPr lIns="0" tIns="0" rIns="0" bIns="0" rtlCol="0" anchor="t">
            <a:spAutoFit/>
          </a:bodyPr>
          <a:lstStyle/>
          <a:p>
            <a:pPr marL="0" lvl="0" indent="0" algn="r">
              <a:lnSpc>
                <a:spcPts val="6785"/>
              </a:lnSpc>
            </a:pPr>
            <a:r>
              <a:rPr lang="en-US" sz="6995" b="1">
                <a:solidFill>
                  <a:srgbClr val="A94BC6"/>
                </a:solidFill>
                <a:latin typeface="TT Interphases Bold"/>
                <a:ea typeface="TT Interphases Bold"/>
                <a:cs typeface="TT Interphases Bold"/>
                <a:sym typeface="TT Interphases Bold"/>
              </a:rPr>
              <a:t>Project Matters</a:t>
            </a:r>
          </a:p>
        </p:txBody>
      </p:sp>
      <p:sp>
        <p:nvSpPr>
          <p:cNvPr id="11" name="Freeform 11"/>
          <p:cNvSpPr/>
          <p:nvPr/>
        </p:nvSpPr>
        <p:spPr>
          <a:xfrm>
            <a:off x="6647151" y="899054"/>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r:embed="rId7" cstate="print">
              <a:extLst>
                <a:ext uri="{96DAC541-7B7A-43D3-8B79-37D633B846F1}">
                  <asvg:svgBlip xmlns:asvg="http://schemas.microsoft.com/office/drawing/2016/SVG/main" xmlns="" r:embed="rId10"/>
                </a:ext>
              </a:extLst>
            </a:blip>
            <a:stretch>
              <a:fillRect t="-106388" r="-103152"/>
            </a:stretch>
          </a:blipFill>
        </p:spPr>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864831" flipH="1">
            <a:off x="-4568671" y="3075263"/>
            <a:ext cx="21822962" cy="7261095"/>
          </a:xfrm>
          <a:custGeom>
            <a:avLst/>
            <a:gdLst/>
            <a:ahLst/>
            <a:cxnLst/>
            <a:rect l="l" t="t" r="r" b="b"/>
            <a:pathLst>
              <a:path w="21822962" h="7261095">
                <a:moveTo>
                  <a:pt x="21822962" y="0"/>
                </a:moveTo>
                <a:lnTo>
                  <a:pt x="0" y="0"/>
                </a:lnTo>
                <a:lnTo>
                  <a:pt x="0" y="7261095"/>
                </a:lnTo>
                <a:lnTo>
                  <a:pt x="21822962" y="7261095"/>
                </a:lnTo>
                <a:lnTo>
                  <a:pt x="21822962" y="0"/>
                </a:lnTo>
                <a:close/>
              </a:path>
            </a:pathLst>
          </a:custGeom>
          <a:blipFill>
            <a:blip r:embed="rId2">
              <a:alphaModFix amt="15000"/>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a:off x="17055059" y="1028700"/>
            <a:ext cx="1675621" cy="3401366"/>
          </a:xfrm>
          <a:custGeom>
            <a:avLst/>
            <a:gdLst/>
            <a:ahLst/>
            <a:cxnLst/>
            <a:rect l="l" t="t" r="r" b="b"/>
            <a:pathLst>
              <a:path w="1675621" h="3401366">
                <a:moveTo>
                  <a:pt x="1675621" y="0"/>
                </a:moveTo>
                <a:lnTo>
                  <a:pt x="0" y="0"/>
                </a:lnTo>
                <a:lnTo>
                  <a:pt x="0" y="3401366"/>
                </a:lnTo>
                <a:lnTo>
                  <a:pt x="1675621" y="3401366"/>
                </a:lnTo>
                <a:lnTo>
                  <a:pt x="1675621" y="0"/>
                </a:lnTo>
                <a:close/>
              </a:path>
            </a:pathLst>
          </a:custGeom>
          <a:blipFill>
            <a:blip r:embed="rId4"/>
            <a:stretch>
              <a:fillRect/>
            </a:stretch>
          </a:blipFill>
        </p:spPr>
      </p:sp>
      <p:sp>
        <p:nvSpPr>
          <p:cNvPr id="4" name="Freeform 4"/>
          <p:cNvSpPr/>
          <p:nvPr/>
        </p:nvSpPr>
        <p:spPr>
          <a:xfrm>
            <a:off x="-318363" y="1028700"/>
            <a:ext cx="1675621" cy="3401366"/>
          </a:xfrm>
          <a:custGeom>
            <a:avLst/>
            <a:gdLst/>
            <a:ahLst/>
            <a:cxnLst/>
            <a:rect l="l" t="t" r="r" b="b"/>
            <a:pathLst>
              <a:path w="1675621" h="3401366">
                <a:moveTo>
                  <a:pt x="0" y="0"/>
                </a:moveTo>
                <a:lnTo>
                  <a:pt x="1675621" y="0"/>
                </a:lnTo>
                <a:lnTo>
                  <a:pt x="1675621" y="3401366"/>
                </a:lnTo>
                <a:lnTo>
                  <a:pt x="0" y="3401366"/>
                </a:lnTo>
                <a:lnTo>
                  <a:pt x="0" y="0"/>
                </a:lnTo>
                <a:close/>
              </a:path>
            </a:pathLst>
          </a:custGeom>
          <a:blipFill>
            <a:blip r:embed="rId4"/>
            <a:stretch>
              <a:fillRect/>
            </a:stretch>
          </a:blipFill>
        </p:spPr>
        <p:txBody>
          <a:bodyPr/>
          <a:lstStyle/>
          <a:p>
            <a:r>
              <a:rPr lang="en-GB" dirty="0" smtClean="0"/>
              <a:t>z</a:t>
            </a:r>
            <a:endParaRPr lang="en-GB" dirty="0"/>
          </a:p>
        </p:txBody>
      </p:sp>
      <p:grpSp>
        <p:nvGrpSpPr>
          <p:cNvPr id="7" name="Group 7"/>
          <p:cNvGrpSpPr/>
          <p:nvPr/>
        </p:nvGrpSpPr>
        <p:grpSpPr>
          <a:xfrm>
            <a:off x="1886279" y="4658679"/>
            <a:ext cx="2198558" cy="219855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9" name="TextBox 9"/>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10" name="Group 10"/>
          <p:cNvGrpSpPr/>
          <p:nvPr/>
        </p:nvGrpSpPr>
        <p:grpSpPr>
          <a:xfrm>
            <a:off x="5991907" y="4658679"/>
            <a:ext cx="2198558" cy="2198558"/>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12" name="TextBox 12"/>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sp>
        <p:nvSpPr>
          <p:cNvPr id="13" name="TextBox 13"/>
          <p:cNvSpPr txBox="1"/>
          <p:nvPr/>
        </p:nvSpPr>
        <p:spPr>
          <a:xfrm>
            <a:off x="5139807" y="1123950"/>
            <a:ext cx="8008386" cy="542085"/>
          </a:xfrm>
          <a:prstGeom prst="rect">
            <a:avLst/>
          </a:prstGeom>
        </p:spPr>
        <p:txBody>
          <a:bodyPr lIns="0" tIns="0" rIns="0" bIns="0" rtlCol="0" anchor="t">
            <a:spAutoFit/>
          </a:bodyPr>
          <a:lstStyle/>
          <a:p>
            <a:pPr marL="0" lvl="0" indent="0" algn="ctr">
              <a:lnSpc>
                <a:spcPts val="4084"/>
              </a:lnSpc>
            </a:pPr>
            <a:r>
              <a:rPr lang="en-US" sz="4210">
                <a:solidFill>
                  <a:srgbClr val="FFFFFF"/>
                </a:solidFill>
                <a:latin typeface="TT Interphases"/>
                <a:ea typeface="TT Interphases"/>
                <a:cs typeface="TT Interphases"/>
                <a:sym typeface="TT Interphases"/>
              </a:rPr>
              <a:t>Data Source &amp; Scope</a:t>
            </a:r>
          </a:p>
        </p:txBody>
      </p:sp>
      <p:grpSp>
        <p:nvGrpSpPr>
          <p:cNvPr id="14" name="Group 14"/>
          <p:cNvGrpSpPr/>
          <p:nvPr/>
        </p:nvGrpSpPr>
        <p:grpSpPr>
          <a:xfrm>
            <a:off x="10097535" y="4658679"/>
            <a:ext cx="2198558" cy="2198558"/>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16" name="TextBox 16"/>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17" name="Group 17"/>
          <p:cNvGrpSpPr/>
          <p:nvPr/>
        </p:nvGrpSpPr>
        <p:grpSpPr>
          <a:xfrm>
            <a:off x="14203163" y="4658679"/>
            <a:ext cx="2198558" cy="219855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19" name="TextBox 19"/>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sp>
        <p:nvSpPr>
          <p:cNvPr id="20" name="Freeform 20"/>
          <p:cNvSpPr/>
          <p:nvPr/>
        </p:nvSpPr>
        <p:spPr>
          <a:xfrm rot="-10800000">
            <a:off x="12972163" y="779697"/>
            <a:ext cx="5211566" cy="5221059"/>
          </a:xfrm>
          <a:custGeom>
            <a:avLst/>
            <a:gdLst/>
            <a:ahLst/>
            <a:cxnLst/>
            <a:rect l="l" t="t" r="r" b="b"/>
            <a:pathLst>
              <a:path w="5211566" h="5221059">
                <a:moveTo>
                  <a:pt x="0" y="0"/>
                </a:moveTo>
                <a:lnTo>
                  <a:pt x="5211566" y="0"/>
                </a:lnTo>
                <a:lnTo>
                  <a:pt x="5211566" y="5221059"/>
                </a:lnTo>
                <a:lnTo>
                  <a:pt x="0" y="5221059"/>
                </a:lnTo>
                <a:lnTo>
                  <a:pt x="0" y="0"/>
                </a:lnTo>
                <a:close/>
              </a:path>
            </a:pathLst>
          </a:custGeom>
          <a:blipFill>
            <a:blip r:embed="rId5">
              <a:alphaModFix amt="50000"/>
              <a:extLst>
                <a:ext uri="{96DAC541-7B7A-43D3-8B79-37D633B846F1}">
                  <asvg:svgBlip xmlns:asvg="http://schemas.microsoft.com/office/drawing/2016/SVG/main" xmlns="" r:embed="rId8"/>
                </a:ext>
              </a:extLst>
            </a:blip>
            <a:stretch>
              <a:fillRect/>
            </a:stretch>
          </a:blipFill>
        </p:spPr>
      </p:sp>
      <p:sp>
        <p:nvSpPr>
          <p:cNvPr id="21" name="Freeform 21"/>
          <p:cNvSpPr/>
          <p:nvPr/>
        </p:nvSpPr>
        <p:spPr>
          <a:xfrm rot="-10800000">
            <a:off x="-1073490" y="9486900"/>
            <a:ext cx="5211566" cy="5221059"/>
          </a:xfrm>
          <a:custGeom>
            <a:avLst/>
            <a:gdLst/>
            <a:ahLst/>
            <a:cxnLst/>
            <a:rect l="l" t="t" r="r" b="b"/>
            <a:pathLst>
              <a:path w="5211566" h="5221059">
                <a:moveTo>
                  <a:pt x="0" y="0"/>
                </a:moveTo>
                <a:lnTo>
                  <a:pt x="5211566" y="0"/>
                </a:lnTo>
                <a:lnTo>
                  <a:pt x="5211566" y="5221059"/>
                </a:lnTo>
                <a:lnTo>
                  <a:pt x="0" y="5221059"/>
                </a:lnTo>
                <a:lnTo>
                  <a:pt x="0" y="0"/>
                </a:lnTo>
                <a:close/>
              </a:path>
            </a:pathLst>
          </a:custGeom>
          <a:blipFill>
            <a:blip r:embed="rId5">
              <a:alphaModFix amt="50000"/>
              <a:extLst>
                <a:ext uri="{96DAC541-7B7A-43D3-8B79-37D633B846F1}">
                  <asvg:svgBlip xmlns:asvg="http://schemas.microsoft.com/office/drawing/2016/SVG/main" xmlns="" r:embed="rId8"/>
                </a:ext>
              </a:extLst>
            </a:blip>
            <a:stretch>
              <a:fillRect/>
            </a:stretch>
          </a:blipFill>
        </p:spPr>
      </p:sp>
      <p:sp>
        <p:nvSpPr>
          <p:cNvPr id="22" name="Freeform 22"/>
          <p:cNvSpPr/>
          <p:nvPr/>
        </p:nvSpPr>
        <p:spPr>
          <a:xfrm>
            <a:off x="2464866" y="5109186"/>
            <a:ext cx="1290247" cy="1345999"/>
          </a:xfrm>
          <a:custGeom>
            <a:avLst/>
            <a:gdLst/>
            <a:ahLst/>
            <a:cxnLst/>
            <a:rect l="l" t="t" r="r" b="b"/>
            <a:pathLst>
              <a:path w="1290247" h="1345999">
                <a:moveTo>
                  <a:pt x="0" y="0"/>
                </a:moveTo>
                <a:lnTo>
                  <a:pt x="1290248" y="0"/>
                </a:lnTo>
                <a:lnTo>
                  <a:pt x="1290248" y="1345999"/>
                </a:lnTo>
                <a:lnTo>
                  <a:pt x="0" y="1345999"/>
                </a:lnTo>
                <a:lnTo>
                  <a:pt x="0" y="0"/>
                </a:lnTo>
                <a:close/>
              </a:path>
            </a:pathLst>
          </a:custGeom>
          <a:blipFill>
            <a:blip r:embed="rId9"/>
            <a:stretch>
              <a:fillRect/>
            </a:stretch>
          </a:blipFill>
        </p:spPr>
      </p:sp>
      <p:sp>
        <p:nvSpPr>
          <p:cNvPr id="23" name="Freeform 23"/>
          <p:cNvSpPr/>
          <p:nvPr/>
        </p:nvSpPr>
        <p:spPr>
          <a:xfrm>
            <a:off x="6424414" y="5010839"/>
            <a:ext cx="1336595" cy="1413359"/>
          </a:xfrm>
          <a:custGeom>
            <a:avLst/>
            <a:gdLst/>
            <a:ahLst/>
            <a:cxnLst/>
            <a:rect l="l" t="t" r="r" b="b"/>
            <a:pathLst>
              <a:path w="1336595" h="1413359">
                <a:moveTo>
                  <a:pt x="0" y="0"/>
                </a:moveTo>
                <a:lnTo>
                  <a:pt x="1336595" y="0"/>
                </a:lnTo>
                <a:lnTo>
                  <a:pt x="1336595" y="1413358"/>
                </a:lnTo>
                <a:lnTo>
                  <a:pt x="0" y="1413358"/>
                </a:lnTo>
                <a:lnTo>
                  <a:pt x="0" y="0"/>
                </a:lnTo>
                <a:close/>
              </a:path>
            </a:pathLst>
          </a:custGeom>
          <a:blipFill>
            <a:blip r:embed="rId10"/>
            <a:stretch>
              <a:fillRect/>
            </a:stretch>
          </a:blipFill>
        </p:spPr>
      </p:sp>
      <p:sp>
        <p:nvSpPr>
          <p:cNvPr id="24" name="Freeform 24"/>
          <p:cNvSpPr/>
          <p:nvPr/>
        </p:nvSpPr>
        <p:spPr>
          <a:xfrm>
            <a:off x="10658661" y="5118102"/>
            <a:ext cx="952134" cy="1276725"/>
          </a:xfrm>
          <a:custGeom>
            <a:avLst/>
            <a:gdLst/>
            <a:ahLst/>
            <a:cxnLst/>
            <a:rect l="l" t="t" r="r" b="b"/>
            <a:pathLst>
              <a:path w="952134" h="1276725">
                <a:moveTo>
                  <a:pt x="0" y="0"/>
                </a:moveTo>
                <a:lnTo>
                  <a:pt x="952133" y="0"/>
                </a:lnTo>
                <a:lnTo>
                  <a:pt x="952133" y="1276725"/>
                </a:lnTo>
                <a:lnTo>
                  <a:pt x="0" y="1276725"/>
                </a:lnTo>
                <a:lnTo>
                  <a:pt x="0" y="0"/>
                </a:lnTo>
                <a:close/>
              </a:path>
            </a:pathLst>
          </a:custGeom>
          <a:blipFill>
            <a:blip r:embed="rId11"/>
            <a:stretch>
              <a:fillRect/>
            </a:stretch>
          </a:blipFill>
        </p:spPr>
      </p:sp>
      <p:sp>
        <p:nvSpPr>
          <p:cNvPr id="25" name="Freeform 25"/>
          <p:cNvSpPr/>
          <p:nvPr/>
        </p:nvSpPr>
        <p:spPr>
          <a:xfrm>
            <a:off x="14765065" y="5216555"/>
            <a:ext cx="1193064" cy="1070390"/>
          </a:xfrm>
          <a:custGeom>
            <a:avLst/>
            <a:gdLst/>
            <a:ahLst/>
            <a:cxnLst/>
            <a:rect l="l" t="t" r="r" b="b"/>
            <a:pathLst>
              <a:path w="1193064" h="1070390">
                <a:moveTo>
                  <a:pt x="0" y="0"/>
                </a:moveTo>
                <a:lnTo>
                  <a:pt x="1193064" y="0"/>
                </a:lnTo>
                <a:lnTo>
                  <a:pt x="1193064" y="1070390"/>
                </a:lnTo>
                <a:lnTo>
                  <a:pt x="0" y="1070390"/>
                </a:lnTo>
                <a:lnTo>
                  <a:pt x="0" y="0"/>
                </a:lnTo>
                <a:close/>
              </a:path>
            </a:pathLst>
          </a:custGeom>
          <a:blipFill>
            <a:blip r:embed="rId12"/>
            <a:stretch>
              <a:fillRect/>
            </a:stretch>
          </a:blipFill>
        </p:spPr>
      </p:sp>
      <p:sp>
        <p:nvSpPr>
          <p:cNvPr id="26" name="TextBox 26"/>
          <p:cNvSpPr txBox="1"/>
          <p:nvPr/>
        </p:nvSpPr>
        <p:spPr>
          <a:xfrm>
            <a:off x="5934465" y="2031648"/>
            <a:ext cx="6419071" cy="542085"/>
          </a:xfrm>
          <a:prstGeom prst="rect">
            <a:avLst/>
          </a:prstGeom>
        </p:spPr>
        <p:txBody>
          <a:bodyPr lIns="0" tIns="0" rIns="0" bIns="0" rtlCol="0" anchor="t">
            <a:spAutoFit/>
          </a:bodyPr>
          <a:lstStyle/>
          <a:p>
            <a:pPr marL="0" lvl="0" indent="0" algn="ctr">
              <a:lnSpc>
                <a:spcPts val="4084"/>
              </a:lnSpc>
            </a:pPr>
            <a:r>
              <a:rPr lang="en-US" sz="4210" b="1">
                <a:solidFill>
                  <a:srgbClr val="A94BC6"/>
                </a:solidFill>
                <a:latin typeface="TT Interphases Bold"/>
                <a:ea typeface="TT Interphases Bold"/>
                <a:cs typeface="TT Interphases Bold"/>
                <a:sym typeface="TT Interphases Bold"/>
              </a:rPr>
              <a:t>Yahoo Finance &amp; Indian IT</a:t>
            </a:r>
          </a:p>
        </p:txBody>
      </p:sp>
      <p:sp>
        <p:nvSpPr>
          <p:cNvPr id="27" name="TextBox 27"/>
          <p:cNvSpPr txBox="1"/>
          <p:nvPr/>
        </p:nvSpPr>
        <p:spPr>
          <a:xfrm>
            <a:off x="1628388" y="3297237"/>
            <a:ext cx="15031223" cy="605066"/>
          </a:xfrm>
          <a:prstGeom prst="rect">
            <a:avLst/>
          </a:prstGeom>
        </p:spPr>
        <p:txBody>
          <a:bodyPr lIns="0" tIns="0" rIns="0" bIns="0" rtlCol="0" anchor="t">
            <a:spAutoFit/>
          </a:bodyPr>
          <a:lstStyle/>
          <a:p>
            <a:pPr marL="0" lvl="0" indent="0" algn="ctr">
              <a:lnSpc>
                <a:spcPts val="2414"/>
              </a:lnSpc>
            </a:pPr>
            <a:r>
              <a:rPr lang="en-US" sz="1857" dirty="0">
                <a:solidFill>
                  <a:srgbClr val="FFFFFF"/>
                </a:solidFill>
                <a:latin typeface="TT Interphases"/>
                <a:ea typeface="TT Interphases"/>
                <a:cs typeface="TT Interphases"/>
                <a:sym typeface="TT Interphases"/>
              </a:rPr>
              <a:t>Financial data was sourced from Yahoo Finance using the </a:t>
            </a:r>
            <a:r>
              <a:rPr lang="en-US" sz="1857" dirty="0" err="1">
                <a:solidFill>
                  <a:srgbClr val="FFFFFF"/>
                </a:solidFill>
                <a:latin typeface="TT Interphases"/>
                <a:ea typeface="TT Interphases"/>
                <a:cs typeface="TT Interphases"/>
                <a:sym typeface="TT Interphases"/>
              </a:rPr>
              <a:t>yfinance</a:t>
            </a:r>
            <a:r>
              <a:rPr lang="en-US" sz="1857" dirty="0">
                <a:solidFill>
                  <a:srgbClr val="FFFFFF"/>
                </a:solidFill>
                <a:latin typeface="TT Interphases"/>
                <a:ea typeface="TT Interphases"/>
                <a:cs typeface="TT Interphases"/>
                <a:sym typeface="TT Interphases"/>
              </a:rPr>
              <a:t> library, covering major Indian IT companies including TCS, Infosys, Wipro, HCL Tech, and Tech Mahindra. Three core financial statement types were ingested: balance sheets, income statements, and cash flow statements.</a:t>
            </a:r>
          </a:p>
        </p:txBody>
      </p:sp>
      <p:sp>
        <p:nvSpPr>
          <p:cNvPr id="28" name="TextBox 28"/>
          <p:cNvSpPr txBox="1"/>
          <p:nvPr/>
        </p:nvSpPr>
        <p:spPr>
          <a:xfrm>
            <a:off x="1532293" y="7268927"/>
            <a:ext cx="2819031" cy="754421"/>
          </a:xfrm>
          <a:prstGeom prst="rect">
            <a:avLst/>
          </a:prstGeom>
        </p:spPr>
        <p:txBody>
          <a:bodyPr lIns="0" tIns="0" rIns="0" bIns="0" rtlCol="0" anchor="t">
            <a:spAutoFit/>
          </a:bodyPr>
          <a:lstStyle/>
          <a:p>
            <a:pPr marL="0" lvl="0" indent="0" algn="ctr">
              <a:lnSpc>
                <a:spcPts val="2911"/>
              </a:lnSpc>
            </a:pPr>
            <a:r>
              <a:rPr lang="en-US" sz="3001" b="1">
                <a:solidFill>
                  <a:srgbClr val="FFFFFF"/>
                </a:solidFill>
                <a:latin typeface="TT Interphases Bold"/>
                <a:ea typeface="TT Interphases Bold"/>
                <a:cs typeface="TT Interphases Bold"/>
                <a:sym typeface="TT Interphases Bold"/>
              </a:rPr>
              <a:t>Yahoo Finance API</a:t>
            </a:r>
          </a:p>
        </p:txBody>
      </p:sp>
      <p:sp>
        <p:nvSpPr>
          <p:cNvPr id="29" name="TextBox 29"/>
          <p:cNvSpPr txBox="1"/>
          <p:nvPr/>
        </p:nvSpPr>
        <p:spPr>
          <a:xfrm>
            <a:off x="5646717" y="7268927"/>
            <a:ext cx="2888937" cy="754421"/>
          </a:xfrm>
          <a:prstGeom prst="rect">
            <a:avLst/>
          </a:prstGeom>
        </p:spPr>
        <p:txBody>
          <a:bodyPr lIns="0" tIns="0" rIns="0" bIns="0" rtlCol="0" anchor="t">
            <a:spAutoFit/>
          </a:bodyPr>
          <a:lstStyle/>
          <a:p>
            <a:pPr marL="0" lvl="0" indent="0" algn="ctr">
              <a:lnSpc>
                <a:spcPts val="2911"/>
              </a:lnSpc>
            </a:pPr>
            <a:r>
              <a:rPr lang="en-US" sz="3001" b="1">
                <a:solidFill>
                  <a:srgbClr val="FFFFFF"/>
                </a:solidFill>
                <a:latin typeface="TT Interphases Bold"/>
                <a:ea typeface="TT Interphases Bold"/>
                <a:cs typeface="TT Interphases Bold"/>
                <a:sym typeface="TT Interphases Bold"/>
              </a:rPr>
              <a:t>Indian IT Companies</a:t>
            </a:r>
          </a:p>
        </p:txBody>
      </p:sp>
      <p:sp>
        <p:nvSpPr>
          <p:cNvPr id="30" name="TextBox 30"/>
          <p:cNvSpPr txBox="1"/>
          <p:nvPr/>
        </p:nvSpPr>
        <p:spPr>
          <a:xfrm>
            <a:off x="1303777" y="8385810"/>
            <a:ext cx="3276063" cy="430694"/>
          </a:xfrm>
          <a:prstGeom prst="rect">
            <a:avLst/>
          </a:prstGeom>
        </p:spPr>
        <p:txBody>
          <a:bodyPr lIns="0" tIns="0" rIns="0" bIns="0" rtlCol="0" anchor="t">
            <a:spAutoFit/>
          </a:bodyPr>
          <a:lstStyle/>
          <a:p>
            <a:pPr marL="0" lvl="0" indent="0" algn="ctr">
              <a:lnSpc>
                <a:spcPts val="1738"/>
              </a:lnSpc>
            </a:pPr>
            <a:r>
              <a:rPr lang="en-US" sz="1337">
                <a:solidFill>
                  <a:srgbClr val="FFFFFF"/>
                </a:solidFill>
                <a:latin typeface="TT Interphases"/>
                <a:ea typeface="TT Interphases"/>
                <a:cs typeface="TT Interphases"/>
                <a:sym typeface="TT Interphases"/>
              </a:rPr>
              <a:t>Data fetched via yfinance library with ticker symbols for top NSE/BSE listed IT firms.</a:t>
            </a:r>
          </a:p>
        </p:txBody>
      </p:sp>
      <p:sp>
        <p:nvSpPr>
          <p:cNvPr id="31" name="TextBox 31"/>
          <p:cNvSpPr txBox="1"/>
          <p:nvPr/>
        </p:nvSpPr>
        <p:spPr>
          <a:xfrm>
            <a:off x="5453154" y="8385810"/>
            <a:ext cx="3276063" cy="649769"/>
          </a:xfrm>
          <a:prstGeom prst="rect">
            <a:avLst/>
          </a:prstGeom>
        </p:spPr>
        <p:txBody>
          <a:bodyPr lIns="0" tIns="0" rIns="0" bIns="0" rtlCol="0" anchor="t">
            <a:spAutoFit/>
          </a:bodyPr>
          <a:lstStyle/>
          <a:p>
            <a:pPr marL="0" lvl="0" indent="0" algn="ctr">
              <a:lnSpc>
                <a:spcPts val="1738"/>
              </a:lnSpc>
            </a:pPr>
            <a:r>
              <a:rPr lang="en-US" sz="1337">
                <a:solidFill>
                  <a:srgbClr val="FFFFFF"/>
                </a:solidFill>
                <a:latin typeface="TT Interphases"/>
                <a:ea typeface="TT Interphases"/>
                <a:cs typeface="TT Interphases"/>
                <a:sym typeface="TT Interphases"/>
              </a:rPr>
              <a:t>TCS, Infosys, Wipro, HCL Tech, and Tech Mahindra covered across multiple fiscal years.</a:t>
            </a:r>
          </a:p>
        </p:txBody>
      </p:sp>
      <p:sp>
        <p:nvSpPr>
          <p:cNvPr id="32" name="TextBox 32"/>
          <p:cNvSpPr txBox="1"/>
          <p:nvPr/>
        </p:nvSpPr>
        <p:spPr>
          <a:xfrm>
            <a:off x="9805273" y="7268927"/>
            <a:ext cx="2870580" cy="754421"/>
          </a:xfrm>
          <a:prstGeom prst="rect">
            <a:avLst/>
          </a:prstGeom>
        </p:spPr>
        <p:txBody>
          <a:bodyPr lIns="0" tIns="0" rIns="0" bIns="0" rtlCol="0" anchor="t">
            <a:spAutoFit/>
          </a:bodyPr>
          <a:lstStyle/>
          <a:p>
            <a:pPr marL="0" lvl="0" indent="0" algn="ctr">
              <a:lnSpc>
                <a:spcPts val="2911"/>
              </a:lnSpc>
            </a:pPr>
            <a:r>
              <a:rPr lang="en-US" sz="3001" b="1">
                <a:solidFill>
                  <a:srgbClr val="FFFFFF"/>
                </a:solidFill>
                <a:latin typeface="TT Interphases Bold"/>
                <a:ea typeface="TT Interphases Bold"/>
                <a:cs typeface="TT Interphases Bold"/>
                <a:sym typeface="TT Interphases Bold"/>
              </a:rPr>
              <a:t>Statement Types</a:t>
            </a:r>
          </a:p>
        </p:txBody>
      </p:sp>
      <p:sp>
        <p:nvSpPr>
          <p:cNvPr id="33" name="TextBox 33"/>
          <p:cNvSpPr txBox="1"/>
          <p:nvPr/>
        </p:nvSpPr>
        <p:spPr>
          <a:xfrm>
            <a:off x="9602531" y="8385810"/>
            <a:ext cx="3276063" cy="649769"/>
          </a:xfrm>
          <a:prstGeom prst="rect">
            <a:avLst/>
          </a:prstGeom>
        </p:spPr>
        <p:txBody>
          <a:bodyPr lIns="0" tIns="0" rIns="0" bIns="0" rtlCol="0" anchor="t">
            <a:spAutoFit/>
          </a:bodyPr>
          <a:lstStyle/>
          <a:p>
            <a:pPr marL="0" lvl="0" indent="0" algn="ctr">
              <a:lnSpc>
                <a:spcPts val="1738"/>
              </a:lnSpc>
            </a:pPr>
            <a:r>
              <a:rPr lang="en-US" sz="1337">
                <a:solidFill>
                  <a:srgbClr val="FFFFFF"/>
                </a:solidFill>
                <a:latin typeface="TT Interphases"/>
                <a:ea typeface="TT Interphases"/>
                <a:cs typeface="TT Interphases"/>
                <a:sym typeface="TT Interphases"/>
              </a:rPr>
              <a:t>Balance sheets, income statements, and cash flow statements ingested as structured data.</a:t>
            </a:r>
          </a:p>
        </p:txBody>
      </p:sp>
      <p:sp>
        <p:nvSpPr>
          <p:cNvPr id="34" name="TextBox 34"/>
          <p:cNvSpPr txBox="1"/>
          <p:nvPr/>
        </p:nvSpPr>
        <p:spPr>
          <a:xfrm>
            <a:off x="14329955" y="7268927"/>
            <a:ext cx="2119971" cy="754421"/>
          </a:xfrm>
          <a:prstGeom prst="rect">
            <a:avLst/>
          </a:prstGeom>
        </p:spPr>
        <p:txBody>
          <a:bodyPr lIns="0" tIns="0" rIns="0" bIns="0" rtlCol="0" anchor="t">
            <a:spAutoFit/>
          </a:bodyPr>
          <a:lstStyle/>
          <a:p>
            <a:pPr marL="0" lvl="0" indent="0" algn="ctr">
              <a:lnSpc>
                <a:spcPts val="2911"/>
              </a:lnSpc>
            </a:pPr>
            <a:r>
              <a:rPr lang="en-US" sz="3001" b="1">
                <a:solidFill>
                  <a:srgbClr val="FFFFFF"/>
                </a:solidFill>
                <a:latin typeface="TT Interphases Bold"/>
                <a:ea typeface="TT Interphases Bold"/>
                <a:cs typeface="TT Interphases Bold"/>
                <a:sym typeface="TT Interphases Bold"/>
              </a:rPr>
              <a:t>Data Coverage</a:t>
            </a:r>
          </a:p>
        </p:txBody>
      </p:sp>
      <p:sp>
        <p:nvSpPr>
          <p:cNvPr id="35" name="TextBox 35"/>
          <p:cNvSpPr txBox="1"/>
          <p:nvPr/>
        </p:nvSpPr>
        <p:spPr>
          <a:xfrm>
            <a:off x="13751909" y="8385810"/>
            <a:ext cx="3276063" cy="649769"/>
          </a:xfrm>
          <a:prstGeom prst="rect">
            <a:avLst/>
          </a:prstGeom>
        </p:spPr>
        <p:txBody>
          <a:bodyPr lIns="0" tIns="0" rIns="0" bIns="0" rtlCol="0" anchor="t">
            <a:spAutoFit/>
          </a:bodyPr>
          <a:lstStyle/>
          <a:p>
            <a:pPr marL="0" lvl="0" indent="0" algn="ctr">
              <a:lnSpc>
                <a:spcPts val="1738"/>
              </a:lnSpc>
            </a:pPr>
            <a:r>
              <a:rPr lang="en-US" sz="1337">
                <a:solidFill>
                  <a:srgbClr val="FFFFFF"/>
                </a:solidFill>
                <a:latin typeface="TT Interphases"/>
                <a:ea typeface="TT Interphases"/>
                <a:cs typeface="TT Interphases"/>
                <a:sym typeface="TT Interphases"/>
              </a:rPr>
              <a:t>Multi-year historical financial records providing rich context for RAG-based Q&amp;A queries.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0509813">
            <a:off x="1318383" y="970359"/>
            <a:ext cx="5782587" cy="5797079"/>
          </a:xfrm>
          <a:custGeom>
            <a:avLst/>
            <a:gdLst/>
            <a:ahLst/>
            <a:cxnLst/>
            <a:rect l="l" t="t" r="r" b="b"/>
            <a:pathLst>
              <a:path w="5782587" h="5797079">
                <a:moveTo>
                  <a:pt x="0" y="0"/>
                </a:moveTo>
                <a:lnTo>
                  <a:pt x="5782587" y="0"/>
                </a:lnTo>
                <a:lnTo>
                  <a:pt x="5782587" y="5797079"/>
                </a:lnTo>
                <a:lnTo>
                  <a:pt x="0" y="5797079"/>
                </a:lnTo>
                <a:lnTo>
                  <a:pt x="0" y="0"/>
                </a:lnTo>
                <a:close/>
              </a:path>
            </a:pathLst>
          </a:custGeom>
          <a:blipFill>
            <a:blip r:embed="rId2">
              <a:alphaModFix amt="50000"/>
            </a:blip>
            <a:stretch>
              <a:fillRect/>
            </a:stretch>
          </a:blipFill>
        </p:spPr>
      </p:sp>
      <p:sp>
        <p:nvSpPr>
          <p:cNvPr id="3" name="Freeform 3"/>
          <p:cNvSpPr/>
          <p:nvPr/>
        </p:nvSpPr>
        <p:spPr>
          <a:xfrm rot="-2454844">
            <a:off x="-1310468" y="3207755"/>
            <a:ext cx="32463947" cy="6046410"/>
          </a:xfrm>
          <a:custGeom>
            <a:avLst/>
            <a:gdLst/>
            <a:ahLst/>
            <a:cxnLst/>
            <a:rect l="l" t="t" r="r" b="b"/>
            <a:pathLst>
              <a:path w="32463947" h="6046410">
                <a:moveTo>
                  <a:pt x="0" y="0"/>
                </a:moveTo>
                <a:lnTo>
                  <a:pt x="32463947" y="0"/>
                </a:lnTo>
                <a:lnTo>
                  <a:pt x="32463947" y="6046410"/>
                </a:lnTo>
                <a:lnTo>
                  <a:pt x="0" y="6046410"/>
                </a:lnTo>
                <a:lnTo>
                  <a:pt x="0" y="0"/>
                </a:lnTo>
                <a:close/>
              </a:path>
            </a:pathLst>
          </a:custGeom>
          <a:blipFill>
            <a:blip r:embed="rId3">
              <a:alphaModFix amt="15000"/>
            </a:blip>
            <a:stretch>
              <a:fillRect/>
            </a:stretch>
          </a:blipFill>
        </p:spPr>
      </p:sp>
      <p:sp>
        <p:nvSpPr>
          <p:cNvPr id="4" name="Freeform 4"/>
          <p:cNvSpPr/>
          <p:nvPr/>
        </p:nvSpPr>
        <p:spPr>
          <a:xfrm flipH="1">
            <a:off x="17017745" y="5210303"/>
            <a:ext cx="1622664" cy="3293868"/>
          </a:xfrm>
          <a:custGeom>
            <a:avLst/>
            <a:gdLst/>
            <a:ahLst/>
            <a:cxnLst/>
            <a:rect l="l" t="t" r="r" b="b"/>
            <a:pathLst>
              <a:path w="1622664" h="3293868">
                <a:moveTo>
                  <a:pt x="1622664" y="0"/>
                </a:moveTo>
                <a:lnTo>
                  <a:pt x="0" y="0"/>
                </a:lnTo>
                <a:lnTo>
                  <a:pt x="0" y="3293869"/>
                </a:lnTo>
                <a:lnTo>
                  <a:pt x="1622664" y="3293869"/>
                </a:lnTo>
                <a:lnTo>
                  <a:pt x="1622664" y="0"/>
                </a:lnTo>
                <a:close/>
              </a:path>
            </a:pathLst>
          </a:custGeom>
          <a:blipFill>
            <a:blip r:embed="rId4"/>
            <a:stretch>
              <a:fillRect/>
            </a:stretch>
          </a:blipFill>
        </p:spPr>
      </p:sp>
      <p:sp>
        <p:nvSpPr>
          <p:cNvPr id="5" name="Freeform 5"/>
          <p:cNvSpPr/>
          <p:nvPr/>
        </p:nvSpPr>
        <p:spPr>
          <a:xfrm rot="5400000" flipH="1" flipV="1">
            <a:off x="1590020" y="8233202"/>
            <a:ext cx="1627419" cy="3303521"/>
          </a:xfrm>
          <a:custGeom>
            <a:avLst/>
            <a:gdLst/>
            <a:ahLst/>
            <a:cxnLst/>
            <a:rect l="l" t="t" r="r" b="b"/>
            <a:pathLst>
              <a:path w="1627419" h="3303521">
                <a:moveTo>
                  <a:pt x="1627419" y="3303521"/>
                </a:moveTo>
                <a:lnTo>
                  <a:pt x="0" y="3303521"/>
                </a:lnTo>
                <a:lnTo>
                  <a:pt x="0" y="0"/>
                </a:lnTo>
                <a:lnTo>
                  <a:pt x="1627419" y="0"/>
                </a:lnTo>
                <a:lnTo>
                  <a:pt x="1627419" y="3303521"/>
                </a:lnTo>
                <a:close/>
              </a:path>
            </a:pathLst>
          </a:custGeom>
          <a:blipFill>
            <a:blip r:embed="rId4"/>
            <a:stretch>
              <a:fillRect/>
            </a:stretch>
          </a:blipFill>
        </p:spPr>
      </p:sp>
      <p:grpSp>
        <p:nvGrpSpPr>
          <p:cNvPr id="6" name="Group 6"/>
          <p:cNvGrpSpPr/>
          <p:nvPr/>
        </p:nvGrpSpPr>
        <p:grpSpPr>
          <a:xfrm>
            <a:off x="9486277" y="5926283"/>
            <a:ext cx="6397994" cy="1556401"/>
            <a:chOff x="0" y="0"/>
            <a:chExt cx="1670614" cy="406400"/>
          </a:xfrm>
        </p:grpSpPr>
        <p:sp>
          <p:nvSpPr>
            <p:cNvPr id="7" name="Freeform 7"/>
            <p:cNvSpPr/>
            <p:nvPr/>
          </p:nvSpPr>
          <p:spPr>
            <a:xfrm>
              <a:off x="0" y="0"/>
              <a:ext cx="1670614" cy="406400"/>
            </a:xfrm>
            <a:custGeom>
              <a:avLst/>
              <a:gdLst/>
              <a:ahLst/>
              <a:cxnLst/>
              <a:rect l="l" t="t" r="r" b="b"/>
              <a:pathLst>
                <a:path w="1670614" h="406400">
                  <a:moveTo>
                    <a:pt x="1467414" y="0"/>
                  </a:moveTo>
                  <a:cubicBezTo>
                    <a:pt x="1579638" y="0"/>
                    <a:pt x="1670614" y="90976"/>
                    <a:pt x="1670614" y="203200"/>
                  </a:cubicBezTo>
                  <a:cubicBezTo>
                    <a:pt x="1670614" y="315424"/>
                    <a:pt x="1579638" y="406400"/>
                    <a:pt x="1467414"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8" name="TextBox 8"/>
            <p:cNvSpPr txBox="1"/>
            <p:nvPr/>
          </p:nvSpPr>
          <p:spPr>
            <a:xfrm>
              <a:off x="0" y="-57150"/>
              <a:ext cx="1670614" cy="463550"/>
            </a:xfrm>
            <a:prstGeom prst="rect">
              <a:avLst/>
            </a:prstGeom>
          </p:spPr>
          <p:txBody>
            <a:bodyPr lIns="50800" tIns="50800" rIns="50800" bIns="50800" rtlCol="0" anchor="ctr"/>
            <a:lstStyle/>
            <a:p>
              <a:pPr marL="0" lvl="0" indent="0" algn="ctr">
                <a:lnSpc>
                  <a:spcPts val="3359"/>
                </a:lnSpc>
              </a:pPr>
              <a:endParaRPr/>
            </a:p>
          </p:txBody>
        </p:sp>
      </p:grpSp>
      <p:grpSp>
        <p:nvGrpSpPr>
          <p:cNvPr id="9" name="Group 9"/>
          <p:cNvGrpSpPr/>
          <p:nvPr/>
        </p:nvGrpSpPr>
        <p:grpSpPr>
          <a:xfrm>
            <a:off x="6694664" y="5926283"/>
            <a:ext cx="5990609" cy="1556401"/>
            <a:chOff x="0" y="0"/>
            <a:chExt cx="1564239" cy="406400"/>
          </a:xfrm>
        </p:grpSpPr>
        <p:sp>
          <p:nvSpPr>
            <p:cNvPr id="10" name="Freeform 10"/>
            <p:cNvSpPr/>
            <p:nvPr/>
          </p:nvSpPr>
          <p:spPr>
            <a:xfrm>
              <a:off x="0" y="0"/>
              <a:ext cx="1564239" cy="406400"/>
            </a:xfrm>
            <a:custGeom>
              <a:avLst/>
              <a:gdLst/>
              <a:ahLst/>
              <a:cxnLst/>
              <a:rect l="l" t="t" r="r" b="b"/>
              <a:pathLst>
                <a:path w="1564239" h="406400">
                  <a:moveTo>
                    <a:pt x="1361039" y="0"/>
                  </a:moveTo>
                  <a:cubicBezTo>
                    <a:pt x="1473264" y="0"/>
                    <a:pt x="1564239" y="90976"/>
                    <a:pt x="1564239" y="203200"/>
                  </a:cubicBezTo>
                  <a:cubicBezTo>
                    <a:pt x="1564239" y="315424"/>
                    <a:pt x="1473264" y="406400"/>
                    <a:pt x="1361039"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1" name="TextBox 11"/>
            <p:cNvSpPr txBox="1"/>
            <p:nvPr/>
          </p:nvSpPr>
          <p:spPr>
            <a:xfrm>
              <a:off x="0" y="-57150"/>
              <a:ext cx="1564239" cy="463550"/>
            </a:xfrm>
            <a:prstGeom prst="rect">
              <a:avLst/>
            </a:prstGeom>
          </p:spPr>
          <p:txBody>
            <a:bodyPr lIns="50800" tIns="50800" rIns="50800" bIns="50800" rtlCol="0" anchor="ctr"/>
            <a:lstStyle/>
            <a:p>
              <a:pPr marL="0" lvl="0" indent="0" algn="ctr">
                <a:lnSpc>
                  <a:spcPts val="3359"/>
                </a:lnSpc>
              </a:pPr>
              <a:endParaRPr/>
            </a:p>
          </p:txBody>
        </p:sp>
      </p:grpSp>
      <p:grpSp>
        <p:nvGrpSpPr>
          <p:cNvPr id="12" name="Group 12"/>
          <p:cNvGrpSpPr/>
          <p:nvPr/>
        </p:nvGrpSpPr>
        <p:grpSpPr>
          <a:xfrm>
            <a:off x="4295877" y="5926283"/>
            <a:ext cx="5041282" cy="1556401"/>
            <a:chOff x="0" y="0"/>
            <a:chExt cx="1316356" cy="406400"/>
          </a:xfrm>
        </p:grpSpPr>
        <p:sp>
          <p:nvSpPr>
            <p:cNvPr id="13" name="Freeform 13"/>
            <p:cNvSpPr/>
            <p:nvPr/>
          </p:nvSpPr>
          <p:spPr>
            <a:xfrm>
              <a:off x="0" y="0"/>
              <a:ext cx="1316356" cy="406400"/>
            </a:xfrm>
            <a:custGeom>
              <a:avLst/>
              <a:gdLst/>
              <a:ahLst/>
              <a:cxnLst/>
              <a:rect l="l" t="t" r="r" b="b"/>
              <a:pathLst>
                <a:path w="1316356" h="406400">
                  <a:moveTo>
                    <a:pt x="1113156" y="0"/>
                  </a:moveTo>
                  <a:cubicBezTo>
                    <a:pt x="1225380" y="0"/>
                    <a:pt x="1316356" y="90976"/>
                    <a:pt x="1316356" y="203200"/>
                  </a:cubicBezTo>
                  <a:cubicBezTo>
                    <a:pt x="1316356" y="315424"/>
                    <a:pt x="1225380" y="406400"/>
                    <a:pt x="1113156"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4" name="TextBox 14"/>
            <p:cNvSpPr txBox="1"/>
            <p:nvPr/>
          </p:nvSpPr>
          <p:spPr>
            <a:xfrm>
              <a:off x="0" y="-57150"/>
              <a:ext cx="1316356" cy="463550"/>
            </a:xfrm>
            <a:prstGeom prst="rect">
              <a:avLst/>
            </a:prstGeom>
          </p:spPr>
          <p:txBody>
            <a:bodyPr lIns="50800" tIns="50800" rIns="50800" bIns="50800" rtlCol="0" anchor="ctr"/>
            <a:lstStyle/>
            <a:p>
              <a:pPr marL="0" lvl="0" indent="0" algn="ctr">
                <a:lnSpc>
                  <a:spcPts val="3359"/>
                </a:lnSpc>
              </a:pPr>
              <a:endParaRPr/>
            </a:p>
          </p:txBody>
        </p:sp>
      </p:grpSp>
      <p:grpSp>
        <p:nvGrpSpPr>
          <p:cNvPr id="15" name="Group 15"/>
          <p:cNvGrpSpPr/>
          <p:nvPr/>
        </p:nvGrpSpPr>
        <p:grpSpPr>
          <a:xfrm>
            <a:off x="2403730" y="5926283"/>
            <a:ext cx="3631495" cy="1556401"/>
            <a:chOff x="0" y="0"/>
            <a:chExt cx="948239" cy="406400"/>
          </a:xfrm>
        </p:grpSpPr>
        <p:sp>
          <p:nvSpPr>
            <p:cNvPr id="16" name="Freeform 16"/>
            <p:cNvSpPr/>
            <p:nvPr/>
          </p:nvSpPr>
          <p:spPr>
            <a:xfrm>
              <a:off x="0" y="0"/>
              <a:ext cx="948239" cy="406400"/>
            </a:xfrm>
            <a:custGeom>
              <a:avLst/>
              <a:gdLst/>
              <a:ahLst/>
              <a:cxnLst/>
              <a:rect l="l" t="t" r="r" b="b"/>
              <a:pathLst>
                <a:path w="948239" h="406400">
                  <a:moveTo>
                    <a:pt x="745039" y="0"/>
                  </a:moveTo>
                  <a:cubicBezTo>
                    <a:pt x="857263" y="0"/>
                    <a:pt x="948239" y="90976"/>
                    <a:pt x="948239" y="203200"/>
                  </a:cubicBezTo>
                  <a:cubicBezTo>
                    <a:pt x="948239" y="315424"/>
                    <a:pt x="857263" y="406400"/>
                    <a:pt x="745039"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7" name="TextBox 17"/>
            <p:cNvSpPr txBox="1"/>
            <p:nvPr/>
          </p:nvSpPr>
          <p:spPr>
            <a:xfrm>
              <a:off x="0" y="-57150"/>
              <a:ext cx="948239" cy="463550"/>
            </a:xfrm>
            <a:prstGeom prst="rect">
              <a:avLst/>
            </a:prstGeom>
          </p:spPr>
          <p:txBody>
            <a:bodyPr lIns="50800" tIns="50800" rIns="50800" bIns="50800" rtlCol="0" anchor="ctr"/>
            <a:lstStyle/>
            <a:p>
              <a:pPr marL="0" lvl="0" indent="0" algn="ctr">
                <a:lnSpc>
                  <a:spcPts val="3359"/>
                </a:lnSpc>
              </a:pPr>
              <a:endParaRPr/>
            </a:p>
          </p:txBody>
        </p:sp>
      </p:grpSp>
      <p:sp>
        <p:nvSpPr>
          <p:cNvPr id="18" name="TextBox 18"/>
          <p:cNvSpPr txBox="1"/>
          <p:nvPr/>
        </p:nvSpPr>
        <p:spPr>
          <a:xfrm>
            <a:off x="11079818" y="1181100"/>
            <a:ext cx="6179482" cy="909176"/>
          </a:xfrm>
          <a:prstGeom prst="rect">
            <a:avLst/>
          </a:prstGeom>
        </p:spPr>
        <p:txBody>
          <a:bodyPr lIns="0" tIns="0" rIns="0" bIns="0" rtlCol="0" anchor="t">
            <a:spAutoFit/>
          </a:bodyPr>
          <a:lstStyle/>
          <a:p>
            <a:pPr marL="0" lvl="0" indent="0" algn="r">
              <a:lnSpc>
                <a:spcPts val="6785"/>
              </a:lnSpc>
            </a:pPr>
            <a:r>
              <a:rPr lang="en-US" sz="6995">
                <a:solidFill>
                  <a:srgbClr val="FFFFFF"/>
                </a:solidFill>
                <a:latin typeface="TT Interphases"/>
                <a:ea typeface="TT Interphases"/>
                <a:cs typeface="TT Interphases"/>
                <a:sym typeface="TT Interphases"/>
              </a:rPr>
              <a:t>Data Pipeline</a:t>
            </a:r>
          </a:p>
        </p:txBody>
      </p:sp>
      <p:sp>
        <p:nvSpPr>
          <p:cNvPr id="19" name="TextBox 19"/>
          <p:cNvSpPr txBox="1"/>
          <p:nvPr/>
        </p:nvSpPr>
        <p:spPr>
          <a:xfrm>
            <a:off x="2893909" y="6239775"/>
            <a:ext cx="2669103" cy="702553"/>
          </a:xfrm>
          <a:prstGeom prst="rect">
            <a:avLst/>
          </a:prstGeom>
        </p:spPr>
        <p:txBody>
          <a:bodyPr lIns="0" tIns="0" rIns="0" bIns="0" rtlCol="0" anchor="t">
            <a:spAutoFit/>
          </a:bodyPr>
          <a:lstStyle/>
          <a:p>
            <a:pPr marL="0" lvl="0" indent="0" algn="ctr">
              <a:lnSpc>
                <a:spcPts val="2770"/>
              </a:lnSpc>
            </a:pPr>
            <a:r>
              <a:rPr lang="en-US" sz="2856" b="1" i="1">
                <a:solidFill>
                  <a:srgbClr val="FFFFFF"/>
                </a:solidFill>
                <a:latin typeface="TT Interphases Bold Italics"/>
                <a:ea typeface="TT Interphases Bold Italics"/>
                <a:cs typeface="TT Interphases Bold Italics"/>
                <a:sym typeface="TT Interphases Bold Italics"/>
              </a:rPr>
              <a:t>Raw</a:t>
            </a:r>
          </a:p>
          <a:p>
            <a:pPr marL="0" lvl="0" indent="0" algn="ctr">
              <a:lnSpc>
                <a:spcPts val="2770"/>
              </a:lnSpc>
            </a:pPr>
            <a:r>
              <a:rPr lang="en-US" sz="2856" b="1" i="1">
                <a:solidFill>
                  <a:srgbClr val="FFFFFF"/>
                </a:solidFill>
                <a:latin typeface="TT Interphases Bold Italics"/>
                <a:ea typeface="TT Interphases Bold Italics"/>
                <a:cs typeface="TT Interphases Bold Italics"/>
                <a:sym typeface="TT Interphases Bold Italics"/>
              </a:rPr>
              <a:t>Dataframes</a:t>
            </a:r>
          </a:p>
        </p:txBody>
      </p:sp>
      <p:sp>
        <p:nvSpPr>
          <p:cNvPr id="20" name="TextBox 20"/>
          <p:cNvSpPr txBox="1"/>
          <p:nvPr/>
        </p:nvSpPr>
        <p:spPr>
          <a:xfrm>
            <a:off x="6261174" y="6239775"/>
            <a:ext cx="2669103" cy="702553"/>
          </a:xfrm>
          <a:prstGeom prst="rect">
            <a:avLst/>
          </a:prstGeom>
        </p:spPr>
        <p:txBody>
          <a:bodyPr lIns="0" tIns="0" rIns="0" bIns="0" rtlCol="0" anchor="t">
            <a:spAutoFit/>
          </a:bodyPr>
          <a:lstStyle/>
          <a:p>
            <a:pPr marL="0" lvl="0" indent="0" algn="ctr">
              <a:lnSpc>
                <a:spcPts val="2770"/>
              </a:lnSpc>
            </a:pPr>
            <a:r>
              <a:rPr lang="en-US" sz="2856" b="1" i="1">
                <a:solidFill>
                  <a:srgbClr val="FFFFFF"/>
                </a:solidFill>
                <a:latin typeface="TT Interphases Bold Italics"/>
                <a:ea typeface="TT Interphases Bold Italics"/>
                <a:cs typeface="TT Interphases Bold Italics"/>
                <a:sym typeface="TT Interphases Bold Italics"/>
              </a:rPr>
              <a:t>Document</a:t>
            </a:r>
          </a:p>
          <a:p>
            <a:pPr marL="0" lvl="0" indent="0" algn="ctr">
              <a:lnSpc>
                <a:spcPts val="2770"/>
              </a:lnSpc>
            </a:pPr>
            <a:r>
              <a:rPr lang="en-US" sz="2856" b="1" i="1">
                <a:solidFill>
                  <a:srgbClr val="FFFFFF"/>
                </a:solidFill>
                <a:latin typeface="TT Interphases Bold Italics"/>
                <a:ea typeface="TT Interphases Bold Italics"/>
                <a:cs typeface="TT Interphases Bold Italics"/>
                <a:sym typeface="TT Interphases Bold Italics"/>
              </a:rPr>
              <a:t>Chunking</a:t>
            </a:r>
          </a:p>
        </p:txBody>
      </p:sp>
      <p:sp>
        <p:nvSpPr>
          <p:cNvPr id="21" name="TextBox 21"/>
          <p:cNvSpPr txBox="1"/>
          <p:nvPr/>
        </p:nvSpPr>
        <p:spPr>
          <a:xfrm>
            <a:off x="13251057" y="2088798"/>
            <a:ext cx="4008243" cy="909176"/>
          </a:xfrm>
          <a:prstGeom prst="rect">
            <a:avLst/>
          </a:prstGeom>
        </p:spPr>
        <p:txBody>
          <a:bodyPr lIns="0" tIns="0" rIns="0" bIns="0" rtlCol="0" anchor="t">
            <a:spAutoFit/>
          </a:bodyPr>
          <a:lstStyle/>
          <a:p>
            <a:pPr marL="0" lvl="0" indent="0" algn="r">
              <a:lnSpc>
                <a:spcPts val="6785"/>
              </a:lnSpc>
            </a:pPr>
            <a:r>
              <a:rPr lang="en-US" sz="6995" b="1">
                <a:solidFill>
                  <a:srgbClr val="A94BC6"/>
                </a:solidFill>
                <a:latin typeface="TT Interphases Bold"/>
                <a:ea typeface="TT Interphases Bold"/>
                <a:cs typeface="TT Interphases Bold"/>
                <a:sym typeface="TT Interphases Bold"/>
              </a:rPr>
              <a:t>Overview</a:t>
            </a:r>
          </a:p>
        </p:txBody>
      </p:sp>
      <p:sp>
        <p:nvSpPr>
          <p:cNvPr id="22" name="TextBox 22"/>
          <p:cNvSpPr txBox="1"/>
          <p:nvPr/>
        </p:nvSpPr>
        <p:spPr>
          <a:xfrm>
            <a:off x="1028700" y="3626768"/>
            <a:ext cx="7950836" cy="751098"/>
          </a:xfrm>
          <a:prstGeom prst="rect">
            <a:avLst/>
          </a:prstGeom>
        </p:spPr>
        <p:txBody>
          <a:bodyPr lIns="0" tIns="0" rIns="0" bIns="0" rtlCol="0" anchor="t">
            <a:spAutoFit/>
          </a:bodyPr>
          <a:lstStyle/>
          <a:p>
            <a:pPr marL="0" lvl="0" indent="0" algn="l">
              <a:lnSpc>
                <a:spcPts val="2090"/>
              </a:lnSpc>
            </a:pPr>
            <a:r>
              <a:rPr lang="en-US" sz="1608">
                <a:solidFill>
                  <a:srgbClr val="FFFFFF"/>
                </a:solidFill>
                <a:latin typeface="TT Interphases"/>
                <a:ea typeface="TT Interphases"/>
                <a:cs typeface="TT Interphases"/>
                <a:sym typeface="TT Interphases"/>
              </a:rPr>
              <a:t>Yahoo Finance data is fetched using the yfinance library for Indian IT companies (TCS, Infosys, Wipro, HCL, Tech Mahindra). Three statement types are retrieved: income statement, balance sheet, and cash flow — forming the raw structured input.</a:t>
            </a:r>
          </a:p>
        </p:txBody>
      </p:sp>
      <p:sp>
        <p:nvSpPr>
          <p:cNvPr id="23" name="TextBox 23"/>
          <p:cNvSpPr txBox="1"/>
          <p:nvPr/>
        </p:nvSpPr>
        <p:spPr>
          <a:xfrm>
            <a:off x="9413323" y="3626768"/>
            <a:ext cx="7845977" cy="751098"/>
          </a:xfrm>
          <a:prstGeom prst="rect">
            <a:avLst/>
          </a:prstGeom>
        </p:spPr>
        <p:txBody>
          <a:bodyPr lIns="0" tIns="0" rIns="0" bIns="0" rtlCol="0" anchor="t">
            <a:spAutoFit/>
          </a:bodyPr>
          <a:lstStyle/>
          <a:p>
            <a:pPr marL="0" lvl="0" indent="0" algn="l">
              <a:lnSpc>
                <a:spcPts val="2090"/>
              </a:lnSpc>
            </a:pPr>
            <a:r>
              <a:rPr lang="en-US" sz="1608">
                <a:solidFill>
                  <a:srgbClr val="FFFFFF"/>
                </a:solidFill>
                <a:latin typeface="TT Interphases"/>
                <a:ea typeface="TT Interphases"/>
                <a:cs typeface="TT Interphases"/>
                <a:sym typeface="TT Interphases"/>
              </a:rPr>
              <a:t>Each dataframe is transposed and iterated row-by-row. Every financial metric becomes a Document object enriched with metadata: company ticker, statement type, and fiscal year — enabling precise retrieval and filtering downstream.</a:t>
            </a:r>
          </a:p>
        </p:txBody>
      </p:sp>
      <p:sp>
        <p:nvSpPr>
          <p:cNvPr id="24" name="TextBox 24"/>
          <p:cNvSpPr txBox="1"/>
          <p:nvPr/>
        </p:nvSpPr>
        <p:spPr>
          <a:xfrm>
            <a:off x="9559190" y="6239775"/>
            <a:ext cx="2669103" cy="702553"/>
          </a:xfrm>
          <a:prstGeom prst="rect">
            <a:avLst/>
          </a:prstGeom>
        </p:spPr>
        <p:txBody>
          <a:bodyPr lIns="0" tIns="0" rIns="0" bIns="0" rtlCol="0" anchor="t">
            <a:spAutoFit/>
          </a:bodyPr>
          <a:lstStyle/>
          <a:p>
            <a:pPr marL="0" lvl="0" indent="0" algn="ctr">
              <a:lnSpc>
                <a:spcPts val="2770"/>
              </a:lnSpc>
            </a:pPr>
            <a:r>
              <a:rPr lang="en-US" sz="2856" b="1" i="1">
                <a:solidFill>
                  <a:srgbClr val="FFFFFF"/>
                </a:solidFill>
                <a:latin typeface="TT Interphases Bold Italics"/>
                <a:ea typeface="TT Interphases Bold Italics"/>
                <a:cs typeface="TT Interphases Bold Italics"/>
                <a:sym typeface="TT Interphases Bold Italics"/>
              </a:rPr>
              <a:t>Metadata</a:t>
            </a:r>
          </a:p>
          <a:p>
            <a:pPr marL="0" lvl="0" indent="0" algn="ctr">
              <a:lnSpc>
                <a:spcPts val="2770"/>
              </a:lnSpc>
            </a:pPr>
            <a:r>
              <a:rPr lang="en-US" sz="2856" b="1" i="1">
                <a:solidFill>
                  <a:srgbClr val="FFFFFF"/>
                </a:solidFill>
                <a:latin typeface="TT Interphases Bold Italics"/>
                <a:ea typeface="TT Interphases Bold Italics"/>
                <a:cs typeface="TT Interphases Bold Italics"/>
                <a:sym typeface="TT Interphases Bold Italics"/>
              </a:rPr>
              <a:t>Enrichment</a:t>
            </a:r>
          </a:p>
        </p:txBody>
      </p:sp>
      <p:sp>
        <p:nvSpPr>
          <p:cNvPr id="25" name="TextBox 25"/>
          <p:cNvSpPr txBox="1"/>
          <p:nvPr/>
        </p:nvSpPr>
        <p:spPr>
          <a:xfrm>
            <a:off x="13164795" y="6239775"/>
            <a:ext cx="2009528" cy="702553"/>
          </a:xfrm>
          <a:prstGeom prst="rect">
            <a:avLst/>
          </a:prstGeom>
        </p:spPr>
        <p:txBody>
          <a:bodyPr lIns="0" tIns="0" rIns="0" bIns="0" rtlCol="0" anchor="t">
            <a:spAutoFit/>
          </a:bodyPr>
          <a:lstStyle/>
          <a:p>
            <a:pPr marL="0" lvl="0" indent="0" algn="ctr">
              <a:lnSpc>
                <a:spcPts val="2770"/>
              </a:lnSpc>
            </a:pPr>
            <a:r>
              <a:rPr lang="en-US" sz="2856" b="1" i="1">
                <a:solidFill>
                  <a:srgbClr val="FFFFFF"/>
                </a:solidFill>
                <a:latin typeface="TT Interphases Bold Italics"/>
                <a:ea typeface="TT Interphases Bold Italics"/>
                <a:cs typeface="TT Interphases Bold Italics"/>
                <a:sym typeface="TT Interphases Bold Italics"/>
              </a:rPr>
              <a:t>Vector-</a:t>
            </a:r>
          </a:p>
          <a:p>
            <a:pPr marL="0" lvl="0" indent="0" algn="ctr">
              <a:lnSpc>
                <a:spcPts val="2770"/>
              </a:lnSpc>
            </a:pPr>
            <a:r>
              <a:rPr lang="en-US" sz="2856" b="1" i="1">
                <a:solidFill>
                  <a:srgbClr val="FFFFFF"/>
                </a:solidFill>
                <a:latin typeface="TT Interphases Bold Italics"/>
                <a:ea typeface="TT Interphases Bold Italics"/>
                <a:cs typeface="TT Interphases Bold Italics"/>
                <a:sym typeface="TT Interphases Bold Italics"/>
              </a:rPr>
              <a:t>Ready Docs</a:t>
            </a:r>
          </a:p>
        </p:txBody>
      </p:sp>
      <p:grpSp>
        <p:nvGrpSpPr>
          <p:cNvPr id="26" name="Group 26"/>
          <p:cNvGrpSpPr/>
          <p:nvPr/>
        </p:nvGrpSpPr>
        <p:grpSpPr>
          <a:xfrm>
            <a:off x="6054259" y="8616989"/>
            <a:ext cx="6179482" cy="641311"/>
            <a:chOff x="0" y="0"/>
            <a:chExt cx="3915949" cy="406400"/>
          </a:xfrm>
        </p:grpSpPr>
        <p:sp>
          <p:nvSpPr>
            <p:cNvPr id="27" name="Freeform 27"/>
            <p:cNvSpPr/>
            <p:nvPr/>
          </p:nvSpPr>
          <p:spPr>
            <a:xfrm>
              <a:off x="0" y="0"/>
              <a:ext cx="3915949" cy="406400"/>
            </a:xfrm>
            <a:custGeom>
              <a:avLst/>
              <a:gdLst/>
              <a:ahLst/>
              <a:cxnLst/>
              <a:rect l="l" t="t" r="r" b="b"/>
              <a:pathLst>
                <a:path w="3915949" h="406400">
                  <a:moveTo>
                    <a:pt x="3712749" y="0"/>
                  </a:moveTo>
                  <a:cubicBezTo>
                    <a:pt x="3824973" y="0"/>
                    <a:pt x="3915949" y="90976"/>
                    <a:pt x="3915949" y="203200"/>
                  </a:cubicBezTo>
                  <a:cubicBezTo>
                    <a:pt x="3915949" y="315424"/>
                    <a:pt x="3824973" y="406400"/>
                    <a:pt x="3712749" y="406400"/>
                  </a:cubicBezTo>
                  <a:lnTo>
                    <a:pt x="203200" y="406400"/>
                  </a:lnTo>
                  <a:cubicBezTo>
                    <a:pt x="90976" y="406400"/>
                    <a:pt x="0" y="315424"/>
                    <a:pt x="0" y="203200"/>
                  </a:cubicBezTo>
                  <a:cubicBezTo>
                    <a:pt x="0" y="90976"/>
                    <a:pt x="90976" y="0"/>
                    <a:pt x="203200" y="0"/>
                  </a:cubicBezTo>
                  <a:close/>
                </a:path>
              </a:pathLst>
            </a:custGeom>
            <a:gradFill rotWithShape="1">
              <a:gsLst>
                <a:gs pos="0">
                  <a:srgbClr val="401D89">
                    <a:alpha val="100000"/>
                  </a:srgbClr>
                </a:gs>
                <a:gs pos="100000">
                  <a:srgbClr val="D2689C">
                    <a:alpha val="100000"/>
                  </a:srgbClr>
                </a:gs>
              </a:gsLst>
              <a:lin ang="0"/>
            </a:gradFill>
          </p:spPr>
        </p:sp>
        <p:sp>
          <p:nvSpPr>
            <p:cNvPr id="28" name="TextBox 28"/>
            <p:cNvSpPr txBox="1"/>
            <p:nvPr/>
          </p:nvSpPr>
          <p:spPr>
            <a:xfrm>
              <a:off x="0" y="-57150"/>
              <a:ext cx="3915949" cy="463550"/>
            </a:xfrm>
            <a:prstGeom prst="rect">
              <a:avLst/>
            </a:prstGeom>
          </p:spPr>
          <p:txBody>
            <a:bodyPr lIns="50800" tIns="50800" rIns="50800" bIns="50800" rtlCol="0" anchor="ctr"/>
            <a:lstStyle/>
            <a:p>
              <a:pPr marL="0" lvl="0" indent="0" algn="ctr">
                <a:lnSpc>
                  <a:spcPts val="3359"/>
                </a:lnSpc>
              </a:pPr>
              <a:endParaRPr/>
            </a:p>
          </p:txBody>
        </p:sp>
      </p:grpSp>
      <p:sp>
        <p:nvSpPr>
          <p:cNvPr id="29" name="TextBox 29"/>
          <p:cNvSpPr txBox="1"/>
          <p:nvPr/>
        </p:nvSpPr>
        <p:spPr>
          <a:xfrm>
            <a:off x="6335737" y="8630989"/>
            <a:ext cx="5616526" cy="384947"/>
          </a:xfrm>
          <a:prstGeom prst="rect">
            <a:avLst/>
          </a:prstGeom>
        </p:spPr>
        <p:txBody>
          <a:bodyPr lIns="0" tIns="0" rIns="0" bIns="0" rtlCol="0" anchor="t">
            <a:spAutoFit/>
          </a:bodyPr>
          <a:lstStyle/>
          <a:p>
            <a:pPr marL="0" lvl="0" indent="0" algn="ctr">
              <a:lnSpc>
                <a:spcPts val="3111"/>
              </a:lnSpc>
              <a:spcBef>
                <a:spcPct val="0"/>
              </a:spcBef>
            </a:pPr>
            <a:r>
              <a:rPr lang="en-US" sz="2222">
                <a:solidFill>
                  <a:srgbClr val="FFFFFF"/>
                </a:solidFill>
                <a:latin typeface="TT Interphases"/>
                <a:ea typeface="TT Interphases"/>
                <a:cs typeface="TT Interphases"/>
                <a:sym typeface="TT Interphases"/>
              </a:rPr>
              <a:t>Finance Knowledge Assistant — RAG Pipeline</a:t>
            </a:r>
          </a:p>
        </p:txBody>
      </p:sp>
      <p:sp>
        <p:nvSpPr>
          <p:cNvPr id="31" name="Freeform 31"/>
          <p:cNvSpPr/>
          <p:nvPr/>
        </p:nvSpPr>
        <p:spPr>
          <a:xfrm>
            <a:off x="14841251" y="8597794"/>
            <a:ext cx="666145" cy="660506"/>
          </a:xfrm>
          <a:custGeom>
            <a:avLst/>
            <a:gdLst/>
            <a:ahLst/>
            <a:cxnLst/>
            <a:rect l="l" t="t" r="r" b="b"/>
            <a:pathLst>
              <a:path w="666145" h="660506">
                <a:moveTo>
                  <a:pt x="0" y="0"/>
                </a:moveTo>
                <a:lnTo>
                  <a:pt x="666144" y="0"/>
                </a:lnTo>
                <a:lnTo>
                  <a:pt x="666144" y="660506"/>
                </a:lnTo>
                <a:lnTo>
                  <a:pt x="0" y="660506"/>
                </a:lnTo>
                <a:lnTo>
                  <a:pt x="0" y="0"/>
                </a:lnTo>
                <a:close/>
              </a:path>
            </a:pathLst>
          </a:custGeom>
          <a:blipFill>
            <a:blip r:embed="rId5" cstate="print">
              <a:extLst>
                <a:ext uri="{96DAC541-7B7A-43D3-8B79-37D633B846F1}">
                  <asvg:svgBlip xmlns:asvg="http://schemas.microsoft.com/office/drawing/2016/SVG/main" xmlns="" r:embed="rId8"/>
                </a:ext>
              </a:extLst>
            </a:blip>
            <a:stretch>
              <a:fillRect t="-106388" r="-103152"/>
            </a:stretch>
          </a:blipFill>
        </p:spPr>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344591">
            <a:off x="-5030639" y="5114224"/>
            <a:ext cx="23438877" cy="6416393"/>
          </a:xfrm>
          <a:custGeom>
            <a:avLst/>
            <a:gdLst/>
            <a:ahLst/>
            <a:cxnLst/>
            <a:rect l="l" t="t" r="r" b="b"/>
            <a:pathLst>
              <a:path w="23438877" h="6416393">
                <a:moveTo>
                  <a:pt x="0" y="0"/>
                </a:moveTo>
                <a:lnTo>
                  <a:pt x="23438878" y="0"/>
                </a:lnTo>
                <a:lnTo>
                  <a:pt x="23438878" y="6416393"/>
                </a:lnTo>
                <a:lnTo>
                  <a:pt x="0" y="6416393"/>
                </a:lnTo>
                <a:lnTo>
                  <a:pt x="0" y="0"/>
                </a:lnTo>
                <a:close/>
              </a:path>
            </a:pathLst>
          </a:custGeom>
          <a:blipFill>
            <a:blip r:embed="rId2">
              <a:alphaModFix amt="15000"/>
            </a:blip>
            <a:stretch>
              <a:fillRect/>
            </a:stretch>
          </a:blipFill>
        </p:spPr>
      </p:sp>
      <p:sp>
        <p:nvSpPr>
          <p:cNvPr id="3" name="Freeform 3"/>
          <p:cNvSpPr/>
          <p:nvPr/>
        </p:nvSpPr>
        <p:spPr>
          <a:xfrm>
            <a:off x="-404701" y="6789856"/>
            <a:ext cx="1216033" cy="2468444"/>
          </a:xfrm>
          <a:custGeom>
            <a:avLst/>
            <a:gdLst/>
            <a:ahLst/>
            <a:cxnLst/>
            <a:rect l="l" t="t" r="r" b="b"/>
            <a:pathLst>
              <a:path w="1216033" h="2468444">
                <a:moveTo>
                  <a:pt x="0" y="0"/>
                </a:moveTo>
                <a:lnTo>
                  <a:pt x="1216033" y="0"/>
                </a:lnTo>
                <a:lnTo>
                  <a:pt x="1216033" y="2468444"/>
                </a:lnTo>
                <a:lnTo>
                  <a:pt x="0" y="2468444"/>
                </a:lnTo>
                <a:lnTo>
                  <a:pt x="0" y="0"/>
                </a:lnTo>
                <a:close/>
              </a:path>
            </a:pathLst>
          </a:custGeom>
          <a:blipFill>
            <a:blip r:embed="rId3"/>
            <a:stretch>
              <a:fillRect/>
            </a:stretch>
          </a:blipFill>
        </p:spPr>
      </p:sp>
      <p:sp>
        <p:nvSpPr>
          <p:cNvPr id="4" name="Freeform 4"/>
          <p:cNvSpPr/>
          <p:nvPr/>
        </p:nvSpPr>
        <p:spPr>
          <a:xfrm rot="5400000" flipH="1">
            <a:off x="16014263" y="6769491"/>
            <a:ext cx="2490075" cy="5054639"/>
          </a:xfrm>
          <a:custGeom>
            <a:avLst/>
            <a:gdLst/>
            <a:ahLst/>
            <a:cxnLst/>
            <a:rect l="l" t="t" r="r" b="b"/>
            <a:pathLst>
              <a:path w="2490075" h="5054639">
                <a:moveTo>
                  <a:pt x="2490074" y="0"/>
                </a:moveTo>
                <a:lnTo>
                  <a:pt x="0" y="0"/>
                </a:lnTo>
                <a:lnTo>
                  <a:pt x="0" y="5054639"/>
                </a:lnTo>
                <a:lnTo>
                  <a:pt x="2490074" y="5054639"/>
                </a:lnTo>
                <a:lnTo>
                  <a:pt x="2490074" y="0"/>
                </a:lnTo>
                <a:close/>
              </a:path>
            </a:pathLst>
          </a:custGeom>
          <a:blipFill>
            <a:blip r:embed="rId3"/>
            <a:stretch>
              <a:fillRect/>
            </a:stretch>
          </a:blipFill>
        </p:spPr>
      </p:sp>
      <p:sp>
        <p:nvSpPr>
          <p:cNvPr id="5" name="Freeform 5"/>
          <p:cNvSpPr/>
          <p:nvPr/>
        </p:nvSpPr>
        <p:spPr>
          <a:xfrm rot="-5171694">
            <a:off x="11375353" y="-3772608"/>
            <a:ext cx="5818516" cy="5818516"/>
          </a:xfrm>
          <a:custGeom>
            <a:avLst/>
            <a:gdLst/>
            <a:ahLst/>
            <a:cxnLst/>
            <a:rect l="l" t="t" r="r" b="b"/>
            <a:pathLst>
              <a:path w="5818516" h="5818516">
                <a:moveTo>
                  <a:pt x="0" y="0"/>
                </a:moveTo>
                <a:lnTo>
                  <a:pt x="5818516" y="0"/>
                </a:lnTo>
                <a:lnTo>
                  <a:pt x="5818516" y="5818516"/>
                </a:lnTo>
                <a:lnTo>
                  <a:pt x="0" y="5818516"/>
                </a:lnTo>
                <a:lnTo>
                  <a:pt x="0" y="0"/>
                </a:lnTo>
                <a:close/>
              </a:path>
            </a:pathLst>
          </a:custGeom>
          <a:blipFill>
            <a:blip r:embed="rId4">
              <a:alphaModFix amt="50000"/>
            </a:blip>
            <a:stretch>
              <a:fillRect/>
            </a:stretch>
          </a:blipFill>
        </p:spPr>
      </p:sp>
      <p:grpSp>
        <p:nvGrpSpPr>
          <p:cNvPr id="6" name="Group 6"/>
          <p:cNvGrpSpPr/>
          <p:nvPr/>
        </p:nvGrpSpPr>
        <p:grpSpPr>
          <a:xfrm>
            <a:off x="1028700" y="5686425"/>
            <a:ext cx="7426541" cy="1038334"/>
            <a:chOff x="0" y="0"/>
            <a:chExt cx="2906720" cy="406400"/>
          </a:xfrm>
        </p:grpSpPr>
        <p:sp>
          <p:nvSpPr>
            <p:cNvPr id="7" name="Freeform 7"/>
            <p:cNvSpPr/>
            <p:nvPr/>
          </p:nvSpPr>
          <p:spPr>
            <a:xfrm>
              <a:off x="0" y="0"/>
              <a:ext cx="2906720" cy="406400"/>
            </a:xfrm>
            <a:custGeom>
              <a:avLst/>
              <a:gdLst/>
              <a:ahLst/>
              <a:cxnLst/>
              <a:rect l="l" t="t" r="r" b="b"/>
              <a:pathLst>
                <a:path w="2906720" h="406400">
                  <a:moveTo>
                    <a:pt x="2703520" y="0"/>
                  </a:moveTo>
                  <a:cubicBezTo>
                    <a:pt x="2815744" y="0"/>
                    <a:pt x="2906720" y="90976"/>
                    <a:pt x="2906720" y="203200"/>
                  </a:cubicBezTo>
                  <a:cubicBezTo>
                    <a:pt x="2906720" y="315424"/>
                    <a:pt x="2815744" y="406400"/>
                    <a:pt x="2703520"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8" name="TextBox 8"/>
            <p:cNvSpPr txBox="1"/>
            <p:nvPr/>
          </p:nvSpPr>
          <p:spPr>
            <a:xfrm>
              <a:off x="0" y="-57150"/>
              <a:ext cx="2906720" cy="463550"/>
            </a:xfrm>
            <a:prstGeom prst="rect">
              <a:avLst/>
            </a:prstGeom>
          </p:spPr>
          <p:txBody>
            <a:bodyPr lIns="50800" tIns="50800" rIns="50800" bIns="50800" rtlCol="0" anchor="ctr"/>
            <a:lstStyle/>
            <a:p>
              <a:pPr marL="0" lvl="0" indent="0" algn="ctr">
                <a:lnSpc>
                  <a:spcPts val="3359"/>
                </a:lnSpc>
              </a:pPr>
              <a:endParaRPr/>
            </a:p>
          </p:txBody>
        </p:sp>
      </p:grpSp>
      <p:grpSp>
        <p:nvGrpSpPr>
          <p:cNvPr id="9" name="Group 9"/>
          <p:cNvGrpSpPr/>
          <p:nvPr/>
        </p:nvGrpSpPr>
        <p:grpSpPr>
          <a:xfrm>
            <a:off x="9832759" y="5686425"/>
            <a:ext cx="7426541" cy="1038334"/>
            <a:chOff x="0" y="0"/>
            <a:chExt cx="2906720" cy="406400"/>
          </a:xfrm>
        </p:grpSpPr>
        <p:sp>
          <p:nvSpPr>
            <p:cNvPr id="10" name="Freeform 10"/>
            <p:cNvSpPr/>
            <p:nvPr/>
          </p:nvSpPr>
          <p:spPr>
            <a:xfrm>
              <a:off x="0" y="0"/>
              <a:ext cx="2906720" cy="406400"/>
            </a:xfrm>
            <a:custGeom>
              <a:avLst/>
              <a:gdLst/>
              <a:ahLst/>
              <a:cxnLst/>
              <a:rect l="l" t="t" r="r" b="b"/>
              <a:pathLst>
                <a:path w="2906720" h="406400">
                  <a:moveTo>
                    <a:pt x="2703520" y="0"/>
                  </a:moveTo>
                  <a:cubicBezTo>
                    <a:pt x="2815744" y="0"/>
                    <a:pt x="2906720" y="90976"/>
                    <a:pt x="2906720" y="203200"/>
                  </a:cubicBezTo>
                  <a:cubicBezTo>
                    <a:pt x="2906720" y="315424"/>
                    <a:pt x="2815744" y="406400"/>
                    <a:pt x="2703520"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1" name="TextBox 11"/>
            <p:cNvSpPr txBox="1"/>
            <p:nvPr/>
          </p:nvSpPr>
          <p:spPr>
            <a:xfrm>
              <a:off x="0" y="-57150"/>
              <a:ext cx="2906720" cy="463550"/>
            </a:xfrm>
            <a:prstGeom prst="rect">
              <a:avLst/>
            </a:prstGeom>
          </p:spPr>
          <p:txBody>
            <a:bodyPr lIns="50800" tIns="50800" rIns="50800" bIns="50800" rtlCol="0" anchor="ctr"/>
            <a:lstStyle/>
            <a:p>
              <a:pPr marL="0" lvl="0" indent="0" algn="ctr">
                <a:lnSpc>
                  <a:spcPts val="3359"/>
                </a:lnSpc>
              </a:pPr>
              <a:endParaRPr/>
            </a:p>
          </p:txBody>
        </p:sp>
      </p:grpSp>
      <p:grpSp>
        <p:nvGrpSpPr>
          <p:cNvPr id="12" name="Group 12"/>
          <p:cNvGrpSpPr/>
          <p:nvPr/>
        </p:nvGrpSpPr>
        <p:grpSpPr>
          <a:xfrm>
            <a:off x="1028700" y="6953195"/>
            <a:ext cx="7426541" cy="1038334"/>
            <a:chOff x="0" y="0"/>
            <a:chExt cx="2906720" cy="406400"/>
          </a:xfrm>
        </p:grpSpPr>
        <p:sp>
          <p:nvSpPr>
            <p:cNvPr id="13" name="Freeform 13"/>
            <p:cNvSpPr/>
            <p:nvPr/>
          </p:nvSpPr>
          <p:spPr>
            <a:xfrm>
              <a:off x="0" y="0"/>
              <a:ext cx="2906720" cy="406400"/>
            </a:xfrm>
            <a:custGeom>
              <a:avLst/>
              <a:gdLst/>
              <a:ahLst/>
              <a:cxnLst/>
              <a:rect l="l" t="t" r="r" b="b"/>
              <a:pathLst>
                <a:path w="2906720" h="406400">
                  <a:moveTo>
                    <a:pt x="2703520" y="0"/>
                  </a:moveTo>
                  <a:cubicBezTo>
                    <a:pt x="2815744" y="0"/>
                    <a:pt x="2906720" y="90976"/>
                    <a:pt x="2906720" y="203200"/>
                  </a:cubicBezTo>
                  <a:cubicBezTo>
                    <a:pt x="2906720" y="315424"/>
                    <a:pt x="2815744" y="406400"/>
                    <a:pt x="2703520"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4" name="TextBox 14"/>
            <p:cNvSpPr txBox="1"/>
            <p:nvPr/>
          </p:nvSpPr>
          <p:spPr>
            <a:xfrm>
              <a:off x="0" y="-57150"/>
              <a:ext cx="2906720" cy="463550"/>
            </a:xfrm>
            <a:prstGeom prst="rect">
              <a:avLst/>
            </a:prstGeom>
          </p:spPr>
          <p:txBody>
            <a:bodyPr lIns="50800" tIns="50800" rIns="50800" bIns="50800" rtlCol="0" anchor="ctr"/>
            <a:lstStyle/>
            <a:p>
              <a:pPr marL="0" lvl="0" indent="0" algn="ctr">
                <a:lnSpc>
                  <a:spcPts val="3359"/>
                </a:lnSpc>
              </a:pPr>
              <a:endParaRPr/>
            </a:p>
          </p:txBody>
        </p:sp>
      </p:grpSp>
      <p:grpSp>
        <p:nvGrpSpPr>
          <p:cNvPr id="15" name="Group 15"/>
          <p:cNvGrpSpPr/>
          <p:nvPr/>
        </p:nvGrpSpPr>
        <p:grpSpPr>
          <a:xfrm>
            <a:off x="9832759" y="6953194"/>
            <a:ext cx="7426541" cy="1405015"/>
            <a:chOff x="0" y="0"/>
            <a:chExt cx="2906720" cy="406400"/>
          </a:xfrm>
        </p:grpSpPr>
        <p:sp>
          <p:nvSpPr>
            <p:cNvPr id="16" name="Freeform 16"/>
            <p:cNvSpPr/>
            <p:nvPr/>
          </p:nvSpPr>
          <p:spPr>
            <a:xfrm>
              <a:off x="0" y="0"/>
              <a:ext cx="2906720" cy="406400"/>
            </a:xfrm>
            <a:custGeom>
              <a:avLst/>
              <a:gdLst/>
              <a:ahLst/>
              <a:cxnLst/>
              <a:rect l="l" t="t" r="r" b="b"/>
              <a:pathLst>
                <a:path w="2906720" h="406400">
                  <a:moveTo>
                    <a:pt x="2703520" y="0"/>
                  </a:moveTo>
                  <a:cubicBezTo>
                    <a:pt x="2815744" y="0"/>
                    <a:pt x="2906720" y="90976"/>
                    <a:pt x="2906720" y="203200"/>
                  </a:cubicBezTo>
                  <a:cubicBezTo>
                    <a:pt x="2906720" y="315424"/>
                    <a:pt x="2815744" y="406400"/>
                    <a:pt x="2703520"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7" name="TextBox 17"/>
            <p:cNvSpPr txBox="1"/>
            <p:nvPr/>
          </p:nvSpPr>
          <p:spPr>
            <a:xfrm>
              <a:off x="0" y="-57150"/>
              <a:ext cx="2906720" cy="463550"/>
            </a:xfrm>
            <a:prstGeom prst="rect">
              <a:avLst/>
            </a:prstGeom>
          </p:spPr>
          <p:txBody>
            <a:bodyPr lIns="50800" tIns="50800" rIns="50800" bIns="50800" rtlCol="0" anchor="ctr"/>
            <a:lstStyle/>
            <a:p>
              <a:pPr marL="0" lvl="0" indent="0" algn="ctr">
                <a:lnSpc>
                  <a:spcPts val="3359"/>
                </a:lnSpc>
              </a:pPr>
              <a:endParaRPr/>
            </a:p>
          </p:txBody>
        </p:sp>
      </p:grpSp>
      <p:sp>
        <p:nvSpPr>
          <p:cNvPr id="18" name="TextBox 18"/>
          <p:cNvSpPr txBox="1"/>
          <p:nvPr/>
        </p:nvSpPr>
        <p:spPr>
          <a:xfrm>
            <a:off x="1028700" y="1181100"/>
            <a:ext cx="6179482" cy="909176"/>
          </a:xfrm>
          <a:prstGeom prst="rect">
            <a:avLst/>
          </a:prstGeom>
        </p:spPr>
        <p:txBody>
          <a:bodyPr lIns="0" tIns="0" rIns="0" bIns="0" rtlCol="0" anchor="t">
            <a:spAutoFit/>
          </a:bodyPr>
          <a:lstStyle/>
          <a:p>
            <a:pPr marL="0" lvl="0" indent="0" algn="l">
              <a:lnSpc>
                <a:spcPts val="6785"/>
              </a:lnSpc>
            </a:pPr>
            <a:r>
              <a:rPr lang="en-US" sz="6995">
                <a:solidFill>
                  <a:srgbClr val="FFFFFF"/>
                </a:solidFill>
                <a:latin typeface="TT Interphases"/>
                <a:ea typeface="TT Interphases"/>
                <a:cs typeface="TT Interphases"/>
                <a:sym typeface="TT Interphases"/>
              </a:rPr>
              <a:t>Knowledge</a:t>
            </a:r>
          </a:p>
        </p:txBody>
      </p:sp>
      <p:sp>
        <p:nvSpPr>
          <p:cNvPr id="19" name="TextBox 19"/>
          <p:cNvSpPr txBox="1"/>
          <p:nvPr/>
        </p:nvSpPr>
        <p:spPr>
          <a:xfrm>
            <a:off x="1028700" y="2088798"/>
            <a:ext cx="6179482" cy="909176"/>
          </a:xfrm>
          <a:prstGeom prst="rect">
            <a:avLst/>
          </a:prstGeom>
        </p:spPr>
        <p:txBody>
          <a:bodyPr lIns="0" tIns="0" rIns="0" bIns="0" rtlCol="0" anchor="t">
            <a:spAutoFit/>
          </a:bodyPr>
          <a:lstStyle/>
          <a:p>
            <a:pPr marL="0" lvl="0" indent="0" algn="l">
              <a:lnSpc>
                <a:spcPts val="6785"/>
              </a:lnSpc>
            </a:pPr>
            <a:r>
              <a:rPr lang="en-US" sz="6995" b="1">
                <a:solidFill>
                  <a:srgbClr val="A94BC6"/>
                </a:solidFill>
                <a:latin typeface="TT Interphases Bold"/>
                <a:ea typeface="TT Interphases Bold"/>
                <a:cs typeface="TT Interphases Bold"/>
                <a:sym typeface="TT Interphases Bold"/>
              </a:rPr>
              <a:t>Base Layer</a:t>
            </a:r>
          </a:p>
        </p:txBody>
      </p:sp>
      <p:sp>
        <p:nvSpPr>
          <p:cNvPr id="20" name="TextBox 20"/>
          <p:cNvSpPr txBox="1"/>
          <p:nvPr/>
        </p:nvSpPr>
        <p:spPr>
          <a:xfrm>
            <a:off x="1028700" y="3527425"/>
            <a:ext cx="7950836" cy="788458"/>
          </a:xfrm>
          <a:prstGeom prst="rect">
            <a:avLst/>
          </a:prstGeom>
        </p:spPr>
        <p:txBody>
          <a:bodyPr lIns="0" tIns="0" rIns="0" bIns="0" rtlCol="0" anchor="t">
            <a:spAutoFit/>
          </a:bodyPr>
          <a:lstStyle/>
          <a:p>
            <a:pPr marL="0" lvl="0" indent="0" algn="l">
              <a:lnSpc>
                <a:spcPts val="2166"/>
              </a:lnSpc>
            </a:pPr>
            <a:r>
              <a:rPr lang="en-US" sz="1666">
                <a:solidFill>
                  <a:srgbClr val="FFFFFF"/>
                </a:solidFill>
                <a:latin typeface="TT Interphases"/>
                <a:ea typeface="TT Interphases"/>
                <a:cs typeface="TT Interphases"/>
                <a:sym typeface="TT Interphases"/>
              </a:rPr>
              <a:t>Financial statements retrieved from Yahoo Finance are transformed into vector embeddings and stored in ChromaDB, enabling fast and semantically accurate retrieval for downstream RAG queries.</a:t>
            </a:r>
          </a:p>
        </p:txBody>
      </p:sp>
      <p:sp>
        <p:nvSpPr>
          <p:cNvPr id="21" name="TextBox 21"/>
          <p:cNvSpPr txBox="1"/>
          <p:nvPr/>
        </p:nvSpPr>
        <p:spPr>
          <a:xfrm>
            <a:off x="3809025" y="5921747"/>
            <a:ext cx="4220288" cy="365760"/>
          </a:xfrm>
          <a:prstGeom prst="rect">
            <a:avLst/>
          </a:prstGeom>
        </p:spPr>
        <p:txBody>
          <a:bodyPr lIns="0" tIns="0" rIns="0" bIns="0" rtlCol="0" anchor="t">
            <a:spAutoFit/>
          </a:bodyPr>
          <a:lstStyle/>
          <a:p>
            <a:pPr marL="0" lvl="0" indent="0" algn="l">
              <a:lnSpc>
                <a:spcPts val="1560"/>
              </a:lnSpc>
            </a:pPr>
            <a:r>
              <a:rPr lang="en-US" sz="1200">
                <a:solidFill>
                  <a:srgbClr val="FFFFFF"/>
                </a:solidFill>
                <a:latin typeface="TT Interphases"/>
                <a:ea typeface="TT Interphases"/>
                <a:cs typeface="TT Interphases"/>
                <a:sym typeface="TT Interphases"/>
              </a:rPr>
              <a:t>Financial documents split into overlapping chunks to preserve context across multi-line statements and row boundaries.</a:t>
            </a:r>
          </a:p>
        </p:txBody>
      </p:sp>
      <p:sp>
        <p:nvSpPr>
          <p:cNvPr id="22" name="TextBox 22"/>
          <p:cNvSpPr txBox="1"/>
          <p:nvPr/>
        </p:nvSpPr>
        <p:spPr>
          <a:xfrm>
            <a:off x="13517286" y="5921747"/>
            <a:ext cx="3022634" cy="556260"/>
          </a:xfrm>
          <a:prstGeom prst="rect">
            <a:avLst/>
          </a:prstGeom>
        </p:spPr>
        <p:txBody>
          <a:bodyPr lIns="0" tIns="0" rIns="0" bIns="0" rtlCol="0" anchor="t">
            <a:spAutoFit/>
          </a:bodyPr>
          <a:lstStyle/>
          <a:p>
            <a:pPr marL="0" lvl="0" indent="0" algn="l">
              <a:lnSpc>
                <a:spcPts val="1560"/>
              </a:lnSpc>
            </a:pPr>
            <a:r>
              <a:rPr lang="en-US" sz="1200">
                <a:solidFill>
                  <a:srgbClr val="FFFFFF"/>
                </a:solidFill>
                <a:latin typeface="TT Interphases"/>
                <a:ea typeface="TT Interphases"/>
                <a:cs typeface="TT Interphases"/>
                <a:sym typeface="TT Interphases"/>
              </a:rPr>
              <a:t>Sentence-transformer model converts each chunk into a dense vector capturing semantic meaning.</a:t>
            </a:r>
          </a:p>
        </p:txBody>
      </p:sp>
      <p:sp>
        <p:nvSpPr>
          <p:cNvPr id="23" name="TextBox 23"/>
          <p:cNvSpPr txBox="1"/>
          <p:nvPr/>
        </p:nvSpPr>
        <p:spPr>
          <a:xfrm>
            <a:off x="13517286" y="7188517"/>
            <a:ext cx="3022634" cy="556260"/>
          </a:xfrm>
          <a:prstGeom prst="rect">
            <a:avLst/>
          </a:prstGeom>
        </p:spPr>
        <p:txBody>
          <a:bodyPr lIns="0" tIns="0" rIns="0" bIns="0" rtlCol="0" anchor="t">
            <a:spAutoFit/>
          </a:bodyPr>
          <a:lstStyle/>
          <a:p>
            <a:pPr marL="0" lvl="0" indent="0" algn="l">
              <a:lnSpc>
                <a:spcPts val="1560"/>
              </a:lnSpc>
            </a:pPr>
            <a:r>
              <a:rPr lang="en-US" sz="1200">
                <a:solidFill>
                  <a:srgbClr val="FFFFFF"/>
                </a:solidFill>
                <a:latin typeface="TT Interphases"/>
                <a:ea typeface="TT Interphases"/>
                <a:cs typeface="TT Interphases"/>
                <a:sym typeface="TT Interphases"/>
              </a:rPr>
              <a:t>Cosine similarity used to rank and retrieve the most relevant chunks for each user query.</a:t>
            </a:r>
          </a:p>
        </p:txBody>
      </p:sp>
      <p:sp>
        <p:nvSpPr>
          <p:cNvPr id="24" name="TextBox 24"/>
          <p:cNvSpPr txBox="1"/>
          <p:nvPr/>
        </p:nvSpPr>
        <p:spPr>
          <a:xfrm>
            <a:off x="3809025" y="7188517"/>
            <a:ext cx="4220288" cy="365760"/>
          </a:xfrm>
          <a:prstGeom prst="rect">
            <a:avLst/>
          </a:prstGeom>
        </p:spPr>
        <p:txBody>
          <a:bodyPr lIns="0" tIns="0" rIns="0" bIns="0" rtlCol="0" anchor="t">
            <a:spAutoFit/>
          </a:bodyPr>
          <a:lstStyle/>
          <a:p>
            <a:pPr marL="0" lvl="0" indent="0" algn="l">
              <a:lnSpc>
                <a:spcPts val="1560"/>
              </a:lnSpc>
            </a:pPr>
            <a:r>
              <a:rPr lang="en-US" sz="1200">
                <a:solidFill>
                  <a:srgbClr val="FFFFFF"/>
                </a:solidFill>
                <a:latin typeface="TT Interphases"/>
                <a:ea typeface="TT Interphases"/>
                <a:cs typeface="TT Interphases"/>
                <a:sym typeface="TT Interphases"/>
              </a:rPr>
              <a:t>Vectors stored in a persistent local ChromaDB collection with rich metadata for filtered retrieval.</a:t>
            </a:r>
          </a:p>
        </p:txBody>
      </p:sp>
      <p:sp>
        <p:nvSpPr>
          <p:cNvPr id="25" name="TextBox 25"/>
          <p:cNvSpPr txBox="1"/>
          <p:nvPr/>
        </p:nvSpPr>
        <p:spPr>
          <a:xfrm>
            <a:off x="9413323" y="3527425"/>
            <a:ext cx="7845977" cy="788458"/>
          </a:xfrm>
          <a:prstGeom prst="rect">
            <a:avLst/>
          </a:prstGeom>
        </p:spPr>
        <p:txBody>
          <a:bodyPr lIns="0" tIns="0" rIns="0" bIns="0" rtlCol="0" anchor="t">
            <a:spAutoFit/>
          </a:bodyPr>
          <a:lstStyle/>
          <a:p>
            <a:pPr marL="0" lvl="0" indent="0" algn="l">
              <a:lnSpc>
                <a:spcPts val="2166"/>
              </a:lnSpc>
            </a:pPr>
            <a:r>
              <a:rPr lang="en-US" sz="1666">
                <a:solidFill>
                  <a:srgbClr val="FFFFFF"/>
                </a:solidFill>
                <a:latin typeface="TT Interphases"/>
                <a:ea typeface="TT Interphases"/>
                <a:cs typeface="TT Interphases"/>
                <a:sym typeface="TT Interphases"/>
              </a:rPr>
              <a:t>Each document chunk is embedded using a sentence-transformer model, capturing semantic meaning beyond keyword matching. ChromaDB persists these vectors locally, supporting filtered lookups by company, year, and statement type.</a:t>
            </a:r>
          </a:p>
        </p:txBody>
      </p:sp>
      <p:sp>
        <p:nvSpPr>
          <p:cNvPr id="26" name="TextBox 26"/>
          <p:cNvSpPr txBox="1"/>
          <p:nvPr/>
        </p:nvSpPr>
        <p:spPr>
          <a:xfrm>
            <a:off x="1277347" y="5919842"/>
            <a:ext cx="2355093" cy="504879"/>
          </a:xfrm>
          <a:prstGeom prst="rect">
            <a:avLst/>
          </a:prstGeom>
        </p:spPr>
        <p:txBody>
          <a:bodyPr lIns="0" tIns="0" rIns="0" bIns="0" rtlCol="0" anchor="t">
            <a:spAutoFit/>
          </a:bodyPr>
          <a:lstStyle/>
          <a:p>
            <a:pPr marL="0" lvl="0" indent="0" algn="ctr">
              <a:lnSpc>
                <a:spcPts val="4197"/>
              </a:lnSpc>
              <a:spcBef>
                <a:spcPct val="0"/>
              </a:spcBef>
            </a:pPr>
            <a:r>
              <a:rPr lang="en-US" sz="2997" b="1">
                <a:solidFill>
                  <a:srgbClr val="FFFFFF"/>
                </a:solidFill>
                <a:latin typeface="TT Interphases Bold"/>
                <a:ea typeface="TT Interphases Bold"/>
                <a:cs typeface="TT Interphases Bold"/>
                <a:sym typeface="TT Interphases Bold"/>
              </a:rPr>
              <a:t>Chunking</a:t>
            </a:r>
          </a:p>
        </p:txBody>
      </p:sp>
      <p:sp>
        <p:nvSpPr>
          <p:cNvPr id="27" name="TextBox 27"/>
          <p:cNvSpPr txBox="1"/>
          <p:nvPr/>
        </p:nvSpPr>
        <p:spPr>
          <a:xfrm>
            <a:off x="10049579" y="5919842"/>
            <a:ext cx="3166265" cy="504879"/>
          </a:xfrm>
          <a:prstGeom prst="rect">
            <a:avLst/>
          </a:prstGeom>
        </p:spPr>
        <p:txBody>
          <a:bodyPr lIns="0" tIns="0" rIns="0" bIns="0" rtlCol="0" anchor="t">
            <a:spAutoFit/>
          </a:bodyPr>
          <a:lstStyle/>
          <a:p>
            <a:pPr marL="0" lvl="0" indent="0" algn="ctr">
              <a:lnSpc>
                <a:spcPts val="4197"/>
              </a:lnSpc>
              <a:spcBef>
                <a:spcPct val="0"/>
              </a:spcBef>
            </a:pPr>
            <a:r>
              <a:rPr lang="en-US" sz="2997" b="1">
                <a:solidFill>
                  <a:srgbClr val="FFFFFF"/>
                </a:solidFill>
                <a:latin typeface="TT Interphases Bold"/>
                <a:ea typeface="TT Interphases Bold"/>
                <a:cs typeface="TT Interphases Bold"/>
                <a:sym typeface="TT Interphases Bold"/>
              </a:rPr>
              <a:t>Embeddings</a:t>
            </a:r>
          </a:p>
        </p:txBody>
      </p:sp>
      <p:sp>
        <p:nvSpPr>
          <p:cNvPr id="28" name="TextBox 28"/>
          <p:cNvSpPr txBox="1"/>
          <p:nvPr/>
        </p:nvSpPr>
        <p:spPr>
          <a:xfrm>
            <a:off x="1277347" y="7186612"/>
            <a:ext cx="2355093" cy="504879"/>
          </a:xfrm>
          <a:prstGeom prst="rect">
            <a:avLst/>
          </a:prstGeom>
        </p:spPr>
        <p:txBody>
          <a:bodyPr lIns="0" tIns="0" rIns="0" bIns="0" rtlCol="0" anchor="t">
            <a:spAutoFit/>
          </a:bodyPr>
          <a:lstStyle/>
          <a:p>
            <a:pPr marL="0" lvl="0" indent="0" algn="ctr">
              <a:lnSpc>
                <a:spcPts val="4197"/>
              </a:lnSpc>
              <a:spcBef>
                <a:spcPct val="0"/>
              </a:spcBef>
            </a:pPr>
            <a:r>
              <a:rPr lang="en-US" sz="2997" b="1">
                <a:solidFill>
                  <a:srgbClr val="FFFFFF"/>
                </a:solidFill>
                <a:latin typeface="TT Interphases Bold"/>
                <a:ea typeface="TT Interphases Bold"/>
                <a:cs typeface="TT Interphases Bold"/>
                <a:sym typeface="TT Interphases Bold"/>
              </a:rPr>
              <a:t>ChromaDB</a:t>
            </a:r>
          </a:p>
        </p:txBody>
      </p:sp>
      <p:sp>
        <p:nvSpPr>
          <p:cNvPr id="29" name="TextBox 29"/>
          <p:cNvSpPr txBox="1"/>
          <p:nvPr/>
        </p:nvSpPr>
        <p:spPr>
          <a:xfrm>
            <a:off x="10109813" y="7186612"/>
            <a:ext cx="3045798" cy="504879"/>
          </a:xfrm>
          <a:prstGeom prst="rect">
            <a:avLst/>
          </a:prstGeom>
        </p:spPr>
        <p:txBody>
          <a:bodyPr lIns="0" tIns="0" rIns="0" bIns="0" rtlCol="0" anchor="t">
            <a:spAutoFit/>
          </a:bodyPr>
          <a:lstStyle/>
          <a:p>
            <a:pPr marL="0" lvl="0" indent="0" algn="ctr">
              <a:lnSpc>
                <a:spcPts val="4197"/>
              </a:lnSpc>
              <a:spcBef>
                <a:spcPct val="0"/>
              </a:spcBef>
            </a:pPr>
            <a:r>
              <a:rPr lang="en-US" sz="2997" b="1">
                <a:solidFill>
                  <a:srgbClr val="FFFFFF"/>
                </a:solidFill>
                <a:latin typeface="TT Interphases Bold"/>
                <a:ea typeface="TT Interphases Bold"/>
                <a:cs typeface="TT Interphases Bold"/>
                <a:sym typeface="TT Interphases Bold"/>
              </a:rPr>
              <a:t>Similarity Search</a:t>
            </a:r>
          </a:p>
        </p:txBody>
      </p:sp>
      <p:grpSp>
        <p:nvGrpSpPr>
          <p:cNvPr id="30" name="Group 30"/>
          <p:cNvGrpSpPr/>
          <p:nvPr/>
        </p:nvGrpSpPr>
        <p:grpSpPr>
          <a:xfrm>
            <a:off x="6780653" y="8767760"/>
            <a:ext cx="4726694" cy="490540"/>
            <a:chOff x="0" y="0"/>
            <a:chExt cx="3915949" cy="406400"/>
          </a:xfrm>
        </p:grpSpPr>
        <p:sp>
          <p:nvSpPr>
            <p:cNvPr id="31" name="Freeform 31"/>
            <p:cNvSpPr/>
            <p:nvPr/>
          </p:nvSpPr>
          <p:spPr>
            <a:xfrm>
              <a:off x="0" y="0"/>
              <a:ext cx="3915949" cy="406400"/>
            </a:xfrm>
            <a:custGeom>
              <a:avLst/>
              <a:gdLst/>
              <a:ahLst/>
              <a:cxnLst/>
              <a:rect l="l" t="t" r="r" b="b"/>
              <a:pathLst>
                <a:path w="3915949" h="406400">
                  <a:moveTo>
                    <a:pt x="3712749" y="0"/>
                  </a:moveTo>
                  <a:cubicBezTo>
                    <a:pt x="3824973" y="0"/>
                    <a:pt x="3915949" y="90976"/>
                    <a:pt x="3915949" y="203200"/>
                  </a:cubicBezTo>
                  <a:cubicBezTo>
                    <a:pt x="3915949" y="315424"/>
                    <a:pt x="3824973" y="406400"/>
                    <a:pt x="3712749" y="406400"/>
                  </a:cubicBezTo>
                  <a:lnTo>
                    <a:pt x="203200" y="406400"/>
                  </a:lnTo>
                  <a:cubicBezTo>
                    <a:pt x="90976" y="406400"/>
                    <a:pt x="0" y="315424"/>
                    <a:pt x="0" y="203200"/>
                  </a:cubicBezTo>
                  <a:cubicBezTo>
                    <a:pt x="0" y="90976"/>
                    <a:pt x="90976" y="0"/>
                    <a:pt x="203200" y="0"/>
                  </a:cubicBezTo>
                  <a:close/>
                </a:path>
              </a:pathLst>
            </a:custGeom>
            <a:gradFill rotWithShape="1">
              <a:gsLst>
                <a:gs pos="0">
                  <a:srgbClr val="401D89">
                    <a:alpha val="100000"/>
                  </a:srgbClr>
                </a:gs>
                <a:gs pos="100000">
                  <a:srgbClr val="D2689C">
                    <a:alpha val="100000"/>
                  </a:srgbClr>
                </a:gs>
              </a:gsLst>
              <a:lin ang="0"/>
            </a:gradFill>
          </p:spPr>
        </p:sp>
        <p:sp>
          <p:nvSpPr>
            <p:cNvPr id="32" name="TextBox 32"/>
            <p:cNvSpPr txBox="1"/>
            <p:nvPr/>
          </p:nvSpPr>
          <p:spPr>
            <a:xfrm>
              <a:off x="0" y="-57150"/>
              <a:ext cx="3915949" cy="463550"/>
            </a:xfrm>
            <a:prstGeom prst="rect">
              <a:avLst/>
            </a:prstGeom>
          </p:spPr>
          <p:txBody>
            <a:bodyPr lIns="50800" tIns="50800" rIns="50800" bIns="50800" rtlCol="0" anchor="ctr"/>
            <a:lstStyle/>
            <a:p>
              <a:pPr marL="0" lvl="0" indent="0" algn="ctr">
                <a:lnSpc>
                  <a:spcPts val="3359"/>
                </a:lnSpc>
              </a:pPr>
              <a:endParaRPr/>
            </a:p>
          </p:txBody>
        </p:sp>
      </p:grpSp>
      <p:sp>
        <p:nvSpPr>
          <p:cNvPr id="33" name="TextBox 33"/>
          <p:cNvSpPr txBox="1"/>
          <p:nvPr/>
        </p:nvSpPr>
        <p:spPr>
          <a:xfrm>
            <a:off x="7276978" y="8786323"/>
            <a:ext cx="3734045" cy="281517"/>
          </a:xfrm>
          <a:prstGeom prst="rect">
            <a:avLst/>
          </a:prstGeom>
        </p:spPr>
        <p:txBody>
          <a:bodyPr lIns="0" tIns="0" rIns="0" bIns="0" rtlCol="0" anchor="t">
            <a:spAutoFit/>
          </a:bodyPr>
          <a:lstStyle/>
          <a:p>
            <a:pPr marL="0" lvl="0" indent="0" algn="ctr">
              <a:lnSpc>
                <a:spcPts val="2333"/>
              </a:lnSpc>
              <a:spcBef>
                <a:spcPct val="0"/>
              </a:spcBef>
            </a:pPr>
            <a:r>
              <a:rPr lang="en-US" sz="1666">
                <a:solidFill>
                  <a:srgbClr val="FFFFFF"/>
                </a:solidFill>
                <a:latin typeface="TT Interphases"/>
                <a:ea typeface="TT Interphases"/>
                <a:cs typeface="TT Interphases"/>
                <a:sym typeface="TT Interphases"/>
              </a:rPr>
              <a:t>Finance Knowledge Assistant — RAG</a:t>
            </a:r>
          </a:p>
        </p:txBody>
      </p:sp>
      <p:sp>
        <p:nvSpPr>
          <p:cNvPr id="35" name="Freeform 35"/>
          <p:cNvSpPr/>
          <p:nvPr/>
        </p:nvSpPr>
        <p:spPr>
          <a:xfrm>
            <a:off x="3632440" y="8859295"/>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r:embed="rId5" cstate="print">
              <a:extLst>
                <a:ext uri="{96DAC541-7B7A-43D3-8B79-37D633B846F1}">
                  <asvg:svgBlip xmlns:asvg="http://schemas.microsoft.com/office/drawing/2016/SVG/main" xmlns="" r:embed="rId8"/>
                </a:ext>
              </a:extLst>
            </a:blip>
            <a:stretch>
              <a:fillRect t="-106388" r="-103152"/>
            </a:stretch>
          </a:blipFill>
        </p:spPr>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344591" flipH="1">
            <a:off x="-4148183" y="5002073"/>
            <a:ext cx="20299771" cy="6754287"/>
          </a:xfrm>
          <a:custGeom>
            <a:avLst/>
            <a:gdLst/>
            <a:ahLst/>
            <a:cxnLst/>
            <a:rect l="l" t="t" r="r" b="b"/>
            <a:pathLst>
              <a:path w="20299771" h="6754287">
                <a:moveTo>
                  <a:pt x="20299770" y="0"/>
                </a:moveTo>
                <a:lnTo>
                  <a:pt x="0" y="0"/>
                </a:lnTo>
                <a:lnTo>
                  <a:pt x="0" y="6754287"/>
                </a:lnTo>
                <a:lnTo>
                  <a:pt x="20299770" y="6754287"/>
                </a:lnTo>
                <a:lnTo>
                  <a:pt x="20299770" y="0"/>
                </a:lnTo>
                <a:close/>
              </a:path>
            </a:pathLst>
          </a:custGeom>
          <a:blipFill>
            <a:blip r:embed="rId2">
              <a:alphaModFix amt="15000"/>
              <a:extLst>
                <a:ext uri="{96DAC541-7B7A-43D3-8B79-37D633B846F1}">
                  <asvg:svgBlip xmlns:asvg="http://schemas.microsoft.com/office/drawing/2016/SVG/main" xmlns="" r:embed="rId3"/>
                </a:ext>
              </a:extLst>
            </a:blip>
            <a:stretch>
              <a:fillRect/>
            </a:stretch>
          </a:blipFill>
        </p:spPr>
      </p:sp>
      <p:sp>
        <p:nvSpPr>
          <p:cNvPr id="3" name="Freeform 3"/>
          <p:cNvSpPr/>
          <p:nvPr/>
        </p:nvSpPr>
        <p:spPr>
          <a:xfrm rot="3975364">
            <a:off x="9101346" y="-6203143"/>
            <a:ext cx="8862696" cy="8878839"/>
          </a:xfrm>
          <a:custGeom>
            <a:avLst/>
            <a:gdLst/>
            <a:ahLst/>
            <a:cxnLst/>
            <a:rect l="l" t="t" r="r" b="b"/>
            <a:pathLst>
              <a:path w="8862696" h="8878839">
                <a:moveTo>
                  <a:pt x="0" y="0"/>
                </a:moveTo>
                <a:lnTo>
                  <a:pt x="8862696" y="0"/>
                </a:lnTo>
                <a:lnTo>
                  <a:pt x="8862696" y="8878839"/>
                </a:lnTo>
                <a:lnTo>
                  <a:pt x="0" y="8878839"/>
                </a:lnTo>
                <a:lnTo>
                  <a:pt x="0" y="0"/>
                </a:lnTo>
                <a:close/>
              </a:path>
            </a:pathLst>
          </a:custGeom>
          <a:blipFill>
            <a:blip r:embed="rId4">
              <a:alphaModFix amt="50000"/>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11385287" y="1381553"/>
            <a:ext cx="6749735" cy="7218968"/>
          </a:xfrm>
          <a:custGeom>
            <a:avLst/>
            <a:gdLst/>
            <a:ahLst/>
            <a:cxnLst/>
            <a:rect l="l" t="t" r="r" b="b"/>
            <a:pathLst>
              <a:path w="6749735" h="7218968">
                <a:moveTo>
                  <a:pt x="0" y="0"/>
                </a:moveTo>
                <a:lnTo>
                  <a:pt x="6749735" y="0"/>
                </a:lnTo>
                <a:lnTo>
                  <a:pt x="6749735" y="7218968"/>
                </a:lnTo>
                <a:lnTo>
                  <a:pt x="0" y="7218968"/>
                </a:lnTo>
                <a:lnTo>
                  <a:pt x="0" y="0"/>
                </a:lnTo>
                <a:close/>
              </a:path>
            </a:pathLst>
          </a:custGeom>
          <a:blipFill>
            <a:blip r:embed="rId6"/>
            <a:stretch>
              <a:fillRect/>
            </a:stretch>
          </a:blipFill>
        </p:spPr>
      </p:sp>
      <p:grpSp>
        <p:nvGrpSpPr>
          <p:cNvPr id="5" name="Group 5"/>
          <p:cNvGrpSpPr/>
          <p:nvPr/>
        </p:nvGrpSpPr>
        <p:grpSpPr>
          <a:xfrm>
            <a:off x="1028700" y="5143500"/>
            <a:ext cx="643117" cy="64311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7" name="TextBox 7"/>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8" name="Group 8"/>
          <p:cNvGrpSpPr/>
          <p:nvPr/>
        </p:nvGrpSpPr>
        <p:grpSpPr>
          <a:xfrm>
            <a:off x="6192202" y="5143500"/>
            <a:ext cx="643117" cy="64311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10" name="TextBox 10"/>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11" name="Group 11"/>
          <p:cNvGrpSpPr/>
          <p:nvPr/>
        </p:nvGrpSpPr>
        <p:grpSpPr>
          <a:xfrm>
            <a:off x="1028700" y="5956151"/>
            <a:ext cx="643117" cy="64311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13" name="TextBox 13"/>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14" name="Group 14"/>
          <p:cNvGrpSpPr/>
          <p:nvPr/>
        </p:nvGrpSpPr>
        <p:grpSpPr>
          <a:xfrm>
            <a:off x="6192202" y="5956151"/>
            <a:ext cx="643117" cy="64311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16" name="TextBox 16"/>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sp>
        <p:nvSpPr>
          <p:cNvPr id="17" name="TextBox 17"/>
          <p:cNvSpPr txBox="1"/>
          <p:nvPr/>
        </p:nvSpPr>
        <p:spPr>
          <a:xfrm>
            <a:off x="1028700" y="1123950"/>
            <a:ext cx="3681189" cy="949413"/>
          </a:xfrm>
          <a:prstGeom prst="rect">
            <a:avLst/>
          </a:prstGeom>
        </p:spPr>
        <p:txBody>
          <a:bodyPr lIns="0" tIns="0" rIns="0" bIns="0" rtlCol="0" anchor="t">
            <a:spAutoFit/>
          </a:bodyPr>
          <a:lstStyle/>
          <a:p>
            <a:pPr marL="0" lvl="0" indent="0" algn="l">
              <a:lnSpc>
                <a:spcPts val="3693"/>
              </a:lnSpc>
            </a:pPr>
            <a:r>
              <a:rPr lang="en-US" sz="3807">
                <a:solidFill>
                  <a:srgbClr val="FFFFFF"/>
                </a:solidFill>
                <a:latin typeface="TT Interphases"/>
                <a:ea typeface="TT Interphases"/>
                <a:cs typeface="TT Interphases"/>
                <a:sym typeface="TT Interphases"/>
              </a:rPr>
              <a:t>Conversational RAG</a:t>
            </a:r>
          </a:p>
        </p:txBody>
      </p:sp>
      <p:sp>
        <p:nvSpPr>
          <p:cNvPr id="18" name="TextBox 18"/>
          <p:cNvSpPr txBox="1"/>
          <p:nvPr/>
        </p:nvSpPr>
        <p:spPr>
          <a:xfrm>
            <a:off x="1859918" y="5261160"/>
            <a:ext cx="3512629" cy="304622"/>
          </a:xfrm>
          <a:prstGeom prst="rect">
            <a:avLst/>
          </a:prstGeom>
        </p:spPr>
        <p:txBody>
          <a:bodyPr lIns="0" tIns="0" rIns="0" bIns="0" rtlCol="0" anchor="t">
            <a:spAutoFit/>
          </a:bodyPr>
          <a:lstStyle/>
          <a:p>
            <a:pPr marL="0" lvl="0" indent="0" algn="l">
              <a:lnSpc>
                <a:spcPts val="2208"/>
              </a:lnSpc>
            </a:pPr>
            <a:r>
              <a:rPr lang="en-US" sz="2276">
                <a:solidFill>
                  <a:srgbClr val="FFFFFF"/>
                </a:solidFill>
                <a:latin typeface="TT Interphases"/>
                <a:ea typeface="TT Interphases"/>
                <a:cs typeface="TT Interphases"/>
                <a:sym typeface="TT Interphases"/>
              </a:rPr>
              <a:t>Query Processing</a:t>
            </a:r>
          </a:p>
        </p:txBody>
      </p:sp>
      <p:sp>
        <p:nvSpPr>
          <p:cNvPr id="19" name="TextBox 19"/>
          <p:cNvSpPr txBox="1"/>
          <p:nvPr/>
        </p:nvSpPr>
        <p:spPr>
          <a:xfrm>
            <a:off x="7023420" y="5261160"/>
            <a:ext cx="3390294" cy="304622"/>
          </a:xfrm>
          <a:prstGeom prst="rect">
            <a:avLst/>
          </a:prstGeom>
        </p:spPr>
        <p:txBody>
          <a:bodyPr lIns="0" tIns="0" rIns="0" bIns="0" rtlCol="0" anchor="t">
            <a:spAutoFit/>
          </a:bodyPr>
          <a:lstStyle/>
          <a:p>
            <a:pPr marL="0" lvl="0" indent="0" algn="l">
              <a:lnSpc>
                <a:spcPts val="2208"/>
              </a:lnSpc>
            </a:pPr>
            <a:r>
              <a:rPr lang="en-US" sz="2276">
                <a:solidFill>
                  <a:srgbClr val="FFFFFF"/>
                </a:solidFill>
                <a:latin typeface="TT Interphases"/>
                <a:ea typeface="TT Interphases"/>
                <a:cs typeface="TT Interphases"/>
                <a:sym typeface="TT Interphases"/>
              </a:rPr>
              <a:t>Vector Retrieval</a:t>
            </a:r>
          </a:p>
        </p:txBody>
      </p:sp>
      <p:sp>
        <p:nvSpPr>
          <p:cNvPr id="20" name="TextBox 20"/>
          <p:cNvSpPr txBox="1"/>
          <p:nvPr/>
        </p:nvSpPr>
        <p:spPr>
          <a:xfrm>
            <a:off x="1859918" y="6073811"/>
            <a:ext cx="3128146" cy="304622"/>
          </a:xfrm>
          <a:prstGeom prst="rect">
            <a:avLst/>
          </a:prstGeom>
        </p:spPr>
        <p:txBody>
          <a:bodyPr lIns="0" tIns="0" rIns="0" bIns="0" rtlCol="0" anchor="t">
            <a:spAutoFit/>
          </a:bodyPr>
          <a:lstStyle/>
          <a:p>
            <a:pPr marL="0" lvl="0" indent="0" algn="l">
              <a:lnSpc>
                <a:spcPts val="2208"/>
              </a:lnSpc>
            </a:pPr>
            <a:r>
              <a:rPr lang="en-US" sz="2276">
                <a:solidFill>
                  <a:srgbClr val="FFFFFF"/>
                </a:solidFill>
                <a:latin typeface="TT Interphases"/>
                <a:ea typeface="TT Interphases"/>
                <a:cs typeface="TT Interphases"/>
                <a:sym typeface="TT Interphases"/>
              </a:rPr>
              <a:t>Context Assembly</a:t>
            </a:r>
          </a:p>
        </p:txBody>
      </p:sp>
      <p:sp>
        <p:nvSpPr>
          <p:cNvPr id="21" name="TextBox 21"/>
          <p:cNvSpPr txBox="1"/>
          <p:nvPr/>
        </p:nvSpPr>
        <p:spPr>
          <a:xfrm>
            <a:off x="7023420" y="6073811"/>
            <a:ext cx="2070892" cy="304622"/>
          </a:xfrm>
          <a:prstGeom prst="rect">
            <a:avLst/>
          </a:prstGeom>
        </p:spPr>
        <p:txBody>
          <a:bodyPr lIns="0" tIns="0" rIns="0" bIns="0" rtlCol="0" anchor="t">
            <a:spAutoFit/>
          </a:bodyPr>
          <a:lstStyle/>
          <a:p>
            <a:pPr marL="0" lvl="0" indent="0" algn="l">
              <a:lnSpc>
                <a:spcPts val="2208"/>
              </a:lnSpc>
            </a:pPr>
            <a:r>
              <a:rPr lang="en-US" sz="2276">
                <a:solidFill>
                  <a:srgbClr val="FFFFFF"/>
                </a:solidFill>
                <a:latin typeface="TT Interphases"/>
                <a:ea typeface="TT Interphases"/>
                <a:cs typeface="TT Interphases"/>
                <a:sym typeface="TT Interphases"/>
              </a:rPr>
              <a:t>LLM Generation</a:t>
            </a:r>
          </a:p>
        </p:txBody>
      </p:sp>
      <p:sp>
        <p:nvSpPr>
          <p:cNvPr id="22" name="TextBox 22"/>
          <p:cNvSpPr txBox="1"/>
          <p:nvPr/>
        </p:nvSpPr>
        <p:spPr>
          <a:xfrm>
            <a:off x="1028700" y="2031648"/>
            <a:ext cx="6179482" cy="589818"/>
          </a:xfrm>
          <a:prstGeom prst="rect">
            <a:avLst/>
          </a:prstGeom>
        </p:spPr>
        <p:txBody>
          <a:bodyPr lIns="0" tIns="0" rIns="0" bIns="0" rtlCol="0" anchor="t">
            <a:spAutoFit/>
          </a:bodyPr>
          <a:lstStyle/>
          <a:p>
            <a:pPr marL="0" lvl="0" indent="0" algn="l">
              <a:lnSpc>
                <a:spcPts val="4403"/>
              </a:lnSpc>
            </a:pPr>
            <a:r>
              <a:rPr lang="en-US" sz="4540" b="1">
                <a:solidFill>
                  <a:srgbClr val="A94BC6"/>
                </a:solidFill>
                <a:latin typeface="TT Interphases Bold"/>
                <a:ea typeface="TT Interphases Bold"/>
                <a:cs typeface="TT Interphases Bold"/>
                <a:sym typeface="TT Interphases Bold"/>
              </a:rPr>
              <a:t>Architecture Overview</a:t>
            </a:r>
          </a:p>
        </p:txBody>
      </p:sp>
      <p:sp>
        <p:nvSpPr>
          <p:cNvPr id="23" name="TextBox 23"/>
          <p:cNvSpPr txBox="1"/>
          <p:nvPr/>
        </p:nvSpPr>
        <p:spPr>
          <a:xfrm>
            <a:off x="1028700" y="3305044"/>
            <a:ext cx="9946004" cy="853713"/>
          </a:xfrm>
          <a:prstGeom prst="rect">
            <a:avLst/>
          </a:prstGeom>
        </p:spPr>
        <p:txBody>
          <a:bodyPr lIns="0" tIns="0" rIns="0" bIns="0" rtlCol="0" anchor="t">
            <a:spAutoFit/>
          </a:bodyPr>
          <a:lstStyle/>
          <a:p>
            <a:pPr marL="0" lvl="0" indent="0" algn="l">
              <a:lnSpc>
                <a:spcPts val="2312"/>
              </a:lnSpc>
            </a:pPr>
            <a:r>
              <a:rPr lang="en-US" sz="1778">
                <a:solidFill>
                  <a:srgbClr val="FFFFFF"/>
                </a:solidFill>
                <a:latin typeface="TT Interphases"/>
                <a:ea typeface="TT Interphases"/>
                <a:cs typeface="TT Interphases"/>
                <a:sym typeface="TT Interphases"/>
              </a:rPr>
              <a:t>The system combines a retrieval pipeline with an LLM to answer finance queries. User questions are processed, relevant documents retrieved from ChromaDB, context assembled, and grounded responses generated.</a:t>
            </a:r>
          </a:p>
        </p:txBody>
      </p:sp>
      <p:grpSp>
        <p:nvGrpSpPr>
          <p:cNvPr id="24" name="Group 24"/>
          <p:cNvGrpSpPr/>
          <p:nvPr/>
        </p:nvGrpSpPr>
        <p:grpSpPr>
          <a:xfrm>
            <a:off x="1028700" y="6768802"/>
            <a:ext cx="643117" cy="643117"/>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26" name="TextBox 26"/>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sp>
        <p:nvSpPr>
          <p:cNvPr id="27" name="TextBox 27"/>
          <p:cNvSpPr txBox="1"/>
          <p:nvPr/>
        </p:nvSpPr>
        <p:spPr>
          <a:xfrm>
            <a:off x="1859918" y="6886462"/>
            <a:ext cx="6493119" cy="304622"/>
          </a:xfrm>
          <a:prstGeom prst="rect">
            <a:avLst/>
          </a:prstGeom>
        </p:spPr>
        <p:txBody>
          <a:bodyPr lIns="0" tIns="0" rIns="0" bIns="0" rtlCol="0" anchor="t">
            <a:spAutoFit/>
          </a:bodyPr>
          <a:lstStyle/>
          <a:p>
            <a:pPr marL="0" lvl="0" indent="0" algn="l">
              <a:lnSpc>
                <a:spcPts val="2208"/>
              </a:lnSpc>
            </a:pPr>
            <a:r>
              <a:rPr lang="en-US" sz="2276">
                <a:solidFill>
                  <a:srgbClr val="FFFFFF"/>
                </a:solidFill>
                <a:latin typeface="TT Interphases"/>
                <a:ea typeface="TT Interphases"/>
                <a:cs typeface="TT Interphases"/>
                <a:sym typeface="TT Interphases"/>
              </a:rPr>
              <a:t>Grounded Response Delivery</a:t>
            </a:r>
          </a:p>
        </p:txBody>
      </p:sp>
      <p:sp>
        <p:nvSpPr>
          <p:cNvPr id="28" name="Freeform 28"/>
          <p:cNvSpPr/>
          <p:nvPr/>
        </p:nvSpPr>
        <p:spPr>
          <a:xfrm>
            <a:off x="1165652" y="5294079"/>
            <a:ext cx="369212" cy="341958"/>
          </a:xfrm>
          <a:custGeom>
            <a:avLst/>
            <a:gdLst/>
            <a:ahLst/>
            <a:cxnLst/>
            <a:rect l="l" t="t" r="r" b="b"/>
            <a:pathLst>
              <a:path w="369212" h="341958">
                <a:moveTo>
                  <a:pt x="0" y="0"/>
                </a:moveTo>
                <a:lnTo>
                  <a:pt x="369213" y="0"/>
                </a:lnTo>
                <a:lnTo>
                  <a:pt x="369213" y="341959"/>
                </a:lnTo>
                <a:lnTo>
                  <a:pt x="0" y="341959"/>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29" name="Freeform 29"/>
          <p:cNvSpPr/>
          <p:nvPr/>
        </p:nvSpPr>
        <p:spPr>
          <a:xfrm>
            <a:off x="6329154" y="5294079"/>
            <a:ext cx="369212" cy="341958"/>
          </a:xfrm>
          <a:custGeom>
            <a:avLst/>
            <a:gdLst/>
            <a:ahLst/>
            <a:cxnLst/>
            <a:rect l="l" t="t" r="r" b="b"/>
            <a:pathLst>
              <a:path w="369212" h="341958">
                <a:moveTo>
                  <a:pt x="0" y="0"/>
                </a:moveTo>
                <a:lnTo>
                  <a:pt x="369212" y="0"/>
                </a:lnTo>
                <a:lnTo>
                  <a:pt x="369212" y="341959"/>
                </a:lnTo>
                <a:lnTo>
                  <a:pt x="0" y="341959"/>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30" name="Freeform 30"/>
          <p:cNvSpPr/>
          <p:nvPr/>
        </p:nvSpPr>
        <p:spPr>
          <a:xfrm>
            <a:off x="1165652" y="6110467"/>
            <a:ext cx="369212" cy="341958"/>
          </a:xfrm>
          <a:custGeom>
            <a:avLst/>
            <a:gdLst/>
            <a:ahLst/>
            <a:cxnLst/>
            <a:rect l="l" t="t" r="r" b="b"/>
            <a:pathLst>
              <a:path w="369212" h="341958">
                <a:moveTo>
                  <a:pt x="0" y="0"/>
                </a:moveTo>
                <a:lnTo>
                  <a:pt x="369213" y="0"/>
                </a:lnTo>
                <a:lnTo>
                  <a:pt x="369213" y="341958"/>
                </a:lnTo>
                <a:lnTo>
                  <a:pt x="0" y="341958"/>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31" name="Freeform 31"/>
          <p:cNvSpPr/>
          <p:nvPr/>
        </p:nvSpPr>
        <p:spPr>
          <a:xfrm>
            <a:off x="6329154" y="6110467"/>
            <a:ext cx="369212" cy="341958"/>
          </a:xfrm>
          <a:custGeom>
            <a:avLst/>
            <a:gdLst/>
            <a:ahLst/>
            <a:cxnLst/>
            <a:rect l="l" t="t" r="r" b="b"/>
            <a:pathLst>
              <a:path w="369212" h="341958">
                <a:moveTo>
                  <a:pt x="0" y="0"/>
                </a:moveTo>
                <a:lnTo>
                  <a:pt x="369212" y="0"/>
                </a:lnTo>
                <a:lnTo>
                  <a:pt x="369212" y="341958"/>
                </a:lnTo>
                <a:lnTo>
                  <a:pt x="0" y="341958"/>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32" name="Freeform 32"/>
          <p:cNvSpPr/>
          <p:nvPr/>
        </p:nvSpPr>
        <p:spPr>
          <a:xfrm>
            <a:off x="1165652" y="6923118"/>
            <a:ext cx="369212" cy="341958"/>
          </a:xfrm>
          <a:custGeom>
            <a:avLst/>
            <a:gdLst/>
            <a:ahLst/>
            <a:cxnLst/>
            <a:rect l="l" t="t" r="r" b="b"/>
            <a:pathLst>
              <a:path w="369212" h="341958">
                <a:moveTo>
                  <a:pt x="0" y="0"/>
                </a:moveTo>
                <a:lnTo>
                  <a:pt x="369213" y="0"/>
                </a:lnTo>
                <a:lnTo>
                  <a:pt x="369213" y="341958"/>
                </a:lnTo>
                <a:lnTo>
                  <a:pt x="0" y="341958"/>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33" name="Freeform 33"/>
          <p:cNvSpPr/>
          <p:nvPr/>
        </p:nvSpPr>
        <p:spPr>
          <a:xfrm>
            <a:off x="-431506" y="292352"/>
            <a:ext cx="1248533" cy="2534416"/>
          </a:xfrm>
          <a:custGeom>
            <a:avLst/>
            <a:gdLst/>
            <a:ahLst/>
            <a:cxnLst/>
            <a:rect l="l" t="t" r="r" b="b"/>
            <a:pathLst>
              <a:path w="1248533" h="2534416">
                <a:moveTo>
                  <a:pt x="0" y="0"/>
                </a:moveTo>
                <a:lnTo>
                  <a:pt x="1248533" y="0"/>
                </a:lnTo>
                <a:lnTo>
                  <a:pt x="1248533" y="2534416"/>
                </a:lnTo>
                <a:lnTo>
                  <a:pt x="0" y="2534416"/>
                </a:lnTo>
                <a:lnTo>
                  <a:pt x="0" y="0"/>
                </a:lnTo>
                <a:close/>
              </a:path>
            </a:pathLst>
          </a:custGeom>
          <a:blipFill>
            <a:blip r:embed="rId9"/>
            <a:stretch>
              <a:fillRect/>
            </a:stretch>
          </a:blipFill>
        </p:spPr>
      </p:sp>
      <p:sp>
        <p:nvSpPr>
          <p:cNvPr id="34" name="Freeform 34"/>
          <p:cNvSpPr/>
          <p:nvPr/>
        </p:nvSpPr>
        <p:spPr>
          <a:xfrm rot="-5400000">
            <a:off x="9501573" y="8413669"/>
            <a:ext cx="1520526" cy="3086537"/>
          </a:xfrm>
          <a:custGeom>
            <a:avLst/>
            <a:gdLst/>
            <a:ahLst/>
            <a:cxnLst/>
            <a:rect l="l" t="t" r="r" b="b"/>
            <a:pathLst>
              <a:path w="1520526" h="3086537">
                <a:moveTo>
                  <a:pt x="0" y="0"/>
                </a:moveTo>
                <a:lnTo>
                  <a:pt x="1520525" y="0"/>
                </a:lnTo>
                <a:lnTo>
                  <a:pt x="1520525" y="3086537"/>
                </a:lnTo>
                <a:lnTo>
                  <a:pt x="0" y="3086537"/>
                </a:lnTo>
                <a:lnTo>
                  <a:pt x="0" y="0"/>
                </a:lnTo>
                <a:close/>
              </a:path>
            </a:pathLst>
          </a:custGeom>
          <a:blipFill>
            <a:blip r:embed="rId9"/>
            <a:stretch>
              <a:fillRect/>
            </a:stretch>
          </a:blipFill>
        </p:spPr>
      </p:sp>
      <p:sp>
        <p:nvSpPr>
          <p:cNvPr id="35" name="Freeform 35"/>
          <p:cNvSpPr/>
          <p:nvPr/>
        </p:nvSpPr>
        <p:spPr>
          <a:xfrm>
            <a:off x="10150928" y="7813705"/>
            <a:ext cx="1647551" cy="200702"/>
          </a:xfrm>
          <a:custGeom>
            <a:avLst/>
            <a:gdLst/>
            <a:ahLst/>
            <a:cxnLst/>
            <a:rect l="l" t="t" r="r" b="b"/>
            <a:pathLst>
              <a:path w="1647551" h="200702">
                <a:moveTo>
                  <a:pt x="0" y="0"/>
                </a:moveTo>
                <a:lnTo>
                  <a:pt x="1647551" y="0"/>
                </a:lnTo>
                <a:lnTo>
                  <a:pt x="1647551" y="200702"/>
                </a:lnTo>
                <a:lnTo>
                  <a:pt x="0" y="200702"/>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36" name="Freeform 36"/>
          <p:cNvSpPr/>
          <p:nvPr/>
        </p:nvSpPr>
        <p:spPr>
          <a:xfrm>
            <a:off x="8718567" y="1229307"/>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r:embed="rId12" cstate="print">
              <a:extLst>
                <a:ext uri="{96DAC541-7B7A-43D3-8B79-37D633B846F1}">
                  <asvg:svgBlip xmlns:asvg="http://schemas.microsoft.com/office/drawing/2016/SVG/main" xmlns="" r:embed="rId13"/>
                </a:ext>
              </a:extLst>
            </a:blip>
            <a:stretch>
              <a:fillRect t="-106388" r="-103152"/>
            </a:stretch>
          </a:blipFill>
        </p:spPr>
      </p:sp>
      <p:grpSp>
        <p:nvGrpSpPr>
          <p:cNvPr id="37" name="Group 37"/>
          <p:cNvGrpSpPr/>
          <p:nvPr/>
        </p:nvGrpSpPr>
        <p:grpSpPr>
          <a:xfrm>
            <a:off x="1028700" y="8767760"/>
            <a:ext cx="4726694" cy="490540"/>
            <a:chOff x="0" y="0"/>
            <a:chExt cx="3915949" cy="406400"/>
          </a:xfrm>
        </p:grpSpPr>
        <p:sp>
          <p:nvSpPr>
            <p:cNvPr id="38" name="Freeform 38"/>
            <p:cNvSpPr/>
            <p:nvPr/>
          </p:nvSpPr>
          <p:spPr>
            <a:xfrm>
              <a:off x="0" y="0"/>
              <a:ext cx="3915949" cy="406400"/>
            </a:xfrm>
            <a:custGeom>
              <a:avLst/>
              <a:gdLst/>
              <a:ahLst/>
              <a:cxnLst/>
              <a:rect l="l" t="t" r="r" b="b"/>
              <a:pathLst>
                <a:path w="3915949" h="406400">
                  <a:moveTo>
                    <a:pt x="3712749" y="0"/>
                  </a:moveTo>
                  <a:cubicBezTo>
                    <a:pt x="3824973" y="0"/>
                    <a:pt x="3915949" y="90976"/>
                    <a:pt x="3915949" y="203200"/>
                  </a:cubicBezTo>
                  <a:cubicBezTo>
                    <a:pt x="3915949" y="315424"/>
                    <a:pt x="3824973" y="406400"/>
                    <a:pt x="3712749" y="406400"/>
                  </a:cubicBezTo>
                  <a:lnTo>
                    <a:pt x="203200" y="406400"/>
                  </a:lnTo>
                  <a:cubicBezTo>
                    <a:pt x="90976" y="406400"/>
                    <a:pt x="0" y="315424"/>
                    <a:pt x="0" y="203200"/>
                  </a:cubicBezTo>
                  <a:cubicBezTo>
                    <a:pt x="0" y="90976"/>
                    <a:pt x="90976" y="0"/>
                    <a:pt x="203200" y="0"/>
                  </a:cubicBezTo>
                  <a:close/>
                </a:path>
              </a:pathLst>
            </a:custGeom>
            <a:gradFill rotWithShape="1">
              <a:gsLst>
                <a:gs pos="0">
                  <a:srgbClr val="401D89">
                    <a:alpha val="100000"/>
                  </a:srgbClr>
                </a:gs>
                <a:gs pos="100000">
                  <a:srgbClr val="D2689C">
                    <a:alpha val="100000"/>
                  </a:srgbClr>
                </a:gs>
              </a:gsLst>
              <a:lin ang="0"/>
            </a:gradFill>
          </p:spPr>
        </p:sp>
        <p:sp>
          <p:nvSpPr>
            <p:cNvPr id="39" name="TextBox 39"/>
            <p:cNvSpPr txBox="1"/>
            <p:nvPr/>
          </p:nvSpPr>
          <p:spPr>
            <a:xfrm>
              <a:off x="0" y="-57150"/>
              <a:ext cx="3915949" cy="463550"/>
            </a:xfrm>
            <a:prstGeom prst="rect">
              <a:avLst/>
            </a:prstGeom>
          </p:spPr>
          <p:txBody>
            <a:bodyPr lIns="50800" tIns="50800" rIns="50800" bIns="50800" rtlCol="0" anchor="ctr"/>
            <a:lstStyle/>
            <a:p>
              <a:pPr marL="0" lvl="0" indent="0" algn="ctr">
                <a:lnSpc>
                  <a:spcPts val="3359"/>
                </a:lnSpc>
              </a:pPr>
              <a:endParaRPr/>
            </a:p>
          </p:txBody>
        </p:sp>
      </p:grpSp>
      <p:sp>
        <p:nvSpPr>
          <p:cNvPr id="40" name="TextBox 40"/>
          <p:cNvSpPr txBox="1"/>
          <p:nvPr/>
        </p:nvSpPr>
        <p:spPr>
          <a:xfrm>
            <a:off x="1525025" y="8786323"/>
            <a:ext cx="3734045" cy="297726"/>
          </a:xfrm>
          <a:prstGeom prst="rect">
            <a:avLst/>
          </a:prstGeom>
        </p:spPr>
        <p:txBody>
          <a:bodyPr lIns="0" tIns="0" rIns="0" bIns="0" rtlCol="0" anchor="t">
            <a:spAutoFit/>
          </a:bodyPr>
          <a:lstStyle/>
          <a:p>
            <a:pPr marL="0" lvl="0" indent="0" algn="ctr">
              <a:lnSpc>
                <a:spcPts val="2489"/>
              </a:lnSpc>
              <a:spcBef>
                <a:spcPct val="0"/>
              </a:spcBef>
            </a:pPr>
            <a:r>
              <a:rPr lang="en-US" sz="1778">
                <a:solidFill>
                  <a:srgbClr val="FFFFFF"/>
                </a:solidFill>
                <a:latin typeface="TT Interphases"/>
                <a:ea typeface="TT Interphases"/>
                <a:cs typeface="TT Interphases"/>
                <a:sym typeface="TT Interphases"/>
              </a:rPr>
              <a:t>Finance Knowledge Assistant — RAG</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133475"/>
            <a:ext cx="3681189" cy="637699"/>
          </a:xfrm>
          <a:prstGeom prst="rect">
            <a:avLst/>
          </a:prstGeom>
        </p:spPr>
        <p:txBody>
          <a:bodyPr lIns="0" tIns="0" rIns="0" bIns="0" rtlCol="0" anchor="t">
            <a:spAutoFit/>
          </a:bodyPr>
          <a:lstStyle/>
          <a:p>
            <a:pPr marL="0" lvl="0" indent="0" algn="l">
              <a:lnSpc>
                <a:spcPts val="4728"/>
              </a:lnSpc>
            </a:pPr>
            <a:r>
              <a:rPr lang="en-US" sz="4875">
                <a:solidFill>
                  <a:srgbClr val="FFFFFF"/>
                </a:solidFill>
                <a:latin typeface="TT Interphases"/>
                <a:ea typeface="TT Interphases"/>
                <a:cs typeface="TT Interphases"/>
                <a:sym typeface="TT Interphases"/>
              </a:rPr>
              <a:t>Conversation</a:t>
            </a:r>
          </a:p>
        </p:txBody>
      </p:sp>
      <p:sp>
        <p:nvSpPr>
          <p:cNvPr id="3" name="Freeform 3"/>
          <p:cNvSpPr/>
          <p:nvPr/>
        </p:nvSpPr>
        <p:spPr>
          <a:xfrm rot="1344591">
            <a:off x="-18826771" y="4964128"/>
            <a:ext cx="52556242" cy="7160788"/>
          </a:xfrm>
          <a:custGeom>
            <a:avLst/>
            <a:gdLst/>
            <a:ahLst/>
            <a:cxnLst/>
            <a:rect l="l" t="t" r="r" b="b"/>
            <a:pathLst>
              <a:path w="52556242" h="7160788">
                <a:moveTo>
                  <a:pt x="0" y="0"/>
                </a:moveTo>
                <a:lnTo>
                  <a:pt x="52556242" y="0"/>
                </a:lnTo>
                <a:lnTo>
                  <a:pt x="52556242" y="7160788"/>
                </a:lnTo>
                <a:lnTo>
                  <a:pt x="0" y="7160788"/>
                </a:lnTo>
                <a:lnTo>
                  <a:pt x="0" y="0"/>
                </a:lnTo>
                <a:close/>
              </a:path>
            </a:pathLst>
          </a:custGeom>
          <a:blipFill>
            <a:blip r:embed="rId2">
              <a:alphaModFix amt="15000"/>
            </a:blip>
            <a:stretch>
              <a:fillRect/>
            </a:stretch>
          </a:blipFill>
        </p:spPr>
      </p:sp>
      <p:sp>
        <p:nvSpPr>
          <p:cNvPr id="4" name="TextBox 4"/>
          <p:cNvSpPr txBox="1"/>
          <p:nvPr/>
        </p:nvSpPr>
        <p:spPr>
          <a:xfrm>
            <a:off x="1028700" y="2079273"/>
            <a:ext cx="7217520" cy="835972"/>
          </a:xfrm>
          <a:prstGeom prst="rect">
            <a:avLst/>
          </a:prstGeom>
        </p:spPr>
        <p:txBody>
          <a:bodyPr lIns="0" tIns="0" rIns="0" bIns="0" rtlCol="0" anchor="t">
            <a:spAutoFit/>
          </a:bodyPr>
          <a:lstStyle/>
          <a:p>
            <a:pPr marL="0" lvl="0" indent="0" algn="l">
              <a:lnSpc>
                <a:spcPts val="6252"/>
              </a:lnSpc>
            </a:pPr>
            <a:r>
              <a:rPr lang="en-US" sz="6445" b="1">
                <a:solidFill>
                  <a:srgbClr val="A94BC6"/>
                </a:solidFill>
                <a:latin typeface="TT Interphases Bold"/>
                <a:ea typeface="TT Interphases Bold"/>
                <a:cs typeface="TT Interphases Bold"/>
                <a:sym typeface="TT Interphases Bold"/>
              </a:rPr>
              <a:t>Memory &amp; Context</a:t>
            </a:r>
          </a:p>
        </p:txBody>
      </p:sp>
      <p:sp>
        <p:nvSpPr>
          <p:cNvPr id="5" name="Freeform 5"/>
          <p:cNvSpPr/>
          <p:nvPr/>
        </p:nvSpPr>
        <p:spPr>
          <a:xfrm>
            <a:off x="-431506" y="2115465"/>
            <a:ext cx="1248533" cy="2534416"/>
          </a:xfrm>
          <a:custGeom>
            <a:avLst/>
            <a:gdLst/>
            <a:ahLst/>
            <a:cxnLst/>
            <a:rect l="l" t="t" r="r" b="b"/>
            <a:pathLst>
              <a:path w="1248533" h="2534416">
                <a:moveTo>
                  <a:pt x="0" y="0"/>
                </a:moveTo>
                <a:lnTo>
                  <a:pt x="1248533" y="0"/>
                </a:lnTo>
                <a:lnTo>
                  <a:pt x="1248533" y="2534416"/>
                </a:lnTo>
                <a:lnTo>
                  <a:pt x="0" y="2534416"/>
                </a:lnTo>
                <a:lnTo>
                  <a:pt x="0" y="0"/>
                </a:lnTo>
                <a:close/>
              </a:path>
            </a:pathLst>
          </a:custGeom>
          <a:blipFill>
            <a:blip r:embed="rId3"/>
            <a:stretch>
              <a:fillRect/>
            </a:stretch>
          </a:blipFill>
        </p:spPr>
      </p:sp>
      <p:sp>
        <p:nvSpPr>
          <p:cNvPr id="6" name="Freeform 6"/>
          <p:cNvSpPr/>
          <p:nvPr/>
        </p:nvSpPr>
        <p:spPr>
          <a:xfrm rot="-5400000">
            <a:off x="9356748" y="8168662"/>
            <a:ext cx="1639686" cy="3328423"/>
          </a:xfrm>
          <a:custGeom>
            <a:avLst/>
            <a:gdLst/>
            <a:ahLst/>
            <a:cxnLst/>
            <a:rect l="l" t="t" r="r" b="b"/>
            <a:pathLst>
              <a:path w="1639686" h="3328423">
                <a:moveTo>
                  <a:pt x="0" y="0"/>
                </a:moveTo>
                <a:lnTo>
                  <a:pt x="1639686" y="0"/>
                </a:lnTo>
                <a:lnTo>
                  <a:pt x="1639686" y="3328423"/>
                </a:lnTo>
                <a:lnTo>
                  <a:pt x="0" y="3328423"/>
                </a:lnTo>
                <a:lnTo>
                  <a:pt x="0" y="0"/>
                </a:lnTo>
                <a:close/>
              </a:path>
            </a:pathLst>
          </a:custGeom>
          <a:blipFill>
            <a:blip r:embed="rId3"/>
            <a:stretch>
              <a:fillRect/>
            </a:stretch>
          </a:blipFill>
        </p:spPr>
      </p:sp>
      <p:sp>
        <p:nvSpPr>
          <p:cNvPr id="7" name="Freeform 7"/>
          <p:cNvSpPr/>
          <p:nvPr/>
        </p:nvSpPr>
        <p:spPr>
          <a:xfrm rot="3975364">
            <a:off x="9293043" y="-6575706"/>
            <a:ext cx="8901609" cy="8923919"/>
          </a:xfrm>
          <a:custGeom>
            <a:avLst/>
            <a:gdLst/>
            <a:ahLst/>
            <a:cxnLst/>
            <a:rect l="l" t="t" r="r" b="b"/>
            <a:pathLst>
              <a:path w="8901609" h="8923919">
                <a:moveTo>
                  <a:pt x="0" y="0"/>
                </a:moveTo>
                <a:lnTo>
                  <a:pt x="8901609" y="0"/>
                </a:lnTo>
                <a:lnTo>
                  <a:pt x="8901609" y="8923919"/>
                </a:lnTo>
                <a:lnTo>
                  <a:pt x="0" y="8923919"/>
                </a:lnTo>
                <a:lnTo>
                  <a:pt x="0" y="0"/>
                </a:lnTo>
                <a:close/>
              </a:path>
            </a:pathLst>
          </a:custGeom>
          <a:blipFill>
            <a:blip r:embed="rId4">
              <a:alphaModFix amt="50000"/>
            </a:blip>
            <a:stretch>
              <a:fillRect/>
            </a:stretch>
          </a:blipFill>
        </p:spPr>
      </p:sp>
      <p:sp>
        <p:nvSpPr>
          <p:cNvPr id="8" name="TextBox 8"/>
          <p:cNvSpPr txBox="1"/>
          <p:nvPr/>
        </p:nvSpPr>
        <p:spPr>
          <a:xfrm>
            <a:off x="1028700" y="3602022"/>
            <a:ext cx="10034949" cy="1591791"/>
          </a:xfrm>
          <a:prstGeom prst="rect">
            <a:avLst/>
          </a:prstGeom>
        </p:spPr>
        <p:txBody>
          <a:bodyPr lIns="0" tIns="0" rIns="0" bIns="0" rtlCol="0" anchor="t">
            <a:spAutoFit/>
          </a:bodyPr>
          <a:lstStyle/>
          <a:p>
            <a:pPr marL="0" lvl="0" indent="0" algn="l">
              <a:lnSpc>
                <a:spcPts val="1835"/>
              </a:lnSpc>
            </a:pPr>
            <a:r>
              <a:rPr lang="en-US" sz="1412">
                <a:solidFill>
                  <a:srgbClr val="FFFFFF"/>
                </a:solidFill>
                <a:latin typeface="TT Interphases"/>
                <a:ea typeface="TT Interphases"/>
                <a:cs typeface="TT Interphases"/>
                <a:sym typeface="TT Interphases"/>
              </a:rPr>
              <a:t>The Finance Knowledge Assistant maintains conversational continuity using a rolling chat history buffer. Each user query is enriched with prior exchanges before being passed to the retrieval pipeline, allowing the system to resolve ambiguous follow-up questions like "What about Infosys?" without losing context. The context window is carefully managed to balance memory depth with token efficiency, retaining the most relevant recent turns. A question-rewriting step reformulates vague or pronoun-heavy queries into standalone, retrieval-ready questions. This enables multi-turn dialogues over financial statements — users can drill into revenue trends, compare companies, or ask clarifying questions naturally, with the assistant grounding each response in the retrieved document context rather than hallucinating from prior conversation alone.</a:t>
            </a:r>
          </a:p>
        </p:txBody>
      </p:sp>
      <p:grpSp>
        <p:nvGrpSpPr>
          <p:cNvPr id="9" name="Group 9"/>
          <p:cNvGrpSpPr/>
          <p:nvPr/>
        </p:nvGrpSpPr>
        <p:grpSpPr>
          <a:xfrm>
            <a:off x="1028700" y="8767760"/>
            <a:ext cx="4726694" cy="490540"/>
            <a:chOff x="0" y="0"/>
            <a:chExt cx="3915949" cy="406400"/>
          </a:xfrm>
        </p:grpSpPr>
        <p:sp>
          <p:nvSpPr>
            <p:cNvPr id="10" name="Freeform 10"/>
            <p:cNvSpPr/>
            <p:nvPr/>
          </p:nvSpPr>
          <p:spPr>
            <a:xfrm>
              <a:off x="0" y="0"/>
              <a:ext cx="3915949" cy="406400"/>
            </a:xfrm>
            <a:custGeom>
              <a:avLst/>
              <a:gdLst/>
              <a:ahLst/>
              <a:cxnLst/>
              <a:rect l="l" t="t" r="r" b="b"/>
              <a:pathLst>
                <a:path w="3915949" h="406400">
                  <a:moveTo>
                    <a:pt x="3712749" y="0"/>
                  </a:moveTo>
                  <a:cubicBezTo>
                    <a:pt x="3824973" y="0"/>
                    <a:pt x="3915949" y="90976"/>
                    <a:pt x="3915949" y="203200"/>
                  </a:cubicBezTo>
                  <a:cubicBezTo>
                    <a:pt x="3915949" y="315424"/>
                    <a:pt x="3824973" y="406400"/>
                    <a:pt x="3712749" y="406400"/>
                  </a:cubicBezTo>
                  <a:lnTo>
                    <a:pt x="203200" y="406400"/>
                  </a:lnTo>
                  <a:cubicBezTo>
                    <a:pt x="90976" y="406400"/>
                    <a:pt x="0" y="315424"/>
                    <a:pt x="0" y="203200"/>
                  </a:cubicBezTo>
                  <a:cubicBezTo>
                    <a:pt x="0" y="90976"/>
                    <a:pt x="90976" y="0"/>
                    <a:pt x="203200" y="0"/>
                  </a:cubicBezTo>
                  <a:close/>
                </a:path>
              </a:pathLst>
            </a:custGeom>
            <a:gradFill rotWithShape="1">
              <a:gsLst>
                <a:gs pos="0">
                  <a:srgbClr val="401D89">
                    <a:alpha val="100000"/>
                  </a:srgbClr>
                </a:gs>
                <a:gs pos="100000">
                  <a:srgbClr val="D2689C">
                    <a:alpha val="100000"/>
                  </a:srgbClr>
                </a:gs>
              </a:gsLst>
              <a:lin ang="0"/>
            </a:gradFill>
          </p:spPr>
        </p:sp>
        <p:sp>
          <p:nvSpPr>
            <p:cNvPr id="11" name="TextBox 11"/>
            <p:cNvSpPr txBox="1"/>
            <p:nvPr/>
          </p:nvSpPr>
          <p:spPr>
            <a:xfrm>
              <a:off x="0" y="-57150"/>
              <a:ext cx="3915949" cy="463550"/>
            </a:xfrm>
            <a:prstGeom prst="rect">
              <a:avLst/>
            </a:prstGeom>
          </p:spPr>
          <p:txBody>
            <a:bodyPr lIns="50800" tIns="50800" rIns="50800" bIns="50800" rtlCol="0" anchor="ctr"/>
            <a:lstStyle/>
            <a:p>
              <a:pPr marL="0" lvl="0" indent="0" algn="ctr">
                <a:lnSpc>
                  <a:spcPts val="3359"/>
                </a:lnSpc>
              </a:pPr>
              <a:endParaRPr/>
            </a:p>
          </p:txBody>
        </p:sp>
      </p:grpSp>
      <p:sp>
        <p:nvSpPr>
          <p:cNvPr id="12" name="TextBox 12"/>
          <p:cNvSpPr txBox="1"/>
          <p:nvPr/>
        </p:nvSpPr>
        <p:spPr>
          <a:xfrm>
            <a:off x="1525025" y="8795848"/>
            <a:ext cx="3734045" cy="230832"/>
          </a:xfrm>
          <a:prstGeom prst="rect">
            <a:avLst/>
          </a:prstGeom>
        </p:spPr>
        <p:txBody>
          <a:bodyPr lIns="0" tIns="0" rIns="0" bIns="0" rtlCol="0" anchor="t">
            <a:spAutoFit/>
          </a:bodyPr>
          <a:lstStyle/>
          <a:p>
            <a:pPr marL="0" lvl="0" indent="0" algn="ctr">
              <a:lnSpc>
                <a:spcPts val="1976"/>
              </a:lnSpc>
              <a:spcBef>
                <a:spcPct val="0"/>
              </a:spcBef>
            </a:pPr>
            <a:r>
              <a:rPr lang="en-US" sz="1412">
                <a:solidFill>
                  <a:srgbClr val="FFFFFF"/>
                </a:solidFill>
                <a:latin typeface="TT Interphases"/>
                <a:ea typeface="TT Interphases"/>
                <a:cs typeface="TT Interphases"/>
                <a:sym typeface="TT Interphases"/>
              </a:rPr>
              <a:t>Finance Knowledge Assistant — RAG Capstone</a:t>
            </a:r>
          </a:p>
        </p:txBody>
      </p:sp>
      <p:grpSp>
        <p:nvGrpSpPr>
          <p:cNvPr id="13" name="Group 13"/>
          <p:cNvGrpSpPr/>
          <p:nvPr/>
        </p:nvGrpSpPr>
        <p:grpSpPr>
          <a:xfrm>
            <a:off x="11840802" y="3611547"/>
            <a:ext cx="5405162" cy="993858"/>
            <a:chOff x="0" y="0"/>
            <a:chExt cx="2210233" cy="406400"/>
          </a:xfrm>
        </p:grpSpPr>
        <p:sp>
          <p:nvSpPr>
            <p:cNvPr id="14" name="Freeform 14"/>
            <p:cNvSpPr/>
            <p:nvPr/>
          </p:nvSpPr>
          <p:spPr>
            <a:xfrm>
              <a:off x="0" y="0"/>
              <a:ext cx="2210233" cy="406400"/>
            </a:xfrm>
            <a:custGeom>
              <a:avLst/>
              <a:gdLst/>
              <a:ahLst/>
              <a:cxnLst/>
              <a:rect l="l" t="t" r="r" b="b"/>
              <a:pathLst>
                <a:path w="2210233" h="406400">
                  <a:moveTo>
                    <a:pt x="2007033" y="0"/>
                  </a:moveTo>
                  <a:cubicBezTo>
                    <a:pt x="2119257" y="0"/>
                    <a:pt x="2210233" y="90976"/>
                    <a:pt x="2210233" y="203200"/>
                  </a:cubicBezTo>
                  <a:cubicBezTo>
                    <a:pt x="2210233" y="315424"/>
                    <a:pt x="2119257" y="406400"/>
                    <a:pt x="2007033"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5" name="TextBox 15"/>
            <p:cNvSpPr txBox="1"/>
            <p:nvPr/>
          </p:nvSpPr>
          <p:spPr>
            <a:xfrm>
              <a:off x="0" y="-57150"/>
              <a:ext cx="2210233" cy="463550"/>
            </a:xfrm>
            <a:prstGeom prst="rect">
              <a:avLst/>
            </a:prstGeom>
          </p:spPr>
          <p:txBody>
            <a:bodyPr lIns="50800" tIns="50800" rIns="50800" bIns="50800" rtlCol="0" anchor="ctr"/>
            <a:lstStyle/>
            <a:p>
              <a:pPr marL="0" lvl="0" indent="0" algn="ctr">
                <a:lnSpc>
                  <a:spcPts val="3359"/>
                </a:lnSpc>
              </a:pPr>
              <a:endParaRPr/>
            </a:p>
          </p:txBody>
        </p:sp>
      </p:grpSp>
      <p:sp>
        <p:nvSpPr>
          <p:cNvPr id="16" name="TextBox 16"/>
          <p:cNvSpPr txBox="1"/>
          <p:nvPr/>
        </p:nvSpPr>
        <p:spPr>
          <a:xfrm>
            <a:off x="12389665" y="3772146"/>
            <a:ext cx="4307436" cy="375609"/>
          </a:xfrm>
          <a:prstGeom prst="rect">
            <a:avLst/>
          </a:prstGeom>
        </p:spPr>
        <p:txBody>
          <a:bodyPr lIns="0" tIns="0" rIns="0" bIns="0" rtlCol="0" anchor="t">
            <a:spAutoFit/>
          </a:bodyPr>
          <a:lstStyle/>
          <a:p>
            <a:pPr marL="0" lvl="0" indent="0" algn="ctr">
              <a:lnSpc>
                <a:spcPts val="3027"/>
              </a:lnSpc>
              <a:spcBef>
                <a:spcPct val="0"/>
              </a:spcBef>
            </a:pPr>
            <a:r>
              <a:rPr lang="en-US" sz="2162">
                <a:solidFill>
                  <a:srgbClr val="FFFFFF"/>
                </a:solidFill>
                <a:latin typeface="TT Interphases"/>
                <a:ea typeface="TT Interphases"/>
                <a:cs typeface="TT Interphases"/>
                <a:sym typeface="TT Interphases"/>
              </a:rPr>
              <a:t>Chat History Buffer</a:t>
            </a:r>
          </a:p>
        </p:txBody>
      </p:sp>
      <p:grpSp>
        <p:nvGrpSpPr>
          <p:cNvPr id="17" name="Group 17"/>
          <p:cNvGrpSpPr/>
          <p:nvPr/>
        </p:nvGrpSpPr>
        <p:grpSpPr>
          <a:xfrm>
            <a:off x="11840802" y="4794374"/>
            <a:ext cx="5405162" cy="993858"/>
            <a:chOff x="0" y="0"/>
            <a:chExt cx="2210233" cy="406400"/>
          </a:xfrm>
        </p:grpSpPr>
        <p:sp>
          <p:nvSpPr>
            <p:cNvPr id="18" name="Freeform 18"/>
            <p:cNvSpPr/>
            <p:nvPr/>
          </p:nvSpPr>
          <p:spPr>
            <a:xfrm>
              <a:off x="0" y="0"/>
              <a:ext cx="2210233" cy="406400"/>
            </a:xfrm>
            <a:custGeom>
              <a:avLst/>
              <a:gdLst/>
              <a:ahLst/>
              <a:cxnLst/>
              <a:rect l="l" t="t" r="r" b="b"/>
              <a:pathLst>
                <a:path w="2210233" h="406400">
                  <a:moveTo>
                    <a:pt x="2007033" y="0"/>
                  </a:moveTo>
                  <a:cubicBezTo>
                    <a:pt x="2119257" y="0"/>
                    <a:pt x="2210233" y="90976"/>
                    <a:pt x="2210233" y="203200"/>
                  </a:cubicBezTo>
                  <a:cubicBezTo>
                    <a:pt x="2210233" y="315424"/>
                    <a:pt x="2119257" y="406400"/>
                    <a:pt x="2007033"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9" name="TextBox 19"/>
            <p:cNvSpPr txBox="1"/>
            <p:nvPr/>
          </p:nvSpPr>
          <p:spPr>
            <a:xfrm>
              <a:off x="0" y="-57150"/>
              <a:ext cx="2210233" cy="463550"/>
            </a:xfrm>
            <a:prstGeom prst="rect">
              <a:avLst/>
            </a:prstGeom>
          </p:spPr>
          <p:txBody>
            <a:bodyPr lIns="50800" tIns="50800" rIns="50800" bIns="50800" rtlCol="0" anchor="ctr"/>
            <a:lstStyle/>
            <a:p>
              <a:pPr marL="0" lvl="0" indent="0" algn="ctr">
                <a:lnSpc>
                  <a:spcPts val="3359"/>
                </a:lnSpc>
              </a:pPr>
              <a:endParaRPr/>
            </a:p>
          </p:txBody>
        </p:sp>
      </p:grpSp>
      <p:sp>
        <p:nvSpPr>
          <p:cNvPr id="20" name="TextBox 20"/>
          <p:cNvSpPr txBox="1"/>
          <p:nvPr/>
        </p:nvSpPr>
        <p:spPr>
          <a:xfrm>
            <a:off x="12389665" y="4954973"/>
            <a:ext cx="4307436" cy="375609"/>
          </a:xfrm>
          <a:prstGeom prst="rect">
            <a:avLst/>
          </a:prstGeom>
        </p:spPr>
        <p:txBody>
          <a:bodyPr lIns="0" tIns="0" rIns="0" bIns="0" rtlCol="0" anchor="t">
            <a:spAutoFit/>
          </a:bodyPr>
          <a:lstStyle/>
          <a:p>
            <a:pPr marL="0" lvl="0" indent="0" algn="ctr">
              <a:lnSpc>
                <a:spcPts val="3027"/>
              </a:lnSpc>
              <a:spcBef>
                <a:spcPct val="0"/>
              </a:spcBef>
            </a:pPr>
            <a:r>
              <a:rPr lang="en-US" sz="2162">
                <a:solidFill>
                  <a:srgbClr val="FFFFFF"/>
                </a:solidFill>
                <a:latin typeface="TT Interphases"/>
                <a:ea typeface="TT Interphases"/>
                <a:cs typeface="TT Interphases"/>
                <a:sym typeface="TT Interphases"/>
              </a:rPr>
              <a:t>Context Window Mgmt</a:t>
            </a:r>
          </a:p>
        </p:txBody>
      </p:sp>
      <p:grpSp>
        <p:nvGrpSpPr>
          <p:cNvPr id="21" name="Group 21"/>
          <p:cNvGrpSpPr/>
          <p:nvPr/>
        </p:nvGrpSpPr>
        <p:grpSpPr>
          <a:xfrm>
            <a:off x="11840802" y="5977200"/>
            <a:ext cx="5405162" cy="993858"/>
            <a:chOff x="0" y="0"/>
            <a:chExt cx="2210233" cy="406400"/>
          </a:xfrm>
        </p:grpSpPr>
        <p:sp>
          <p:nvSpPr>
            <p:cNvPr id="22" name="Freeform 22"/>
            <p:cNvSpPr/>
            <p:nvPr/>
          </p:nvSpPr>
          <p:spPr>
            <a:xfrm>
              <a:off x="0" y="0"/>
              <a:ext cx="2210233" cy="406400"/>
            </a:xfrm>
            <a:custGeom>
              <a:avLst/>
              <a:gdLst/>
              <a:ahLst/>
              <a:cxnLst/>
              <a:rect l="l" t="t" r="r" b="b"/>
              <a:pathLst>
                <a:path w="2210233" h="406400">
                  <a:moveTo>
                    <a:pt x="2007033" y="0"/>
                  </a:moveTo>
                  <a:cubicBezTo>
                    <a:pt x="2119257" y="0"/>
                    <a:pt x="2210233" y="90976"/>
                    <a:pt x="2210233" y="203200"/>
                  </a:cubicBezTo>
                  <a:cubicBezTo>
                    <a:pt x="2210233" y="315424"/>
                    <a:pt x="2119257" y="406400"/>
                    <a:pt x="2007033"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23" name="TextBox 23"/>
            <p:cNvSpPr txBox="1"/>
            <p:nvPr/>
          </p:nvSpPr>
          <p:spPr>
            <a:xfrm>
              <a:off x="0" y="-57150"/>
              <a:ext cx="2210233" cy="463550"/>
            </a:xfrm>
            <a:prstGeom prst="rect">
              <a:avLst/>
            </a:prstGeom>
          </p:spPr>
          <p:txBody>
            <a:bodyPr lIns="50800" tIns="50800" rIns="50800" bIns="50800" rtlCol="0" anchor="ctr"/>
            <a:lstStyle/>
            <a:p>
              <a:pPr marL="0" lvl="0" indent="0" algn="ctr">
                <a:lnSpc>
                  <a:spcPts val="3359"/>
                </a:lnSpc>
              </a:pPr>
              <a:endParaRPr/>
            </a:p>
          </p:txBody>
        </p:sp>
      </p:grpSp>
      <p:sp>
        <p:nvSpPr>
          <p:cNvPr id="24" name="TextBox 24"/>
          <p:cNvSpPr txBox="1"/>
          <p:nvPr/>
        </p:nvSpPr>
        <p:spPr>
          <a:xfrm>
            <a:off x="12389665" y="6137799"/>
            <a:ext cx="4307436" cy="375609"/>
          </a:xfrm>
          <a:prstGeom prst="rect">
            <a:avLst/>
          </a:prstGeom>
        </p:spPr>
        <p:txBody>
          <a:bodyPr lIns="0" tIns="0" rIns="0" bIns="0" rtlCol="0" anchor="t">
            <a:spAutoFit/>
          </a:bodyPr>
          <a:lstStyle/>
          <a:p>
            <a:pPr marL="0" lvl="0" indent="0" algn="ctr">
              <a:lnSpc>
                <a:spcPts val="3027"/>
              </a:lnSpc>
              <a:spcBef>
                <a:spcPct val="0"/>
              </a:spcBef>
            </a:pPr>
            <a:r>
              <a:rPr lang="en-US" sz="2162">
                <a:solidFill>
                  <a:srgbClr val="FFFFFF"/>
                </a:solidFill>
                <a:latin typeface="TT Interphases"/>
                <a:ea typeface="TT Interphases"/>
                <a:cs typeface="TT Interphases"/>
                <a:sym typeface="TT Interphases"/>
              </a:rPr>
              <a:t>Query Rewriting</a:t>
            </a:r>
          </a:p>
        </p:txBody>
      </p:sp>
      <p:grpSp>
        <p:nvGrpSpPr>
          <p:cNvPr id="25" name="Group 25"/>
          <p:cNvGrpSpPr/>
          <p:nvPr/>
        </p:nvGrpSpPr>
        <p:grpSpPr>
          <a:xfrm>
            <a:off x="11840802" y="7160027"/>
            <a:ext cx="5405162" cy="993858"/>
            <a:chOff x="0" y="0"/>
            <a:chExt cx="2210233" cy="406400"/>
          </a:xfrm>
        </p:grpSpPr>
        <p:sp>
          <p:nvSpPr>
            <p:cNvPr id="26" name="Freeform 26"/>
            <p:cNvSpPr/>
            <p:nvPr/>
          </p:nvSpPr>
          <p:spPr>
            <a:xfrm>
              <a:off x="0" y="0"/>
              <a:ext cx="2210233" cy="406400"/>
            </a:xfrm>
            <a:custGeom>
              <a:avLst/>
              <a:gdLst/>
              <a:ahLst/>
              <a:cxnLst/>
              <a:rect l="l" t="t" r="r" b="b"/>
              <a:pathLst>
                <a:path w="2210233" h="406400">
                  <a:moveTo>
                    <a:pt x="2007033" y="0"/>
                  </a:moveTo>
                  <a:cubicBezTo>
                    <a:pt x="2119257" y="0"/>
                    <a:pt x="2210233" y="90976"/>
                    <a:pt x="2210233" y="203200"/>
                  </a:cubicBezTo>
                  <a:cubicBezTo>
                    <a:pt x="2210233" y="315424"/>
                    <a:pt x="2119257" y="406400"/>
                    <a:pt x="2007033"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27" name="TextBox 27"/>
            <p:cNvSpPr txBox="1"/>
            <p:nvPr/>
          </p:nvSpPr>
          <p:spPr>
            <a:xfrm>
              <a:off x="0" y="-57150"/>
              <a:ext cx="2210233" cy="463550"/>
            </a:xfrm>
            <a:prstGeom prst="rect">
              <a:avLst/>
            </a:prstGeom>
          </p:spPr>
          <p:txBody>
            <a:bodyPr lIns="50800" tIns="50800" rIns="50800" bIns="50800" rtlCol="0" anchor="ctr"/>
            <a:lstStyle/>
            <a:p>
              <a:pPr marL="0" lvl="0" indent="0" algn="ctr">
                <a:lnSpc>
                  <a:spcPts val="3359"/>
                </a:lnSpc>
              </a:pPr>
              <a:endParaRPr/>
            </a:p>
          </p:txBody>
        </p:sp>
      </p:grpSp>
      <p:sp>
        <p:nvSpPr>
          <p:cNvPr id="28" name="TextBox 28"/>
          <p:cNvSpPr txBox="1"/>
          <p:nvPr/>
        </p:nvSpPr>
        <p:spPr>
          <a:xfrm>
            <a:off x="12389665" y="7320626"/>
            <a:ext cx="4307436" cy="375609"/>
          </a:xfrm>
          <a:prstGeom prst="rect">
            <a:avLst/>
          </a:prstGeom>
        </p:spPr>
        <p:txBody>
          <a:bodyPr lIns="0" tIns="0" rIns="0" bIns="0" rtlCol="0" anchor="t">
            <a:spAutoFit/>
          </a:bodyPr>
          <a:lstStyle/>
          <a:p>
            <a:pPr marL="0" lvl="0" indent="0" algn="ctr">
              <a:lnSpc>
                <a:spcPts val="3027"/>
              </a:lnSpc>
              <a:spcBef>
                <a:spcPct val="0"/>
              </a:spcBef>
            </a:pPr>
            <a:r>
              <a:rPr lang="en-US" sz="2162">
                <a:solidFill>
                  <a:srgbClr val="FFFFFF"/>
                </a:solidFill>
                <a:latin typeface="TT Interphases"/>
                <a:ea typeface="TT Interphases"/>
                <a:cs typeface="TT Interphases"/>
                <a:sym typeface="TT Interphases"/>
              </a:rPr>
              <a:t>Multi-Turn Dialogue</a:t>
            </a:r>
          </a:p>
        </p:txBody>
      </p:sp>
      <p:sp>
        <p:nvSpPr>
          <p:cNvPr id="30" name="Freeform 30"/>
          <p:cNvSpPr/>
          <p:nvPr/>
        </p:nvSpPr>
        <p:spPr>
          <a:xfrm>
            <a:off x="16672539" y="9002223"/>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r:embed="rId5" cstate="print">
              <a:extLst>
                <a:ext uri="{96DAC541-7B7A-43D3-8B79-37D633B846F1}">
                  <asvg:svgBlip xmlns:asvg="http://schemas.microsoft.com/office/drawing/2016/SVG/main" xmlns="" r:embed="rId8"/>
                </a:ext>
              </a:extLst>
            </a:blip>
            <a:stretch>
              <a:fillRect t="-106388" r="-103152"/>
            </a:stretch>
          </a:blipFill>
        </p:spPr>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859737">
            <a:off x="-4918715" y="5323592"/>
            <a:ext cx="37855020" cy="5299703"/>
          </a:xfrm>
          <a:custGeom>
            <a:avLst/>
            <a:gdLst/>
            <a:ahLst/>
            <a:cxnLst/>
            <a:rect l="l" t="t" r="r" b="b"/>
            <a:pathLst>
              <a:path w="37855020" h="5299703">
                <a:moveTo>
                  <a:pt x="0" y="0"/>
                </a:moveTo>
                <a:lnTo>
                  <a:pt x="37855021" y="0"/>
                </a:lnTo>
                <a:lnTo>
                  <a:pt x="37855021" y="5299703"/>
                </a:lnTo>
                <a:lnTo>
                  <a:pt x="0" y="5299703"/>
                </a:lnTo>
                <a:lnTo>
                  <a:pt x="0" y="0"/>
                </a:lnTo>
                <a:close/>
              </a:path>
            </a:pathLst>
          </a:custGeom>
          <a:blipFill>
            <a:blip r:embed="rId2">
              <a:alphaModFix amt="15000"/>
            </a:blip>
            <a:stretch>
              <a:fillRect/>
            </a:stretch>
          </a:blipFill>
        </p:spPr>
      </p:sp>
      <p:sp>
        <p:nvSpPr>
          <p:cNvPr id="3" name="Freeform 3"/>
          <p:cNvSpPr/>
          <p:nvPr/>
        </p:nvSpPr>
        <p:spPr>
          <a:xfrm rot="5400000" flipH="1">
            <a:off x="16439008" y="7391920"/>
            <a:ext cx="2220593" cy="4507614"/>
          </a:xfrm>
          <a:custGeom>
            <a:avLst/>
            <a:gdLst/>
            <a:ahLst/>
            <a:cxnLst/>
            <a:rect l="l" t="t" r="r" b="b"/>
            <a:pathLst>
              <a:path w="2220593" h="4507614">
                <a:moveTo>
                  <a:pt x="2220592" y="0"/>
                </a:moveTo>
                <a:lnTo>
                  <a:pt x="0" y="0"/>
                </a:lnTo>
                <a:lnTo>
                  <a:pt x="0" y="4507613"/>
                </a:lnTo>
                <a:lnTo>
                  <a:pt x="2220592" y="4507613"/>
                </a:lnTo>
                <a:lnTo>
                  <a:pt x="2220592" y="0"/>
                </a:lnTo>
                <a:close/>
              </a:path>
            </a:pathLst>
          </a:custGeom>
          <a:blipFill>
            <a:blip r:embed="rId3"/>
            <a:stretch>
              <a:fillRect/>
            </a:stretch>
          </a:blipFill>
        </p:spPr>
      </p:sp>
      <p:sp>
        <p:nvSpPr>
          <p:cNvPr id="4" name="Freeform 4"/>
          <p:cNvSpPr/>
          <p:nvPr/>
        </p:nvSpPr>
        <p:spPr>
          <a:xfrm rot="5400000" flipV="1">
            <a:off x="-279147" y="-1633942"/>
            <a:ext cx="2490075" cy="5054639"/>
          </a:xfrm>
          <a:custGeom>
            <a:avLst/>
            <a:gdLst/>
            <a:ahLst/>
            <a:cxnLst/>
            <a:rect l="l" t="t" r="r" b="b"/>
            <a:pathLst>
              <a:path w="2490075" h="5054639">
                <a:moveTo>
                  <a:pt x="0" y="5054639"/>
                </a:moveTo>
                <a:lnTo>
                  <a:pt x="2490075" y="5054639"/>
                </a:lnTo>
                <a:lnTo>
                  <a:pt x="2490075" y="0"/>
                </a:lnTo>
                <a:lnTo>
                  <a:pt x="0" y="0"/>
                </a:lnTo>
                <a:lnTo>
                  <a:pt x="0" y="5054639"/>
                </a:lnTo>
                <a:close/>
              </a:path>
            </a:pathLst>
          </a:custGeom>
          <a:blipFill>
            <a:blip r:embed="rId3"/>
            <a:stretch>
              <a:fillRect/>
            </a:stretch>
          </a:blipFill>
        </p:spPr>
      </p:sp>
      <p:sp>
        <p:nvSpPr>
          <p:cNvPr id="5" name="TextBox 5"/>
          <p:cNvSpPr txBox="1"/>
          <p:nvPr/>
        </p:nvSpPr>
        <p:spPr>
          <a:xfrm>
            <a:off x="11079818" y="1162050"/>
            <a:ext cx="6179482" cy="728842"/>
          </a:xfrm>
          <a:prstGeom prst="rect">
            <a:avLst/>
          </a:prstGeom>
        </p:spPr>
        <p:txBody>
          <a:bodyPr lIns="0" tIns="0" rIns="0" bIns="0" rtlCol="0" anchor="t">
            <a:spAutoFit/>
          </a:bodyPr>
          <a:lstStyle/>
          <a:p>
            <a:pPr marL="0" lvl="0" indent="0" algn="r">
              <a:lnSpc>
                <a:spcPts val="5541"/>
              </a:lnSpc>
            </a:pPr>
            <a:r>
              <a:rPr lang="en-US" sz="5712">
                <a:solidFill>
                  <a:srgbClr val="FFFFFF"/>
                </a:solidFill>
                <a:latin typeface="TT Interphases"/>
                <a:ea typeface="TT Interphases"/>
                <a:cs typeface="TT Interphases"/>
                <a:sym typeface="TT Interphases"/>
              </a:rPr>
              <a:t>Retrieval Pipeline &amp;</a:t>
            </a:r>
          </a:p>
        </p:txBody>
      </p:sp>
      <p:sp>
        <p:nvSpPr>
          <p:cNvPr id="6" name="TextBox 6"/>
          <p:cNvSpPr txBox="1"/>
          <p:nvPr/>
        </p:nvSpPr>
        <p:spPr>
          <a:xfrm>
            <a:off x="7805912" y="2069748"/>
            <a:ext cx="9453388" cy="728842"/>
          </a:xfrm>
          <a:prstGeom prst="rect">
            <a:avLst/>
          </a:prstGeom>
        </p:spPr>
        <p:txBody>
          <a:bodyPr lIns="0" tIns="0" rIns="0" bIns="0" rtlCol="0" anchor="t">
            <a:spAutoFit/>
          </a:bodyPr>
          <a:lstStyle/>
          <a:p>
            <a:pPr marL="0" lvl="0" indent="0" algn="r">
              <a:lnSpc>
                <a:spcPts val="5541"/>
              </a:lnSpc>
            </a:pPr>
            <a:r>
              <a:rPr lang="en-US" sz="5712" b="1">
                <a:solidFill>
                  <a:srgbClr val="A94BC6"/>
                </a:solidFill>
                <a:latin typeface="TT Interphases Bold"/>
                <a:ea typeface="TT Interphases Bold"/>
                <a:cs typeface="TT Interphases Bold"/>
                <a:sym typeface="TT Interphases Bold"/>
              </a:rPr>
              <a:t>Filter Logic</a:t>
            </a:r>
          </a:p>
        </p:txBody>
      </p:sp>
      <p:sp>
        <p:nvSpPr>
          <p:cNvPr id="7" name="TextBox 7"/>
          <p:cNvSpPr txBox="1"/>
          <p:nvPr/>
        </p:nvSpPr>
        <p:spPr>
          <a:xfrm>
            <a:off x="1525025" y="3747185"/>
            <a:ext cx="7771971" cy="1757923"/>
          </a:xfrm>
          <a:prstGeom prst="rect">
            <a:avLst/>
          </a:prstGeom>
        </p:spPr>
        <p:txBody>
          <a:bodyPr lIns="0" tIns="0" rIns="0" bIns="0" rtlCol="0" anchor="t">
            <a:spAutoFit/>
          </a:bodyPr>
          <a:lstStyle/>
          <a:p>
            <a:pPr marL="0" lvl="0" indent="0" algn="ctr">
              <a:lnSpc>
                <a:spcPts val="2380"/>
              </a:lnSpc>
            </a:pPr>
            <a:r>
              <a:rPr lang="en-US" sz="1830">
                <a:solidFill>
                  <a:srgbClr val="FFFFFF"/>
                </a:solidFill>
                <a:latin typeface="TT Interphases"/>
                <a:ea typeface="TT Interphases"/>
                <a:cs typeface="TT Interphases"/>
                <a:sym typeface="TT Interphases"/>
              </a:rPr>
              <a:t>The retrieval pipeline transforms user queries into precise, context-aware answers by combining query embedding, metadata filtering, and semantic similarity search. Each step ensures only the most relevant financial data is surfaced. Metadata filters narrow the search space by company, statement type, and fiscal year, while cosine similarity ranking selects the top-k most contextually aligned document chunks for grounded answer generation.</a:t>
            </a:r>
          </a:p>
        </p:txBody>
      </p:sp>
      <p:grpSp>
        <p:nvGrpSpPr>
          <p:cNvPr id="8" name="Group 8"/>
          <p:cNvGrpSpPr/>
          <p:nvPr/>
        </p:nvGrpSpPr>
        <p:grpSpPr>
          <a:xfrm>
            <a:off x="10236796" y="3581660"/>
            <a:ext cx="6068894" cy="747557"/>
            <a:chOff x="0" y="0"/>
            <a:chExt cx="8091859" cy="996742"/>
          </a:xfrm>
        </p:grpSpPr>
        <p:grpSp>
          <p:nvGrpSpPr>
            <p:cNvPr id="9" name="Group 9"/>
            <p:cNvGrpSpPr/>
            <p:nvPr/>
          </p:nvGrpSpPr>
          <p:grpSpPr>
            <a:xfrm>
              <a:off x="0" y="0"/>
              <a:ext cx="8091859" cy="996742"/>
              <a:chOff x="0" y="0"/>
              <a:chExt cx="3298963" cy="406361"/>
            </a:xfrm>
          </p:grpSpPr>
          <p:sp>
            <p:nvSpPr>
              <p:cNvPr id="10" name="Freeform 10"/>
              <p:cNvSpPr/>
              <p:nvPr/>
            </p:nvSpPr>
            <p:spPr>
              <a:xfrm>
                <a:off x="0" y="0"/>
                <a:ext cx="3298963" cy="406361"/>
              </a:xfrm>
              <a:custGeom>
                <a:avLst/>
                <a:gdLst/>
                <a:ahLst/>
                <a:cxnLst/>
                <a:rect l="l" t="t" r="r" b="b"/>
                <a:pathLst>
                  <a:path w="3298963" h="406361">
                    <a:moveTo>
                      <a:pt x="3095763" y="0"/>
                    </a:moveTo>
                    <a:cubicBezTo>
                      <a:pt x="3207987" y="0"/>
                      <a:pt x="3298963" y="90967"/>
                      <a:pt x="3298963" y="203180"/>
                    </a:cubicBezTo>
                    <a:cubicBezTo>
                      <a:pt x="3298963" y="315394"/>
                      <a:pt x="3207987" y="406361"/>
                      <a:pt x="3095763" y="406361"/>
                    </a:cubicBezTo>
                    <a:lnTo>
                      <a:pt x="203200" y="406361"/>
                    </a:lnTo>
                    <a:cubicBezTo>
                      <a:pt x="90976" y="406361"/>
                      <a:pt x="0" y="315394"/>
                      <a:pt x="0" y="203180"/>
                    </a:cubicBezTo>
                    <a:cubicBezTo>
                      <a:pt x="0" y="90967"/>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1" name="TextBox 11"/>
              <p:cNvSpPr txBox="1"/>
              <p:nvPr/>
            </p:nvSpPr>
            <p:spPr>
              <a:xfrm>
                <a:off x="0" y="-57150"/>
                <a:ext cx="3298963" cy="463511"/>
              </a:xfrm>
              <a:prstGeom prst="rect">
                <a:avLst/>
              </a:prstGeom>
            </p:spPr>
            <p:txBody>
              <a:bodyPr lIns="50800" tIns="50800" rIns="50800" bIns="50800" rtlCol="0" anchor="ctr"/>
              <a:lstStyle/>
              <a:p>
                <a:pPr marL="0" lvl="0" indent="0" algn="ctr">
                  <a:lnSpc>
                    <a:spcPts val="3359"/>
                  </a:lnSpc>
                </a:pPr>
                <a:endParaRPr/>
              </a:p>
            </p:txBody>
          </p:sp>
        </p:grpSp>
        <p:sp>
          <p:nvSpPr>
            <p:cNvPr id="12" name="TextBox 12"/>
            <p:cNvSpPr txBox="1"/>
            <p:nvPr/>
          </p:nvSpPr>
          <p:spPr>
            <a:xfrm>
              <a:off x="533929" y="220712"/>
              <a:ext cx="7024001" cy="631518"/>
            </a:xfrm>
            <a:prstGeom prst="rect">
              <a:avLst/>
            </a:prstGeom>
          </p:spPr>
          <p:txBody>
            <a:bodyPr lIns="0" tIns="0" rIns="0" bIns="0" rtlCol="0" anchor="t">
              <a:spAutoFit/>
            </a:bodyPr>
            <a:lstStyle/>
            <a:p>
              <a:pPr marL="0" lvl="0" indent="0" algn="ctr">
                <a:lnSpc>
                  <a:spcPts val="3392"/>
                </a:lnSpc>
              </a:pPr>
              <a:r>
                <a:rPr lang="en-US" sz="3497" b="1" i="1">
                  <a:solidFill>
                    <a:srgbClr val="FFFFFF"/>
                  </a:solidFill>
                  <a:latin typeface="TT Interphases Bold Italics"/>
                  <a:ea typeface="TT Interphases Bold Italics"/>
                  <a:cs typeface="TT Interphases Bold Italics"/>
                  <a:sym typeface="TT Interphases Bold Italics"/>
                </a:rPr>
                <a:t>Query Embedding</a:t>
              </a:r>
            </a:p>
          </p:txBody>
        </p:sp>
      </p:grpSp>
      <p:grpSp>
        <p:nvGrpSpPr>
          <p:cNvPr id="13" name="Group 13"/>
          <p:cNvGrpSpPr/>
          <p:nvPr/>
        </p:nvGrpSpPr>
        <p:grpSpPr>
          <a:xfrm>
            <a:off x="10236796" y="7062511"/>
            <a:ext cx="6068894" cy="747557"/>
            <a:chOff x="0" y="0"/>
            <a:chExt cx="8091859" cy="996742"/>
          </a:xfrm>
        </p:grpSpPr>
        <p:grpSp>
          <p:nvGrpSpPr>
            <p:cNvPr id="14" name="Group 14"/>
            <p:cNvGrpSpPr/>
            <p:nvPr/>
          </p:nvGrpSpPr>
          <p:grpSpPr>
            <a:xfrm>
              <a:off x="0" y="0"/>
              <a:ext cx="8091859" cy="996742"/>
              <a:chOff x="0" y="0"/>
              <a:chExt cx="3298963" cy="406361"/>
            </a:xfrm>
          </p:grpSpPr>
          <p:sp>
            <p:nvSpPr>
              <p:cNvPr id="15" name="Freeform 15"/>
              <p:cNvSpPr/>
              <p:nvPr/>
            </p:nvSpPr>
            <p:spPr>
              <a:xfrm>
                <a:off x="0" y="0"/>
                <a:ext cx="3298963" cy="406361"/>
              </a:xfrm>
              <a:custGeom>
                <a:avLst/>
                <a:gdLst/>
                <a:ahLst/>
                <a:cxnLst/>
                <a:rect l="l" t="t" r="r" b="b"/>
                <a:pathLst>
                  <a:path w="3298963" h="406361">
                    <a:moveTo>
                      <a:pt x="3095763" y="0"/>
                    </a:moveTo>
                    <a:cubicBezTo>
                      <a:pt x="3207987" y="0"/>
                      <a:pt x="3298963" y="90967"/>
                      <a:pt x="3298963" y="203180"/>
                    </a:cubicBezTo>
                    <a:cubicBezTo>
                      <a:pt x="3298963" y="315394"/>
                      <a:pt x="3207987" y="406361"/>
                      <a:pt x="3095763" y="406361"/>
                    </a:cubicBezTo>
                    <a:lnTo>
                      <a:pt x="203200" y="406361"/>
                    </a:lnTo>
                    <a:cubicBezTo>
                      <a:pt x="90976" y="406361"/>
                      <a:pt x="0" y="315394"/>
                      <a:pt x="0" y="203180"/>
                    </a:cubicBezTo>
                    <a:cubicBezTo>
                      <a:pt x="0" y="90967"/>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6" name="TextBox 16"/>
              <p:cNvSpPr txBox="1"/>
              <p:nvPr/>
            </p:nvSpPr>
            <p:spPr>
              <a:xfrm>
                <a:off x="0" y="-57150"/>
                <a:ext cx="3298963" cy="463511"/>
              </a:xfrm>
              <a:prstGeom prst="rect">
                <a:avLst/>
              </a:prstGeom>
            </p:spPr>
            <p:txBody>
              <a:bodyPr lIns="50800" tIns="50800" rIns="50800" bIns="50800" rtlCol="0" anchor="ctr"/>
              <a:lstStyle/>
              <a:p>
                <a:pPr marL="0" lvl="0" indent="0" algn="ctr">
                  <a:lnSpc>
                    <a:spcPts val="3359"/>
                  </a:lnSpc>
                </a:pPr>
                <a:endParaRPr/>
              </a:p>
            </p:txBody>
          </p:sp>
        </p:grpSp>
        <p:sp>
          <p:nvSpPr>
            <p:cNvPr id="17" name="TextBox 17"/>
            <p:cNvSpPr txBox="1"/>
            <p:nvPr/>
          </p:nvSpPr>
          <p:spPr>
            <a:xfrm>
              <a:off x="533929" y="220712"/>
              <a:ext cx="7024001" cy="631518"/>
            </a:xfrm>
            <a:prstGeom prst="rect">
              <a:avLst/>
            </a:prstGeom>
          </p:spPr>
          <p:txBody>
            <a:bodyPr lIns="0" tIns="0" rIns="0" bIns="0" rtlCol="0" anchor="t">
              <a:spAutoFit/>
            </a:bodyPr>
            <a:lstStyle/>
            <a:p>
              <a:pPr marL="0" lvl="0" indent="0" algn="ctr">
                <a:lnSpc>
                  <a:spcPts val="3392"/>
                </a:lnSpc>
              </a:pPr>
              <a:r>
                <a:rPr lang="en-US" sz="3497" b="1" i="1">
                  <a:solidFill>
                    <a:srgbClr val="FFFFFF"/>
                  </a:solidFill>
                  <a:latin typeface="TT Interphases Bold Italics"/>
                  <a:ea typeface="TT Interphases Bold Italics"/>
                  <a:cs typeface="TT Interphases Bold Italics"/>
                  <a:sym typeface="TT Interphases Bold Italics"/>
                </a:rPr>
                <a:t>Metadata Filtering</a:t>
              </a:r>
            </a:p>
          </p:txBody>
        </p:sp>
      </p:grpSp>
      <p:grpSp>
        <p:nvGrpSpPr>
          <p:cNvPr id="18" name="Group 18"/>
          <p:cNvGrpSpPr/>
          <p:nvPr/>
        </p:nvGrpSpPr>
        <p:grpSpPr>
          <a:xfrm>
            <a:off x="10236796" y="4741944"/>
            <a:ext cx="6068894" cy="747557"/>
            <a:chOff x="0" y="0"/>
            <a:chExt cx="8091859" cy="996742"/>
          </a:xfrm>
        </p:grpSpPr>
        <p:grpSp>
          <p:nvGrpSpPr>
            <p:cNvPr id="19" name="Group 19"/>
            <p:cNvGrpSpPr/>
            <p:nvPr/>
          </p:nvGrpSpPr>
          <p:grpSpPr>
            <a:xfrm>
              <a:off x="0" y="0"/>
              <a:ext cx="8091859" cy="996742"/>
              <a:chOff x="0" y="0"/>
              <a:chExt cx="3298963" cy="406361"/>
            </a:xfrm>
          </p:grpSpPr>
          <p:sp>
            <p:nvSpPr>
              <p:cNvPr id="20" name="Freeform 20"/>
              <p:cNvSpPr/>
              <p:nvPr/>
            </p:nvSpPr>
            <p:spPr>
              <a:xfrm>
                <a:off x="0" y="0"/>
                <a:ext cx="3298963" cy="406361"/>
              </a:xfrm>
              <a:custGeom>
                <a:avLst/>
                <a:gdLst/>
                <a:ahLst/>
                <a:cxnLst/>
                <a:rect l="l" t="t" r="r" b="b"/>
                <a:pathLst>
                  <a:path w="3298963" h="406361">
                    <a:moveTo>
                      <a:pt x="3095763" y="0"/>
                    </a:moveTo>
                    <a:cubicBezTo>
                      <a:pt x="3207987" y="0"/>
                      <a:pt x="3298963" y="90967"/>
                      <a:pt x="3298963" y="203180"/>
                    </a:cubicBezTo>
                    <a:cubicBezTo>
                      <a:pt x="3298963" y="315394"/>
                      <a:pt x="3207987" y="406361"/>
                      <a:pt x="3095763" y="406361"/>
                    </a:cubicBezTo>
                    <a:lnTo>
                      <a:pt x="203200" y="406361"/>
                    </a:lnTo>
                    <a:cubicBezTo>
                      <a:pt x="90976" y="406361"/>
                      <a:pt x="0" y="315394"/>
                      <a:pt x="0" y="203180"/>
                    </a:cubicBezTo>
                    <a:cubicBezTo>
                      <a:pt x="0" y="90967"/>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21" name="TextBox 21"/>
              <p:cNvSpPr txBox="1"/>
              <p:nvPr/>
            </p:nvSpPr>
            <p:spPr>
              <a:xfrm>
                <a:off x="0" y="-57150"/>
                <a:ext cx="3298963" cy="463511"/>
              </a:xfrm>
              <a:prstGeom prst="rect">
                <a:avLst/>
              </a:prstGeom>
            </p:spPr>
            <p:txBody>
              <a:bodyPr lIns="50800" tIns="50800" rIns="50800" bIns="50800" rtlCol="0" anchor="ctr"/>
              <a:lstStyle/>
              <a:p>
                <a:pPr marL="0" lvl="0" indent="0" algn="ctr">
                  <a:lnSpc>
                    <a:spcPts val="3359"/>
                  </a:lnSpc>
                </a:pPr>
                <a:endParaRPr/>
              </a:p>
            </p:txBody>
          </p:sp>
        </p:grpSp>
        <p:sp>
          <p:nvSpPr>
            <p:cNvPr id="22" name="TextBox 22"/>
            <p:cNvSpPr txBox="1"/>
            <p:nvPr/>
          </p:nvSpPr>
          <p:spPr>
            <a:xfrm>
              <a:off x="1454869" y="220712"/>
              <a:ext cx="5182122" cy="631518"/>
            </a:xfrm>
            <a:prstGeom prst="rect">
              <a:avLst/>
            </a:prstGeom>
          </p:spPr>
          <p:txBody>
            <a:bodyPr lIns="0" tIns="0" rIns="0" bIns="0" rtlCol="0" anchor="t">
              <a:spAutoFit/>
            </a:bodyPr>
            <a:lstStyle/>
            <a:p>
              <a:pPr marL="0" lvl="0" indent="0" algn="ctr">
                <a:lnSpc>
                  <a:spcPts val="3392"/>
                </a:lnSpc>
              </a:pPr>
              <a:r>
                <a:rPr lang="en-US" sz="3497" b="1" i="1">
                  <a:solidFill>
                    <a:srgbClr val="FFFFFF"/>
                  </a:solidFill>
                  <a:latin typeface="TT Interphases Bold Italics"/>
                  <a:ea typeface="TT Interphases Bold Italics"/>
                  <a:cs typeface="TT Interphases Bold Italics"/>
                  <a:sym typeface="TT Interphases Bold Italics"/>
                </a:rPr>
                <a:t>Similarity Search</a:t>
              </a:r>
            </a:p>
          </p:txBody>
        </p:sp>
      </p:grpSp>
      <p:grpSp>
        <p:nvGrpSpPr>
          <p:cNvPr id="23" name="Group 23"/>
          <p:cNvGrpSpPr/>
          <p:nvPr/>
        </p:nvGrpSpPr>
        <p:grpSpPr>
          <a:xfrm>
            <a:off x="10236796" y="5902227"/>
            <a:ext cx="6068894" cy="747557"/>
            <a:chOff x="0" y="0"/>
            <a:chExt cx="8091859" cy="996742"/>
          </a:xfrm>
        </p:grpSpPr>
        <p:grpSp>
          <p:nvGrpSpPr>
            <p:cNvPr id="24" name="Group 24"/>
            <p:cNvGrpSpPr/>
            <p:nvPr/>
          </p:nvGrpSpPr>
          <p:grpSpPr>
            <a:xfrm>
              <a:off x="0" y="0"/>
              <a:ext cx="8091859" cy="996742"/>
              <a:chOff x="0" y="0"/>
              <a:chExt cx="3298963" cy="406361"/>
            </a:xfrm>
          </p:grpSpPr>
          <p:sp>
            <p:nvSpPr>
              <p:cNvPr id="25" name="Freeform 25"/>
              <p:cNvSpPr/>
              <p:nvPr/>
            </p:nvSpPr>
            <p:spPr>
              <a:xfrm>
                <a:off x="0" y="0"/>
                <a:ext cx="3298963" cy="406361"/>
              </a:xfrm>
              <a:custGeom>
                <a:avLst/>
                <a:gdLst/>
                <a:ahLst/>
                <a:cxnLst/>
                <a:rect l="l" t="t" r="r" b="b"/>
                <a:pathLst>
                  <a:path w="3298963" h="406361">
                    <a:moveTo>
                      <a:pt x="3095763" y="0"/>
                    </a:moveTo>
                    <a:cubicBezTo>
                      <a:pt x="3207987" y="0"/>
                      <a:pt x="3298963" y="90967"/>
                      <a:pt x="3298963" y="203180"/>
                    </a:cubicBezTo>
                    <a:cubicBezTo>
                      <a:pt x="3298963" y="315394"/>
                      <a:pt x="3207987" y="406361"/>
                      <a:pt x="3095763" y="406361"/>
                    </a:cubicBezTo>
                    <a:lnTo>
                      <a:pt x="203200" y="406361"/>
                    </a:lnTo>
                    <a:cubicBezTo>
                      <a:pt x="90976" y="406361"/>
                      <a:pt x="0" y="315394"/>
                      <a:pt x="0" y="203180"/>
                    </a:cubicBezTo>
                    <a:cubicBezTo>
                      <a:pt x="0" y="90967"/>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26" name="TextBox 26"/>
              <p:cNvSpPr txBox="1"/>
              <p:nvPr/>
            </p:nvSpPr>
            <p:spPr>
              <a:xfrm>
                <a:off x="0" y="-57150"/>
                <a:ext cx="3298963" cy="463511"/>
              </a:xfrm>
              <a:prstGeom prst="rect">
                <a:avLst/>
              </a:prstGeom>
            </p:spPr>
            <p:txBody>
              <a:bodyPr lIns="50800" tIns="50800" rIns="50800" bIns="50800" rtlCol="0" anchor="ctr"/>
              <a:lstStyle/>
              <a:p>
                <a:pPr marL="0" lvl="0" indent="0" algn="ctr">
                  <a:lnSpc>
                    <a:spcPts val="3359"/>
                  </a:lnSpc>
                </a:pPr>
                <a:endParaRPr/>
              </a:p>
            </p:txBody>
          </p:sp>
        </p:grpSp>
        <p:sp>
          <p:nvSpPr>
            <p:cNvPr id="27" name="TextBox 27"/>
            <p:cNvSpPr txBox="1"/>
            <p:nvPr/>
          </p:nvSpPr>
          <p:spPr>
            <a:xfrm>
              <a:off x="533929" y="220712"/>
              <a:ext cx="7024001" cy="631518"/>
            </a:xfrm>
            <a:prstGeom prst="rect">
              <a:avLst/>
            </a:prstGeom>
          </p:spPr>
          <p:txBody>
            <a:bodyPr lIns="0" tIns="0" rIns="0" bIns="0" rtlCol="0" anchor="t">
              <a:spAutoFit/>
            </a:bodyPr>
            <a:lstStyle/>
            <a:p>
              <a:pPr marL="0" lvl="0" indent="0" algn="ctr">
                <a:lnSpc>
                  <a:spcPts val="3392"/>
                </a:lnSpc>
              </a:pPr>
              <a:r>
                <a:rPr lang="en-US" sz="3497" b="1" i="1">
                  <a:solidFill>
                    <a:srgbClr val="FFFFFF"/>
                  </a:solidFill>
                  <a:latin typeface="TT Interphases Bold Italics"/>
                  <a:ea typeface="TT Interphases Bold Italics"/>
                  <a:cs typeface="TT Interphases Bold Italics"/>
                  <a:sym typeface="TT Interphases Bold Italics"/>
                </a:rPr>
                <a:t>Context Ranking</a:t>
              </a:r>
            </a:p>
          </p:txBody>
        </p:sp>
      </p:grpSp>
      <p:grpSp>
        <p:nvGrpSpPr>
          <p:cNvPr id="28" name="Group 28"/>
          <p:cNvGrpSpPr/>
          <p:nvPr/>
        </p:nvGrpSpPr>
        <p:grpSpPr>
          <a:xfrm>
            <a:off x="1028700" y="8767760"/>
            <a:ext cx="4726694" cy="490540"/>
            <a:chOff x="0" y="0"/>
            <a:chExt cx="3915949" cy="406400"/>
          </a:xfrm>
        </p:grpSpPr>
        <p:sp>
          <p:nvSpPr>
            <p:cNvPr id="29" name="Freeform 29"/>
            <p:cNvSpPr/>
            <p:nvPr/>
          </p:nvSpPr>
          <p:spPr>
            <a:xfrm>
              <a:off x="0" y="0"/>
              <a:ext cx="3915949" cy="406400"/>
            </a:xfrm>
            <a:custGeom>
              <a:avLst/>
              <a:gdLst/>
              <a:ahLst/>
              <a:cxnLst/>
              <a:rect l="l" t="t" r="r" b="b"/>
              <a:pathLst>
                <a:path w="3915949" h="406400">
                  <a:moveTo>
                    <a:pt x="3712749" y="0"/>
                  </a:moveTo>
                  <a:cubicBezTo>
                    <a:pt x="3824973" y="0"/>
                    <a:pt x="3915949" y="90976"/>
                    <a:pt x="3915949" y="203200"/>
                  </a:cubicBezTo>
                  <a:cubicBezTo>
                    <a:pt x="3915949" y="315424"/>
                    <a:pt x="3824973" y="406400"/>
                    <a:pt x="3712749" y="406400"/>
                  </a:cubicBezTo>
                  <a:lnTo>
                    <a:pt x="203200" y="406400"/>
                  </a:lnTo>
                  <a:cubicBezTo>
                    <a:pt x="90976" y="406400"/>
                    <a:pt x="0" y="315424"/>
                    <a:pt x="0" y="203200"/>
                  </a:cubicBezTo>
                  <a:cubicBezTo>
                    <a:pt x="0" y="90976"/>
                    <a:pt x="90976" y="0"/>
                    <a:pt x="203200" y="0"/>
                  </a:cubicBezTo>
                  <a:close/>
                </a:path>
              </a:pathLst>
            </a:custGeom>
            <a:gradFill rotWithShape="1">
              <a:gsLst>
                <a:gs pos="0">
                  <a:srgbClr val="401D89">
                    <a:alpha val="100000"/>
                  </a:srgbClr>
                </a:gs>
                <a:gs pos="100000">
                  <a:srgbClr val="D2689C">
                    <a:alpha val="100000"/>
                  </a:srgbClr>
                </a:gs>
              </a:gsLst>
              <a:lin ang="0"/>
            </a:gradFill>
          </p:spPr>
        </p:sp>
        <p:sp>
          <p:nvSpPr>
            <p:cNvPr id="30" name="TextBox 30"/>
            <p:cNvSpPr txBox="1"/>
            <p:nvPr/>
          </p:nvSpPr>
          <p:spPr>
            <a:xfrm>
              <a:off x="0" y="-57150"/>
              <a:ext cx="3915949" cy="463550"/>
            </a:xfrm>
            <a:prstGeom prst="rect">
              <a:avLst/>
            </a:prstGeom>
          </p:spPr>
          <p:txBody>
            <a:bodyPr lIns="50800" tIns="50800" rIns="50800" bIns="50800" rtlCol="0" anchor="ctr"/>
            <a:lstStyle/>
            <a:p>
              <a:pPr marL="0" lvl="0" indent="0" algn="ctr">
                <a:lnSpc>
                  <a:spcPts val="3359"/>
                </a:lnSpc>
              </a:pPr>
              <a:endParaRPr/>
            </a:p>
          </p:txBody>
        </p:sp>
      </p:grpSp>
      <p:sp>
        <p:nvSpPr>
          <p:cNvPr id="31" name="TextBox 31"/>
          <p:cNvSpPr txBox="1"/>
          <p:nvPr/>
        </p:nvSpPr>
        <p:spPr>
          <a:xfrm>
            <a:off x="1525025" y="8786323"/>
            <a:ext cx="3734045" cy="305921"/>
          </a:xfrm>
          <a:prstGeom prst="rect">
            <a:avLst/>
          </a:prstGeom>
        </p:spPr>
        <p:txBody>
          <a:bodyPr lIns="0" tIns="0" rIns="0" bIns="0" rtlCol="0" anchor="t">
            <a:spAutoFit/>
          </a:bodyPr>
          <a:lstStyle/>
          <a:p>
            <a:pPr marL="0" lvl="0" indent="0" algn="ctr">
              <a:lnSpc>
                <a:spcPts val="2563"/>
              </a:lnSpc>
              <a:spcBef>
                <a:spcPct val="0"/>
              </a:spcBef>
            </a:pPr>
            <a:r>
              <a:rPr lang="en-US" sz="1830">
                <a:solidFill>
                  <a:srgbClr val="FFFFFF"/>
                </a:solidFill>
                <a:latin typeface="TT Interphases"/>
                <a:ea typeface="TT Interphases"/>
                <a:cs typeface="TT Interphases"/>
                <a:sym typeface="TT Interphases"/>
              </a:rPr>
              <a:t>Finance Knowledge Assistant — RAG</a:t>
            </a:r>
          </a:p>
        </p:txBody>
      </p:sp>
      <p:grpSp>
        <p:nvGrpSpPr>
          <p:cNvPr id="32" name="Group 32"/>
          <p:cNvGrpSpPr/>
          <p:nvPr/>
        </p:nvGrpSpPr>
        <p:grpSpPr>
          <a:xfrm>
            <a:off x="16511672" y="3581660"/>
            <a:ext cx="747628" cy="747628"/>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34" name="TextBox 34"/>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35" name="Group 35"/>
          <p:cNvGrpSpPr/>
          <p:nvPr/>
        </p:nvGrpSpPr>
        <p:grpSpPr>
          <a:xfrm>
            <a:off x="16511672" y="4741944"/>
            <a:ext cx="747628" cy="747628"/>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37" name="TextBox 37"/>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sp>
        <p:nvSpPr>
          <p:cNvPr id="38" name="Freeform 38"/>
          <p:cNvSpPr/>
          <p:nvPr/>
        </p:nvSpPr>
        <p:spPr>
          <a:xfrm>
            <a:off x="16670880" y="3756710"/>
            <a:ext cx="429212" cy="397529"/>
          </a:xfrm>
          <a:custGeom>
            <a:avLst/>
            <a:gdLst/>
            <a:ahLst/>
            <a:cxnLst/>
            <a:rect l="l" t="t" r="r" b="b"/>
            <a:pathLst>
              <a:path w="429212" h="397529">
                <a:moveTo>
                  <a:pt x="0" y="0"/>
                </a:moveTo>
                <a:lnTo>
                  <a:pt x="429212" y="0"/>
                </a:lnTo>
                <a:lnTo>
                  <a:pt x="429212" y="397529"/>
                </a:lnTo>
                <a:lnTo>
                  <a:pt x="0" y="397529"/>
                </a:lnTo>
                <a:lnTo>
                  <a:pt x="0" y="0"/>
                </a:lnTo>
                <a:close/>
              </a:path>
            </a:pathLst>
          </a:custGeom>
          <a:blipFill>
            <a:blip r:embed="rId4" cstate="print">
              <a:extLst>
                <a:ext uri="{96DAC541-7B7A-43D3-8B79-37D633B846F1}">
                  <asvg:svgBlip xmlns:asvg="http://schemas.microsoft.com/office/drawing/2016/SVG/main" xmlns="" r:embed="rId5"/>
                </a:ext>
              </a:extLst>
            </a:blip>
            <a:stretch>
              <a:fillRect/>
            </a:stretch>
          </a:blipFill>
        </p:spPr>
      </p:sp>
      <p:sp>
        <p:nvSpPr>
          <p:cNvPr id="39" name="Freeform 39"/>
          <p:cNvSpPr/>
          <p:nvPr/>
        </p:nvSpPr>
        <p:spPr>
          <a:xfrm>
            <a:off x="16670880" y="4916993"/>
            <a:ext cx="429212" cy="397529"/>
          </a:xfrm>
          <a:custGeom>
            <a:avLst/>
            <a:gdLst/>
            <a:ahLst/>
            <a:cxnLst/>
            <a:rect l="l" t="t" r="r" b="b"/>
            <a:pathLst>
              <a:path w="429212" h="397529">
                <a:moveTo>
                  <a:pt x="0" y="0"/>
                </a:moveTo>
                <a:lnTo>
                  <a:pt x="429212" y="0"/>
                </a:lnTo>
                <a:lnTo>
                  <a:pt x="429212" y="397529"/>
                </a:lnTo>
                <a:lnTo>
                  <a:pt x="0" y="397529"/>
                </a:lnTo>
                <a:lnTo>
                  <a:pt x="0" y="0"/>
                </a:lnTo>
                <a:close/>
              </a:path>
            </a:pathLst>
          </a:custGeom>
          <a:blipFill>
            <a:blip r:embed="rId4" cstate="print">
              <a:extLst>
                <a:ext uri="{96DAC541-7B7A-43D3-8B79-37D633B846F1}">
                  <asvg:svgBlip xmlns:asvg="http://schemas.microsoft.com/office/drawing/2016/SVG/main" xmlns="" r:embed="rId5"/>
                </a:ext>
              </a:extLst>
            </a:blip>
            <a:stretch>
              <a:fillRect/>
            </a:stretch>
          </a:blipFill>
        </p:spPr>
      </p:sp>
      <p:grpSp>
        <p:nvGrpSpPr>
          <p:cNvPr id="40" name="Group 40"/>
          <p:cNvGrpSpPr/>
          <p:nvPr/>
        </p:nvGrpSpPr>
        <p:grpSpPr>
          <a:xfrm>
            <a:off x="16511672" y="5902227"/>
            <a:ext cx="747628" cy="747628"/>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42" name="TextBox 42"/>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43" name="Group 43"/>
          <p:cNvGrpSpPr/>
          <p:nvPr/>
        </p:nvGrpSpPr>
        <p:grpSpPr>
          <a:xfrm>
            <a:off x="16511672" y="7062511"/>
            <a:ext cx="747628" cy="747628"/>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45" name="TextBox 45"/>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sp>
        <p:nvSpPr>
          <p:cNvPr id="46" name="Freeform 46"/>
          <p:cNvSpPr/>
          <p:nvPr/>
        </p:nvSpPr>
        <p:spPr>
          <a:xfrm>
            <a:off x="16670880" y="6077277"/>
            <a:ext cx="429212" cy="397529"/>
          </a:xfrm>
          <a:custGeom>
            <a:avLst/>
            <a:gdLst/>
            <a:ahLst/>
            <a:cxnLst/>
            <a:rect l="l" t="t" r="r" b="b"/>
            <a:pathLst>
              <a:path w="429212" h="397529">
                <a:moveTo>
                  <a:pt x="0" y="0"/>
                </a:moveTo>
                <a:lnTo>
                  <a:pt x="429212" y="0"/>
                </a:lnTo>
                <a:lnTo>
                  <a:pt x="429212" y="397529"/>
                </a:lnTo>
                <a:lnTo>
                  <a:pt x="0" y="397529"/>
                </a:lnTo>
                <a:lnTo>
                  <a:pt x="0" y="0"/>
                </a:lnTo>
                <a:close/>
              </a:path>
            </a:pathLst>
          </a:custGeom>
          <a:blipFill>
            <a:blip r:embed="rId4" cstate="print">
              <a:extLst>
                <a:ext uri="{96DAC541-7B7A-43D3-8B79-37D633B846F1}">
                  <asvg:svgBlip xmlns:asvg="http://schemas.microsoft.com/office/drawing/2016/SVG/main" xmlns="" r:embed="rId5"/>
                </a:ext>
              </a:extLst>
            </a:blip>
            <a:stretch>
              <a:fillRect/>
            </a:stretch>
          </a:blipFill>
        </p:spPr>
      </p:sp>
      <p:sp>
        <p:nvSpPr>
          <p:cNvPr id="47" name="Freeform 47"/>
          <p:cNvSpPr/>
          <p:nvPr/>
        </p:nvSpPr>
        <p:spPr>
          <a:xfrm>
            <a:off x="16670880" y="7237560"/>
            <a:ext cx="429212" cy="397529"/>
          </a:xfrm>
          <a:custGeom>
            <a:avLst/>
            <a:gdLst/>
            <a:ahLst/>
            <a:cxnLst/>
            <a:rect l="l" t="t" r="r" b="b"/>
            <a:pathLst>
              <a:path w="429212" h="397529">
                <a:moveTo>
                  <a:pt x="0" y="0"/>
                </a:moveTo>
                <a:lnTo>
                  <a:pt x="429212" y="0"/>
                </a:lnTo>
                <a:lnTo>
                  <a:pt x="429212" y="397530"/>
                </a:lnTo>
                <a:lnTo>
                  <a:pt x="0" y="397530"/>
                </a:lnTo>
                <a:lnTo>
                  <a:pt x="0" y="0"/>
                </a:lnTo>
                <a:close/>
              </a:path>
            </a:pathLst>
          </a:custGeom>
          <a:blipFill>
            <a:blip r:embed="rId4" cstate="print">
              <a:extLst>
                <a:ext uri="{96DAC541-7B7A-43D3-8B79-37D633B846F1}">
                  <asvg:svgBlip xmlns:asvg="http://schemas.microsoft.com/office/drawing/2016/SVG/main" xmlns="" r:embed="rId5"/>
                </a:ext>
              </a:extLst>
            </a:blip>
            <a:stretch>
              <a:fillRect/>
            </a:stretch>
          </a:blipFill>
        </p:spPr>
      </p:sp>
      <p:sp>
        <p:nvSpPr>
          <p:cNvPr id="48" name="Freeform 48"/>
          <p:cNvSpPr/>
          <p:nvPr/>
        </p:nvSpPr>
        <p:spPr>
          <a:xfrm rot="-10800000">
            <a:off x="5619781" y="-4443471"/>
            <a:ext cx="5801701" cy="5816242"/>
          </a:xfrm>
          <a:custGeom>
            <a:avLst/>
            <a:gdLst/>
            <a:ahLst/>
            <a:cxnLst/>
            <a:rect l="l" t="t" r="r" b="b"/>
            <a:pathLst>
              <a:path w="5801701" h="5816242">
                <a:moveTo>
                  <a:pt x="0" y="0"/>
                </a:moveTo>
                <a:lnTo>
                  <a:pt x="5801701" y="0"/>
                </a:lnTo>
                <a:lnTo>
                  <a:pt x="5801701" y="5816242"/>
                </a:lnTo>
                <a:lnTo>
                  <a:pt x="0" y="5816242"/>
                </a:lnTo>
                <a:lnTo>
                  <a:pt x="0" y="0"/>
                </a:lnTo>
                <a:close/>
              </a:path>
            </a:pathLst>
          </a:custGeom>
          <a:blipFill>
            <a:blip r:embed="rId6">
              <a:alphaModFix amt="50000"/>
            </a:blip>
            <a:stretch>
              <a:fillRect/>
            </a:stretch>
          </a:blipFill>
        </p:spPr>
      </p:sp>
      <p:sp>
        <p:nvSpPr>
          <p:cNvPr id="50" name="Freeform 50"/>
          <p:cNvSpPr/>
          <p:nvPr/>
        </p:nvSpPr>
        <p:spPr>
          <a:xfrm>
            <a:off x="9442476" y="8682777"/>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r:embed="rId7" cstate="print">
              <a:extLst>
                <a:ext uri="{96DAC541-7B7A-43D3-8B79-37D633B846F1}">
                  <asvg:svgBlip xmlns:asvg="http://schemas.microsoft.com/office/drawing/2016/SVG/main" xmlns="" r:embed="rId10"/>
                </a:ext>
              </a:extLst>
            </a:blip>
            <a:stretch>
              <a:fillRect t="-106388" r="-103152"/>
            </a:stretch>
          </a:blipFill>
        </p:spPr>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377916" y="116434"/>
            <a:ext cx="8469981" cy="8598966"/>
          </a:xfrm>
          <a:custGeom>
            <a:avLst/>
            <a:gdLst/>
            <a:ahLst/>
            <a:cxnLst/>
            <a:rect l="l" t="t" r="r" b="b"/>
            <a:pathLst>
              <a:path w="8469981" h="8598966">
                <a:moveTo>
                  <a:pt x="0" y="0"/>
                </a:moveTo>
                <a:lnTo>
                  <a:pt x="8469981" y="0"/>
                </a:lnTo>
                <a:lnTo>
                  <a:pt x="8469981" y="8598966"/>
                </a:lnTo>
                <a:lnTo>
                  <a:pt x="0" y="8598966"/>
                </a:lnTo>
                <a:lnTo>
                  <a:pt x="0" y="0"/>
                </a:lnTo>
                <a:close/>
              </a:path>
            </a:pathLst>
          </a:custGeom>
          <a:blipFill>
            <a:blip r:embed="rId2">
              <a:alphaModFix amt="50000"/>
            </a:blip>
            <a:stretch>
              <a:fillRect/>
            </a:stretch>
          </a:blipFill>
        </p:spPr>
      </p:sp>
      <p:sp>
        <p:nvSpPr>
          <p:cNvPr id="4" name="Freeform 4"/>
          <p:cNvSpPr/>
          <p:nvPr/>
        </p:nvSpPr>
        <p:spPr>
          <a:xfrm>
            <a:off x="-391510" y="1887424"/>
            <a:ext cx="10821394" cy="8034885"/>
          </a:xfrm>
          <a:custGeom>
            <a:avLst/>
            <a:gdLst/>
            <a:ahLst/>
            <a:cxnLst/>
            <a:rect l="l" t="t" r="r" b="b"/>
            <a:pathLst>
              <a:path w="10821394" h="8034885">
                <a:moveTo>
                  <a:pt x="0" y="0"/>
                </a:moveTo>
                <a:lnTo>
                  <a:pt x="10821394" y="0"/>
                </a:lnTo>
                <a:lnTo>
                  <a:pt x="10821394" y="8034885"/>
                </a:lnTo>
                <a:lnTo>
                  <a:pt x="0" y="8034885"/>
                </a:lnTo>
                <a:lnTo>
                  <a:pt x="0" y="0"/>
                </a:lnTo>
                <a:close/>
              </a:path>
            </a:pathLst>
          </a:custGeom>
          <a:blipFill>
            <a:blip r:embed="rId3"/>
            <a:stretch>
              <a:fillRect/>
            </a:stretch>
          </a:blipFill>
        </p:spPr>
      </p:sp>
      <p:sp>
        <p:nvSpPr>
          <p:cNvPr id="5" name="Freeform 5"/>
          <p:cNvSpPr/>
          <p:nvPr/>
        </p:nvSpPr>
        <p:spPr>
          <a:xfrm flipH="1" flipV="1">
            <a:off x="17187372" y="6347008"/>
            <a:ext cx="1519526" cy="3084508"/>
          </a:xfrm>
          <a:custGeom>
            <a:avLst/>
            <a:gdLst/>
            <a:ahLst/>
            <a:cxnLst/>
            <a:rect l="l" t="t" r="r" b="b"/>
            <a:pathLst>
              <a:path w="1519526" h="3084508">
                <a:moveTo>
                  <a:pt x="1519526" y="3084508"/>
                </a:moveTo>
                <a:lnTo>
                  <a:pt x="0" y="3084508"/>
                </a:lnTo>
                <a:lnTo>
                  <a:pt x="0" y="0"/>
                </a:lnTo>
                <a:lnTo>
                  <a:pt x="1519526" y="0"/>
                </a:lnTo>
                <a:lnTo>
                  <a:pt x="1519526" y="3084508"/>
                </a:lnTo>
                <a:close/>
              </a:path>
            </a:pathLst>
          </a:custGeom>
          <a:blipFill>
            <a:blip r:embed="rId4"/>
            <a:stretch>
              <a:fillRect/>
            </a:stretch>
          </a:blipFill>
        </p:spPr>
      </p:sp>
      <p:sp>
        <p:nvSpPr>
          <p:cNvPr id="6" name="Freeform 6"/>
          <p:cNvSpPr/>
          <p:nvPr/>
        </p:nvSpPr>
        <p:spPr>
          <a:xfrm rot="5400000" flipH="1">
            <a:off x="7345876" y="8820306"/>
            <a:ext cx="1186914" cy="2409334"/>
          </a:xfrm>
          <a:custGeom>
            <a:avLst/>
            <a:gdLst/>
            <a:ahLst/>
            <a:cxnLst/>
            <a:rect l="l" t="t" r="r" b="b"/>
            <a:pathLst>
              <a:path w="1186914" h="2409334">
                <a:moveTo>
                  <a:pt x="1186914" y="0"/>
                </a:moveTo>
                <a:lnTo>
                  <a:pt x="0" y="0"/>
                </a:lnTo>
                <a:lnTo>
                  <a:pt x="0" y="2409334"/>
                </a:lnTo>
                <a:lnTo>
                  <a:pt x="1186914" y="2409334"/>
                </a:lnTo>
                <a:lnTo>
                  <a:pt x="1186914" y="0"/>
                </a:lnTo>
                <a:close/>
              </a:path>
            </a:pathLst>
          </a:custGeom>
          <a:blipFill>
            <a:blip r:embed="rId4"/>
            <a:stretch>
              <a:fillRect/>
            </a:stretch>
          </a:blipFill>
        </p:spPr>
      </p:sp>
      <p:sp>
        <p:nvSpPr>
          <p:cNvPr id="8" name="TextBox 8"/>
          <p:cNvSpPr txBox="1"/>
          <p:nvPr/>
        </p:nvSpPr>
        <p:spPr>
          <a:xfrm>
            <a:off x="10429884" y="3071798"/>
            <a:ext cx="7143800" cy="5232202"/>
          </a:xfrm>
          <a:prstGeom prst="rect">
            <a:avLst/>
          </a:prstGeom>
        </p:spPr>
        <p:txBody>
          <a:bodyPr wrap="square" lIns="0" tIns="0" rIns="0" bIns="0" rtlCol="0" anchor="t">
            <a:spAutoFit/>
          </a:bodyPr>
          <a:lstStyle/>
          <a:p>
            <a:pPr marL="0" lvl="0" indent="0" algn="r">
              <a:lnSpc>
                <a:spcPts val="2431"/>
              </a:lnSpc>
              <a:buFont typeface="Wingdings" pitchFamily="2" charset="2"/>
              <a:buChar char="ü"/>
            </a:pPr>
            <a:r>
              <a:rPr lang="en-US" sz="2000" dirty="0">
                <a:solidFill>
                  <a:srgbClr val="FFFFFF"/>
                </a:solidFill>
                <a:latin typeface="TT Interphases"/>
                <a:ea typeface="TT Interphases"/>
                <a:cs typeface="TT Interphases"/>
                <a:sym typeface="TT Interphases"/>
              </a:rPr>
              <a:t>Carefully crafted prompts ensure the LLM generates accurate, grounded responses from retrieved financial context.</a:t>
            </a:r>
          </a:p>
          <a:p>
            <a:pPr marL="0" lvl="0" indent="0" algn="r">
              <a:lnSpc>
                <a:spcPts val="2431"/>
              </a:lnSpc>
              <a:buFont typeface="Wingdings" pitchFamily="2" charset="2"/>
              <a:buChar char="ü"/>
            </a:pPr>
            <a:r>
              <a:rPr lang="en-US" sz="2000" dirty="0">
                <a:solidFill>
                  <a:srgbClr val="FFFFFF"/>
                </a:solidFill>
                <a:latin typeface="TT Interphases"/>
                <a:ea typeface="TT Interphases"/>
                <a:cs typeface="TT Interphases"/>
                <a:sym typeface="TT Interphases"/>
              </a:rPr>
              <a:t>• System Instructions: The LLM is instructed to answer only from provided context, avoiding hallucination or external knowledge.</a:t>
            </a:r>
          </a:p>
          <a:p>
            <a:pPr marL="0" lvl="0" indent="0" algn="r">
              <a:lnSpc>
                <a:spcPts val="2431"/>
              </a:lnSpc>
              <a:buFont typeface="Wingdings" pitchFamily="2" charset="2"/>
              <a:buChar char="ü"/>
            </a:pPr>
            <a:r>
              <a:rPr lang="en-US" sz="2000" dirty="0">
                <a:solidFill>
                  <a:srgbClr val="FFFFFF"/>
                </a:solidFill>
                <a:latin typeface="TT Interphases"/>
                <a:ea typeface="TT Interphases"/>
                <a:cs typeface="TT Interphases"/>
                <a:sym typeface="TT Interphases"/>
              </a:rPr>
              <a:t>• Context Injection: Retrieved document chunks — balance sheets, income statements, cash flows — are injected into the prompt as structured context blocks.</a:t>
            </a:r>
          </a:p>
          <a:p>
            <a:pPr marL="0" lvl="0" indent="0" algn="r">
              <a:lnSpc>
                <a:spcPts val="2431"/>
              </a:lnSpc>
              <a:buFont typeface="Wingdings" pitchFamily="2" charset="2"/>
              <a:buChar char="ü"/>
            </a:pPr>
            <a:r>
              <a:rPr lang="en-US" sz="2000" dirty="0">
                <a:solidFill>
                  <a:srgbClr val="FFFFFF"/>
                </a:solidFill>
                <a:latin typeface="TT Interphases"/>
                <a:ea typeface="TT Interphases"/>
                <a:cs typeface="TT Interphases"/>
                <a:sym typeface="TT Interphases"/>
              </a:rPr>
              <a:t>• Citation Requirements: The model is prompted to reference the specific company, statement type, and fiscal year when citing figures.</a:t>
            </a:r>
          </a:p>
          <a:p>
            <a:pPr marL="0" lvl="0" indent="0" algn="r">
              <a:lnSpc>
                <a:spcPts val="2431"/>
              </a:lnSpc>
              <a:buFont typeface="Wingdings" pitchFamily="2" charset="2"/>
              <a:buChar char="ü"/>
            </a:pPr>
            <a:r>
              <a:rPr lang="en-US" sz="2000" dirty="0">
                <a:solidFill>
                  <a:srgbClr val="FFFFFF"/>
                </a:solidFill>
                <a:latin typeface="TT Interphases"/>
                <a:ea typeface="TT Interphases"/>
                <a:cs typeface="TT Interphases"/>
                <a:sym typeface="TT Interphases"/>
              </a:rPr>
              <a:t>• Strict Grounding Rule: If the answer cannot be found in the retrieved context, the model responds with "I don't know" rather than guessing.</a:t>
            </a:r>
          </a:p>
          <a:p>
            <a:pPr marL="0" lvl="0" indent="0" algn="r">
              <a:lnSpc>
                <a:spcPts val="2431"/>
              </a:lnSpc>
              <a:buFont typeface="Wingdings" pitchFamily="2" charset="2"/>
              <a:buChar char="ü"/>
            </a:pPr>
            <a:r>
              <a:rPr lang="en-US" sz="2000" dirty="0">
                <a:solidFill>
                  <a:srgbClr val="FFFFFF"/>
                </a:solidFill>
                <a:latin typeface="TT Interphases"/>
                <a:ea typeface="TT Interphases"/>
                <a:cs typeface="TT Interphases"/>
                <a:sym typeface="TT Interphases"/>
              </a:rPr>
              <a:t>• Prompt Template: A consistent template separates system role, injected context, conversation history, and the current user query for clarity and reliability.</a:t>
            </a:r>
          </a:p>
        </p:txBody>
      </p:sp>
      <p:sp>
        <p:nvSpPr>
          <p:cNvPr id="9" name="TextBox 9"/>
          <p:cNvSpPr txBox="1"/>
          <p:nvPr/>
        </p:nvSpPr>
        <p:spPr>
          <a:xfrm>
            <a:off x="9105545" y="928658"/>
            <a:ext cx="9182455" cy="664092"/>
          </a:xfrm>
          <a:prstGeom prst="rect">
            <a:avLst/>
          </a:prstGeom>
        </p:spPr>
        <p:txBody>
          <a:bodyPr lIns="0" tIns="0" rIns="0" bIns="0" rtlCol="0" anchor="t">
            <a:spAutoFit/>
          </a:bodyPr>
          <a:lstStyle/>
          <a:p>
            <a:pPr marL="0" lvl="0" indent="0" algn="r">
              <a:lnSpc>
                <a:spcPts val="4972"/>
              </a:lnSpc>
            </a:pPr>
            <a:r>
              <a:rPr lang="en-US" sz="5126" b="1" dirty="0">
                <a:solidFill>
                  <a:srgbClr val="A94BC6"/>
                </a:solidFill>
                <a:latin typeface="TT Interphases Bold"/>
                <a:ea typeface="TT Interphases Bold"/>
                <a:cs typeface="TT Interphases Bold"/>
                <a:sym typeface="TT Interphases Bold"/>
              </a:rPr>
              <a:t>Grounded Answer Generation</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0509813">
            <a:off x="1190391" y="-3887171"/>
            <a:ext cx="6058172" cy="6069207"/>
          </a:xfrm>
          <a:custGeom>
            <a:avLst/>
            <a:gdLst/>
            <a:ahLst/>
            <a:cxnLst/>
            <a:rect l="l" t="t" r="r" b="b"/>
            <a:pathLst>
              <a:path w="6058172" h="6069207">
                <a:moveTo>
                  <a:pt x="0" y="0"/>
                </a:moveTo>
                <a:lnTo>
                  <a:pt x="6058172" y="0"/>
                </a:lnTo>
                <a:lnTo>
                  <a:pt x="6058172" y="6069206"/>
                </a:lnTo>
                <a:lnTo>
                  <a:pt x="0" y="6069206"/>
                </a:lnTo>
                <a:lnTo>
                  <a:pt x="0" y="0"/>
                </a:lnTo>
                <a:close/>
              </a:path>
            </a:pathLst>
          </a:custGeom>
          <a:blipFill>
            <a:blip r:embed="rId2">
              <a:alphaModFix amt="50000"/>
              <a:extLst>
                <a:ext uri="{96DAC541-7B7A-43D3-8B79-37D633B846F1}">
                  <asvg:svgBlip xmlns:asvg="http://schemas.microsoft.com/office/drawing/2016/SVG/main" xmlns="" r:embed="rId3"/>
                </a:ext>
              </a:extLst>
            </a:blip>
            <a:stretch>
              <a:fillRect/>
            </a:stretch>
          </a:blipFill>
        </p:spPr>
      </p:sp>
      <p:sp>
        <p:nvSpPr>
          <p:cNvPr id="3" name="Freeform 3"/>
          <p:cNvSpPr/>
          <p:nvPr/>
        </p:nvSpPr>
        <p:spPr>
          <a:xfrm rot="-2454844">
            <a:off x="4027966" y="3480094"/>
            <a:ext cx="20299771" cy="6754287"/>
          </a:xfrm>
          <a:custGeom>
            <a:avLst/>
            <a:gdLst/>
            <a:ahLst/>
            <a:cxnLst/>
            <a:rect l="l" t="t" r="r" b="b"/>
            <a:pathLst>
              <a:path w="20299771" h="6754287">
                <a:moveTo>
                  <a:pt x="0" y="0"/>
                </a:moveTo>
                <a:lnTo>
                  <a:pt x="20299771" y="0"/>
                </a:lnTo>
                <a:lnTo>
                  <a:pt x="20299771" y="6754287"/>
                </a:lnTo>
                <a:lnTo>
                  <a:pt x="0" y="6754287"/>
                </a:lnTo>
                <a:lnTo>
                  <a:pt x="0" y="0"/>
                </a:lnTo>
                <a:close/>
              </a:path>
            </a:pathLst>
          </a:custGeom>
          <a:blipFill>
            <a:blip r:embed="rId4">
              <a:alphaModFix amt="15000"/>
              <a:extLst>
                <a:ext uri="{96DAC541-7B7A-43D3-8B79-37D633B846F1}">
                  <asvg:svgBlip xmlns:asvg="http://schemas.microsoft.com/office/drawing/2016/SVG/main" xmlns="" r:embed="rId5"/>
                </a:ext>
              </a:extLst>
            </a:blip>
            <a:stretch>
              <a:fillRect/>
            </a:stretch>
          </a:blipFill>
        </p:spPr>
      </p:sp>
      <p:sp>
        <p:nvSpPr>
          <p:cNvPr id="4" name="Freeform 4"/>
          <p:cNvSpPr/>
          <p:nvPr/>
        </p:nvSpPr>
        <p:spPr>
          <a:xfrm flipH="1">
            <a:off x="17399210" y="4351785"/>
            <a:ext cx="1401627" cy="2845182"/>
          </a:xfrm>
          <a:custGeom>
            <a:avLst/>
            <a:gdLst/>
            <a:ahLst/>
            <a:cxnLst/>
            <a:rect l="l" t="t" r="r" b="b"/>
            <a:pathLst>
              <a:path w="1401627" h="2845182">
                <a:moveTo>
                  <a:pt x="1401627" y="0"/>
                </a:moveTo>
                <a:lnTo>
                  <a:pt x="0" y="0"/>
                </a:lnTo>
                <a:lnTo>
                  <a:pt x="0" y="2845182"/>
                </a:lnTo>
                <a:lnTo>
                  <a:pt x="1401627" y="2845182"/>
                </a:lnTo>
                <a:lnTo>
                  <a:pt x="1401627" y="0"/>
                </a:lnTo>
                <a:close/>
              </a:path>
            </a:pathLst>
          </a:custGeom>
          <a:blipFill>
            <a:blip r:embed="rId6"/>
            <a:stretch>
              <a:fillRect/>
            </a:stretch>
          </a:blipFill>
        </p:spPr>
      </p:sp>
      <p:sp>
        <p:nvSpPr>
          <p:cNvPr id="5" name="Freeform 5"/>
          <p:cNvSpPr/>
          <p:nvPr/>
        </p:nvSpPr>
        <p:spPr>
          <a:xfrm rot="5400000" flipH="1" flipV="1">
            <a:off x="1590020" y="8233202"/>
            <a:ext cx="1627419" cy="3303521"/>
          </a:xfrm>
          <a:custGeom>
            <a:avLst/>
            <a:gdLst/>
            <a:ahLst/>
            <a:cxnLst/>
            <a:rect l="l" t="t" r="r" b="b"/>
            <a:pathLst>
              <a:path w="1627419" h="3303521">
                <a:moveTo>
                  <a:pt x="1627419" y="3303521"/>
                </a:moveTo>
                <a:lnTo>
                  <a:pt x="0" y="3303521"/>
                </a:lnTo>
                <a:lnTo>
                  <a:pt x="0" y="0"/>
                </a:lnTo>
                <a:lnTo>
                  <a:pt x="1627419" y="0"/>
                </a:lnTo>
                <a:lnTo>
                  <a:pt x="1627419" y="3303521"/>
                </a:lnTo>
                <a:close/>
              </a:path>
            </a:pathLst>
          </a:custGeom>
          <a:blipFill>
            <a:blip r:embed="rId6"/>
            <a:stretch>
              <a:fillRect/>
            </a:stretch>
          </a:blipFill>
        </p:spPr>
      </p:sp>
      <p:sp>
        <p:nvSpPr>
          <p:cNvPr id="6" name="Freeform 6"/>
          <p:cNvSpPr/>
          <p:nvPr/>
        </p:nvSpPr>
        <p:spPr>
          <a:xfrm>
            <a:off x="-664281" y="587451"/>
            <a:ext cx="9122342" cy="9105756"/>
          </a:xfrm>
          <a:custGeom>
            <a:avLst/>
            <a:gdLst/>
            <a:ahLst/>
            <a:cxnLst/>
            <a:rect l="l" t="t" r="r" b="b"/>
            <a:pathLst>
              <a:path w="9122342" h="9105756">
                <a:moveTo>
                  <a:pt x="0" y="0"/>
                </a:moveTo>
                <a:lnTo>
                  <a:pt x="9122342" y="0"/>
                </a:lnTo>
                <a:lnTo>
                  <a:pt x="9122342" y="9105756"/>
                </a:lnTo>
                <a:lnTo>
                  <a:pt x="0" y="9105756"/>
                </a:lnTo>
                <a:lnTo>
                  <a:pt x="0" y="0"/>
                </a:lnTo>
                <a:close/>
              </a:path>
            </a:pathLst>
          </a:custGeom>
          <a:blipFill>
            <a:blip r:embed="rId7"/>
            <a:stretch>
              <a:fillRect/>
            </a:stretch>
          </a:blipFill>
        </p:spPr>
      </p:sp>
      <p:sp>
        <p:nvSpPr>
          <p:cNvPr id="7" name="Freeform 7"/>
          <p:cNvSpPr/>
          <p:nvPr/>
        </p:nvSpPr>
        <p:spPr>
          <a:xfrm rot="2157946">
            <a:off x="1466042" y="1704128"/>
            <a:ext cx="7674174" cy="2885362"/>
          </a:xfrm>
          <a:custGeom>
            <a:avLst/>
            <a:gdLst/>
            <a:ahLst/>
            <a:cxnLst/>
            <a:rect l="l" t="t" r="r" b="b"/>
            <a:pathLst>
              <a:path w="7674174" h="2885362">
                <a:moveTo>
                  <a:pt x="0" y="0"/>
                </a:moveTo>
                <a:lnTo>
                  <a:pt x="7674175" y="0"/>
                </a:lnTo>
                <a:lnTo>
                  <a:pt x="7674175" y="2885362"/>
                </a:lnTo>
                <a:lnTo>
                  <a:pt x="0" y="2885362"/>
                </a:lnTo>
                <a:lnTo>
                  <a:pt x="0" y="0"/>
                </a:lnTo>
                <a:close/>
              </a:path>
            </a:pathLst>
          </a:custGeom>
          <a:blipFill>
            <a:blip r:embed="rId8">
              <a:extLst>
                <a:ext uri="{96DAC541-7B7A-43D3-8B79-37D633B846F1}">
                  <asvg:svgBlip xmlns:asvg="http://schemas.microsoft.com/office/drawing/2016/SVG/main" xmlns="" r:embed="rId9"/>
                </a:ext>
              </a:extLst>
            </a:blip>
            <a:stretch>
              <a:fillRect b="-32984"/>
            </a:stretch>
          </a:blipFill>
        </p:spPr>
      </p:sp>
      <p:grpSp>
        <p:nvGrpSpPr>
          <p:cNvPr id="8" name="Group 8"/>
          <p:cNvGrpSpPr/>
          <p:nvPr/>
        </p:nvGrpSpPr>
        <p:grpSpPr>
          <a:xfrm>
            <a:off x="469949" y="1713388"/>
            <a:ext cx="6853883" cy="685388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01D89">
                    <a:alpha val="100000"/>
                  </a:srgbClr>
                </a:gs>
                <a:gs pos="100000">
                  <a:srgbClr val="D2689C">
                    <a:alpha val="100000"/>
                  </a:srgbClr>
                </a:gs>
              </a:gsLst>
              <a:lin ang="0"/>
            </a:gradFill>
          </p:spPr>
        </p:sp>
        <p:sp>
          <p:nvSpPr>
            <p:cNvPr id="10" name="TextBox 10"/>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671121" y="1914560"/>
            <a:ext cx="6451538" cy="6451538"/>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a:stretch>
            </a:blipFill>
          </p:spPr>
        </p:sp>
      </p:grpSp>
      <p:sp>
        <p:nvSpPr>
          <p:cNvPr id="13" name="TextBox 13"/>
          <p:cNvSpPr txBox="1"/>
          <p:nvPr/>
        </p:nvSpPr>
        <p:spPr>
          <a:xfrm>
            <a:off x="11079818" y="1181100"/>
            <a:ext cx="6179482" cy="909176"/>
          </a:xfrm>
          <a:prstGeom prst="rect">
            <a:avLst/>
          </a:prstGeom>
        </p:spPr>
        <p:txBody>
          <a:bodyPr lIns="0" tIns="0" rIns="0" bIns="0" rtlCol="0" anchor="t">
            <a:spAutoFit/>
          </a:bodyPr>
          <a:lstStyle/>
          <a:p>
            <a:pPr marL="0" lvl="0" indent="0" algn="r">
              <a:lnSpc>
                <a:spcPts val="6785"/>
              </a:lnSpc>
            </a:pPr>
            <a:r>
              <a:rPr lang="en-US" sz="6995">
                <a:solidFill>
                  <a:srgbClr val="FFFFFF"/>
                </a:solidFill>
                <a:latin typeface="TT Interphases"/>
                <a:ea typeface="TT Interphases"/>
                <a:cs typeface="TT Interphases"/>
                <a:sym typeface="TT Interphases"/>
              </a:rPr>
              <a:t>Chat UI &amp;</a:t>
            </a:r>
          </a:p>
        </p:txBody>
      </p:sp>
      <p:sp>
        <p:nvSpPr>
          <p:cNvPr id="14" name="TextBox 14"/>
          <p:cNvSpPr txBox="1"/>
          <p:nvPr/>
        </p:nvSpPr>
        <p:spPr>
          <a:xfrm>
            <a:off x="10549267" y="2088798"/>
            <a:ext cx="6710033" cy="909176"/>
          </a:xfrm>
          <a:prstGeom prst="rect">
            <a:avLst/>
          </a:prstGeom>
        </p:spPr>
        <p:txBody>
          <a:bodyPr lIns="0" tIns="0" rIns="0" bIns="0" rtlCol="0" anchor="t">
            <a:spAutoFit/>
          </a:bodyPr>
          <a:lstStyle/>
          <a:p>
            <a:pPr marL="0" lvl="0" indent="0" algn="r">
              <a:lnSpc>
                <a:spcPts val="6785"/>
              </a:lnSpc>
            </a:pPr>
            <a:r>
              <a:rPr lang="en-US" sz="6995" b="1">
                <a:solidFill>
                  <a:srgbClr val="A94BC6"/>
                </a:solidFill>
                <a:latin typeface="TT Interphases Bold"/>
                <a:ea typeface="TT Interphases Bold"/>
                <a:cs typeface="TT Interphases Bold"/>
                <a:sym typeface="TT Interphases Bold"/>
              </a:rPr>
              <a:t>User Workflow</a:t>
            </a:r>
          </a:p>
        </p:txBody>
      </p:sp>
      <p:sp>
        <p:nvSpPr>
          <p:cNvPr id="15" name="TextBox 15"/>
          <p:cNvSpPr txBox="1"/>
          <p:nvPr/>
        </p:nvSpPr>
        <p:spPr>
          <a:xfrm>
            <a:off x="8103050" y="3450525"/>
            <a:ext cx="9156250" cy="1988403"/>
          </a:xfrm>
          <a:prstGeom prst="rect">
            <a:avLst/>
          </a:prstGeom>
        </p:spPr>
        <p:txBody>
          <a:bodyPr lIns="0" tIns="0" rIns="0" bIns="0" rtlCol="0" anchor="t">
            <a:spAutoFit/>
          </a:bodyPr>
          <a:lstStyle/>
          <a:p>
            <a:pPr marL="0" lvl="0" indent="0" algn="r">
              <a:lnSpc>
                <a:spcPts val="3162"/>
              </a:lnSpc>
            </a:pPr>
            <a:r>
              <a:rPr lang="en-US" sz="2432">
                <a:solidFill>
                  <a:srgbClr val="FFFFFF"/>
                </a:solidFill>
                <a:latin typeface="TT Interphases"/>
                <a:ea typeface="TT Interphases"/>
                <a:cs typeface="TT Interphases"/>
                <a:sym typeface="TT Interphases"/>
              </a:rPr>
              <a:t>The Gradio-based chat interface provides an intuitive workflow: users type a natural language financial query, the assistant retrieves relevant context from ChromaDB, and a grounded answer is displayed alongside source citations. Conversation history is preserved across follow-up questions for a seamless experience.</a:t>
            </a:r>
          </a:p>
        </p:txBody>
      </p:sp>
      <p:grpSp>
        <p:nvGrpSpPr>
          <p:cNvPr id="16" name="Group 16"/>
          <p:cNvGrpSpPr/>
          <p:nvPr/>
        </p:nvGrpSpPr>
        <p:grpSpPr>
          <a:xfrm>
            <a:off x="6127393" y="6013336"/>
            <a:ext cx="5438917" cy="958701"/>
            <a:chOff x="0" y="0"/>
            <a:chExt cx="2305595" cy="406400"/>
          </a:xfrm>
        </p:grpSpPr>
        <p:sp>
          <p:nvSpPr>
            <p:cNvPr id="17" name="Freeform 17"/>
            <p:cNvSpPr/>
            <p:nvPr/>
          </p:nvSpPr>
          <p:spPr>
            <a:xfrm>
              <a:off x="0" y="0"/>
              <a:ext cx="2305595" cy="406400"/>
            </a:xfrm>
            <a:custGeom>
              <a:avLst/>
              <a:gdLst/>
              <a:ahLst/>
              <a:cxnLst/>
              <a:rect l="l" t="t" r="r" b="b"/>
              <a:pathLst>
                <a:path w="2305595" h="406400">
                  <a:moveTo>
                    <a:pt x="2102395" y="0"/>
                  </a:moveTo>
                  <a:cubicBezTo>
                    <a:pt x="2214619" y="0"/>
                    <a:pt x="2305595" y="90976"/>
                    <a:pt x="2305595" y="203200"/>
                  </a:cubicBezTo>
                  <a:cubicBezTo>
                    <a:pt x="2305595" y="315424"/>
                    <a:pt x="2214619" y="406400"/>
                    <a:pt x="2102395"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8" name="TextBox 18"/>
            <p:cNvSpPr txBox="1"/>
            <p:nvPr/>
          </p:nvSpPr>
          <p:spPr>
            <a:xfrm>
              <a:off x="0" y="-57150"/>
              <a:ext cx="2305595" cy="463550"/>
            </a:xfrm>
            <a:prstGeom prst="rect">
              <a:avLst/>
            </a:prstGeom>
          </p:spPr>
          <p:txBody>
            <a:bodyPr lIns="50800" tIns="50800" rIns="50800" bIns="50800" rtlCol="0" anchor="ctr"/>
            <a:lstStyle/>
            <a:p>
              <a:pPr marL="0" lvl="0" indent="0" algn="ctr">
                <a:lnSpc>
                  <a:spcPts val="3359"/>
                </a:lnSpc>
              </a:pPr>
              <a:endParaRPr/>
            </a:p>
          </p:txBody>
        </p:sp>
      </p:grpSp>
      <p:grpSp>
        <p:nvGrpSpPr>
          <p:cNvPr id="19" name="Group 19"/>
          <p:cNvGrpSpPr/>
          <p:nvPr/>
        </p:nvGrpSpPr>
        <p:grpSpPr>
          <a:xfrm>
            <a:off x="6127393" y="7196967"/>
            <a:ext cx="5438917" cy="958701"/>
            <a:chOff x="0" y="0"/>
            <a:chExt cx="2305595" cy="406400"/>
          </a:xfrm>
        </p:grpSpPr>
        <p:sp>
          <p:nvSpPr>
            <p:cNvPr id="20" name="Freeform 20"/>
            <p:cNvSpPr/>
            <p:nvPr/>
          </p:nvSpPr>
          <p:spPr>
            <a:xfrm>
              <a:off x="0" y="0"/>
              <a:ext cx="2305595" cy="406400"/>
            </a:xfrm>
            <a:custGeom>
              <a:avLst/>
              <a:gdLst/>
              <a:ahLst/>
              <a:cxnLst/>
              <a:rect l="l" t="t" r="r" b="b"/>
              <a:pathLst>
                <a:path w="2305595" h="406400">
                  <a:moveTo>
                    <a:pt x="2102395" y="0"/>
                  </a:moveTo>
                  <a:cubicBezTo>
                    <a:pt x="2214619" y="0"/>
                    <a:pt x="2305595" y="90976"/>
                    <a:pt x="2305595" y="203200"/>
                  </a:cubicBezTo>
                  <a:cubicBezTo>
                    <a:pt x="2305595" y="315424"/>
                    <a:pt x="2214619" y="406400"/>
                    <a:pt x="2102395"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21" name="TextBox 21"/>
            <p:cNvSpPr txBox="1"/>
            <p:nvPr/>
          </p:nvSpPr>
          <p:spPr>
            <a:xfrm>
              <a:off x="0" y="-57150"/>
              <a:ext cx="2305595" cy="463550"/>
            </a:xfrm>
            <a:prstGeom prst="rect">
              <a:avLst/>
            </a:prstGeom>
          </p:spPr>
          <p:txBody>
            <a:bodyPr lIns="50800" tIns="50800" rIns="50800" bIns="50800" rtlCol="0" anchor="ctr"/>
            <a:lstStyle/>
            <a:p>
              <a:pPr marL="0" lvl="0" indent="0" algn="ctr">
                <a:lnSpc>
                  <a:spcPts val="3359"/>
                </a:lnSpc>
              </a:pPr>
              <a:endParaRPr/>
            </a:p>
          </p:txBody>
        </p:sp>
      </p:grpSp>
      <p:grpSp>
        <p:nvGrpSpPr>
          <p:cNvPr id="22" name="Group 22"/>
          <p:cNvGrpSpPr/>
          <p:nvPr/>
        </p:nvGrpSpPr>
        <p:grpSpPr>
          <a:xfrm>
            <a:off x="11820383" y="6013336"/>
            <a:ext cx="5438917" cy="958701"/>
            <a:chOff x="0" y="0"/>
            <a:chExt cx="2305595" cy="406400"/>
          </a:xfrm>
        </p:grpSpPr>
        <p:sp>
          <p:nvSpPr>
            <p:cNvPr id="23" name="Freeform 23"/>
            <p:cNvSpPr/>
            <p:nvPr/>
          </p:nvSpPr>
          <p:spPr>
            <a:xfrm>
              <a:off x="0" y="0"/>
              <a:ext cx="2305595" cy="406400"/>
            </a:xfrm>
            <a:custGeom>
              <a:avLst/>
              <a:gdLst/>
              <a:ahLst/>
              <a:cxnLst/>
              <a:rect l="l" t="t" r="r" b="b"/>
              <a:pathLst>
                <a:path w="2305595" h="406400">
                  <a:moveTo>
                    <a:pt x="2102395" y="0"/>
                  </a:moveTo>
                  <a:cubicBezTo>
                    <a:pt x="2214619" y="0"/>
                    <a:pt x="2305595" y="90976"/>
                    <a:pt x="2305595" y="203200"/>
                  </a:cubicBezTo>
                  <a:cubicBezTo>
                    <a:pt x="2305595" y="315424"/>
                    <a:pt x="2214619" y="406400"/>
                    <a:pt x="2102395"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24" name="TextBox 24"/>
            <p:cNvSpPr txBox="1"/>
            <p:nvPr/>
          </p:nvSpPr>
          <p:spPr>
            <a:xfrm>
              <a:off x="0" y="-57150"/>
              <a:ext cx="2305595" cy="463550"/>
            </a:xfrm>
            <a:prstGeom prst="rect">
              <a:avLst/>
            </a:prstGeom>
          </p:spPr>
          <p:txBody>
            <a:bodyPr lIns="50800" tIns="50800" rIns="50800" bIns="50800" rtlCol="0" anchor="ctr"/>
            <a:lstStyle/>
            <a:p>
              <a:pPr marL="0" lvl="0" indent="0" algn="ctr">
                <a:lnSpc>
                  <a:spcPts val="3359"/>
                </a:lnSpc>
              </a:pPr>
              <a:endParaRPr/>
            </a:p>
          </p:txBody>
        </p:sp>
      </p:grpSp>
      <p:grpSp>
        <p:nvGrpSpPr>
          <p:cNvPr id="25" name="Group 25"/>
          <p:cNvGrpSpPr/>
          <p:nvPr/>
        </p:nvGrpSpPr>
        <p:grpSpPr>
          <a:xfrm>
            <a:off x="11820383" y="7196967"/>
            <a:ext cx="5438917" cy="958701"/>
            <a:chOff x="0" y="0"/>
            <a:chExt cx="2305595" cy="406400"/>
          </a:xfrm>
        </p:grpSpPr>
        <p:sp>
          <p:nvSpPr>
            <p:cNvPr id="26" name="Freeform 26"/>
            <p:cNvSpPr/>
            <p:nvPr/>
          </p:nvSpPr>
          <p:spPr>
            <a:xfrm>
              <a:off x="0" y="0"/>
              <a:ext cx="2305595" cy="406400"/>
            </a:xfrm>
            <a:custGeom>
              <a:avLst/>
              <a:gdLst/>
              <a:ahLst/>
              <a:cxnLst/>
              <a:rect l="l" t="t" r="r" b="b"/>
              <a:pathLst>
                <a:path w="2305595" h="406400">
                  <a:moveTo>
                    <a:pt x="2102395" y="0"/>
                  </a:moveTo>
                  <a:cubicBezTo>
                    <a:pt x="2214619" y="0"/>
                    <a:pt x="2305595" y="90976"/>
                    <a:pt x="2305595" y="203200"/>
                  </a:cubicBezTo>
                  <a:cubicBezTo>
                    <a:pt x="2305595" y="315424"/>
                    <a:pt x="2214619" y="406400"/>
                    <a:pt x="2102395"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27" name="TextBox 27"/>
            <p:cNvSpPr txBox="1"/>
            <p:nvPr/>
          </p:nvSpPr>
          <p:spPr>
            <a:xfrm>
              <a:off x="0" y="-57150"/>
              <a:ext cx="2305595" cy="463550"/>
            </a:xfrm>
            <a:prstGeom prst="rect">
              <a:avLst/>
            </a:prstGeom>
          </p:spPr>
          <p:txBody>
            <a:bodyPr lIns="50800" tIns="50800" rIns="50800" bIns="50800" rtlCol="0" anchor="ctr"/>
            <a:lstStyle/>
            <a:p>
              <a:pPr marL="0" lvl="0" indent="0" algn="ctr">
                <a:lnSpc>
                  <a:spcPts val="3359"/>
                </a:lnSpc>
              </a:pPr>
              <a:endParaRPr/>
            </a:p>
          </p:txBody>
        </p:sp>
      </p:grpSp>
      <p:sp>
        <p:nvSpPr>
          <p:cNvPr id="28" name="TextBox 28"/>
          <p:cNvSpPr txBox="1"/>
          <p:nvPr/>
        </p:nvSpPr>
        <p:spPr>
          <a:xfrm>
            <a:off x="6377818" y="6175839"/>
            <a:ext cx="4938068" cy="565785"/>
          </a:xfrm>
          <a:prstGeom prst="rect">
            <a:avLst/>
          </a:prstGeom>
        </p:spPr>
        <p:txBody>
          <a:bodyPr lIns="0" tIns="0" rIns="0" bIns="0" rtlCol="0" anchor="t">
            <a:spAutoFit/>
          </a:bodyPr>
          <a:lstStyle/>
          <a:p>
            <a:pPr marL="0" lvl="0" indent="0" algn="ctr">
              <a:lnSpc>
                <a:spcPts val="4767"/>
              </a:lnSpc>
              <a:spcBef>
                <a:spcPct val="0"/>
              </a:spcBef>
            </a:pPr>
            <a:r>
              <a:rPr lang="en-US" sz="3405" b="1">
                <a:solidFill>
                  <a:srgbClr val="FFFFFF"/>
                </a:solidFill>
                <a:latin typeface="TT Interphases Bold"/>
                <a:ea typeface="TT Interphases Bold"/>
                <a:cs typeface="TT Interphases Bold"/>
                <a:sym typeface="TT Interphases Bold"/>
              </a:rPr>
              <a:t>Query Input</a:t>
            </a:r>
          </a:p>
        </p:txBody>
      </p:sp>
      <p:sp>
        <p:nvSpPr>
          <p:cNvPr id="29" name="TextBox 29"/>
          <p:cNvSpPr txBox="1"/>
          <p:nvPr/>
        </p:nvSpPr>
        <p:spPr>
          <a:xfrm>
            <a:off x="6377818" y="7359470"/>
            <a:ext cx="4938068" cy="565785"/>
          </a:xfrm>
          <a:prstGeom prst="rect">
            <a:avLst/>
          </a:prstGeom>
        </p:spPr>
        <p:txBody>
          <a:bodyPr lIns="0" tIns="0" rIns="0" bIns="0" rtlCol="0" anchor="t">
            <a:spAutoFit/>
          </a:bodyPr>
          <a:lstStyle/>
          <a:p>
            <a:pPr marL="0" lvl="0" indent="0" algn="ctr">
              <a:lnSpc>
                <a:spcPts val="4767"/>
              </a:lnSpc>
              <a:spcBef>
                <a:spcPct val="0"/>
              </a:spcBef>
            </a:pPr>
            <a:r>
              <a:rPr lang="en-US" sz="3405" b="1">
                <a:solidFill>
                  <a:srgbClr val="FFFFFF"/>
                </a:solidFill>
                <a:latin typeface="TT Interphases Bold"/>
                <a:ea typeface="TT Interphases Bold"/>
                <a:cs typeface="TT Interphases Bold"/>
                <a:sym typeface="TT Interphases Bold"/>
              </a:rPr>
              <a:t>Conversation History</a:t>
            </a:r>
          </a:p>
        </p:txBody>
      </p:sp>
      <p:sp>
        <p:nvSpPr>
          <p:cNvPr id="30" name="TextBox 30"/>
          <p:cNvSpPr txBox="1"/>
          <p:nvPr/>
        </p:nvSpPr>
        <p:spPr>
          <a:xfrm>
            <a:off x="12070808" y="6175839"/>
            <a:ext cx="4938068" cy="565785"/>
          </a:xfrm>
          <a:prstGeom prst="rect">
            <a:avLst/>
          </a:prstGeom>
        </p:spPr>
        <p:txBody>
          <a:bodyPr lIns="0" tIns="0" rIns="0" bIns="0" rtlCol="0" anchor="t">
            <a:spAutoFit/>
          </a:bodyPr>
          <a:lstStyle/>
          <a:p>
            <a:pPr marL="0" lvl="0" indent="0" algn="ctr">
              <a:lnSpc>
                <a:spcPts val="4767"/>
              </a:lnSpc>
              <a:spcBef>
                <a:spcPct val="0"/>
              </a:spcBef>
            </a:pPr>
            <a:r>
              <a:rPr lang="en-US" sz="3405" b="1">
                <a:solidFill>
                  <a:srgbClr val="FFFFFF"/>
                </a:solidFill>
                <a:latin typeface="TT Interphases Bold"/>
                <a:ea typeface="TT Interphases Bold"/>
                <a:cs typeface="TT Interphases Bold"/>
                <a:sym typeface="TT Interphases Bold"/>
              </a:rPr>
              <a:t>Response Display</a:t>
            </a:r>
          </a:p>
        </p:txBody>
      </p:sp>
      <p:sp>
        <p:nvSpPr>
          <p:cNvPr id="31" name="TextBox 31"/>
          <p:cNvSpPr txBox="1"/>
          <p:nvPr/>
        </p:nvSpPr>
        <p:spPr>
          <a:xfrm>
            <a:off x="12070808" y="7359470"/>
            <a:ext cx="4938068" cy="565785"/>
          </a:xfrm>
          <a:prstGeom prst="rect">
            <a:avLst/>
          </a:prstGeom>
        </p:spPr>
        <p:txBody>
          <a:bodyPr lIns="0" tIns="0" rIns="0" bIns="0" rtlCol="0" anchor="t">
            <a:spAutoFit/>
          </a:bodyPr>
          <a:lstStyle/>
          <a:p>
            <a:pPr marL="0" lvl="0" indent="0" algn="ctr">
              <a:lnSpc>
                <a:spcPts val="4767"/>
              </a:lnSpc>
              <a:spcBef>
                <a:spcPct val="0"/>
              </a:spcBef>
            </a:pPr>
            <a:r>
              <a:rPr lang="en-US" sz="3405" b="1">
                <a:solidFill>
                  <a:srgbClr val="FFFFFF"/>
                </a:solidFill>
                <a:latin typeface="TT Interphases Bold"/>
                <a:ea typeface="TT Interphases Bold"/>
                <a:cs typeface="TT Interphases Bold"/>
                <a:sym typeface="TT Interphases Bold"/>
              </a:rPr>
              <a:t>Source Citations</a:t>
            </a:r>
          </a:p>
        </p:txBody>
      </p:sp>
      <p:sp>
        <p:nvSpPr>
          <p:cNvPr id="37" name="Freeform 37"/>
          <p:cNvSpPr/>
          <p:nvPr/>
        </p:nvSpPr>
        <p:spPr>
          <a:xfrm>
            <a:off x="8458061" y="1052882"/>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r:embed="rId11" cstate="print">
              <a:extLst>
                <a:ext uri="{96DAC541-7B7A-43D3-8B79-37D633B846F1}">
                  <asvg:svgBlip xmlns:asvg="http://schemas.microsoft.com/office/drawing/2016/SVG/main" xmlns="" r:embed="rId14"/>
                </a:ext>
              </a:extLst>
            </a:blip>
            <a:stretch>
              <a:fillRect t="-106388" r="-103152"/>
            </a:stretch>
          </a:blipFill>
        </p:spPr>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2607619">
            <a:off x="-19981133" y="5265640"/>
            <a:ext cx="46462329" cy="4588155"/>
          </a:xfrm>
          <a:custGeom>
            <a:avLst/>
            <a:gdLst/>
            <a:ahLst/>
            <a:cxnLst/>
            <a:rect l="l" t="t" r="r" b="b"/>
            <a:pathLst>
              <a:path w="46462329" h="4588155">
                <a:moveTo>
                  <a:pt x="0" y="0"/>
                </a:moveTo>
                <a:lnTo>
                  <a:pt x="46462329" y="0"/>
                </a:lnTo>
                <a:lnTo>
                  <a:pt x="46462329" y="4588155"/>
                </a:lnTo>
                <a:lnTo>
                  <a:pt x="0" y="4588155"/>
                </a:lnTo>
                <a:lnTo>
                  <a:pt x="0" y="0"/>
                </a:lnTo>
                <a:close/>
              </a:path>
            </a:pathLst>
          </a:custGeom>
          <a:blipFill>
            <a:blip r:embed="rId2">
              <a:alphaModFix amt="15000"/>
            </a:blip>
            <a:stretch>
              <a:fillRect/>
            </a:stretch>
          </a:blipFill>
        </p:spPr>
      </p:sp>
      <p:sp>
        <p:nvSpPr>
          <p:cNvPr id="3" name="Freeform 3"/>
          <p:cNvSpPr/>
          <p:nvPr/>
        </p:nvSpPr>
        <p:spPr>
          <a:xfrm rot="-2610000">
            <a:off x="-9868412" y="5841334"/>
            <a:ext cx="48679033" cy="4381113"/>
          </a:xfrm>
          <a:custGeom>
            <a:avLst/>
            <a:gdLst/>
            <a:ahLst/>
            <a:cxnLst/>
            <a:rect l="l" t="t" r="r" b="b"/>
            <a:pathLst>
              <a:path w="48679033" h="4381113">
                <a:moveTo>
                  <a:pt x="0" y="0"/>
                </a:moveTo>
                <a:lnTo>
                  <a:pt x="48679033" y="0"/>
                </a:lnTo>
                <a:lnTo>
                  <a:pt x="48679033" y="4381113"/>
                </a:lnTo>
                <a:lnTo>
                  <a:pt x="0" y="4381113"/>
                </a:lnTo>
                <a:lnTo>
                  <a:pt x="0" y="0"/>
                </a:lnTo>
                <a:close/>
              </a:path>
            </a:pathLst>
          </a:custGeom>
          <a:blipFill>
            <a:blip r:embed="rId3">
              <a:alphaModFix amt="15000"/>
            </a:blip>
            <a:stretch>
              <a:fillRect/>
            </a:stretch>
          </a:blipFill>
        </p:spPr>
      </p:sp>
      <p:sp>
        <p:nvSpPr>
          <p:cNvPr id="4" name="Freeform 4"/>
          <p:cNvSpPr/>
          <p:nvPr/>
        </p:nvSpPr>
        <p:spPr>
          <a:xfrm>
            <a:off x="-2332144" y="8858978"/>
            <a:ext cx="4695814" cy="4713490"/>
          </a:xfrm>
          <a:custGeom>
            <a:avLst/>
            <a:gdLst/>
            <a:ahLst/>
            <a:cxnLst/>
            <a:rect l="l" t="t" r="r" b="b"/>
            <a:pathLst>
              <a:path w="4695814" h="4713490">
                <a:moveTo>
                  <a:pt x="0" y="0"/>
                </a:moveTo>
                <a:lnTo>
                  <a:pt x="4695814" y="0"/>
                </a:lnTo>
                <a:lnTo>
                  <a:pt x="4695814" y="4713490"/>
                </a:lnTo>
                <a:lnTo>
                  <a:pt x="0" y="4713490"/>
                </a:lnTo>
                <a:lnTo>
                  <a:pt x="0" y="0"/>
                </a:lnTo>
                <a:close/>
              </a:path>
            </a:pathLst>
          </a:custGeom>
          <a:blipFill>
            <a:blip r:embed="rId4"/>
            <a:stretch>
              <a:fillRect/>
            </a:stretch>
          </a:blipFill>
        </p:spPr>
      </p:sp>
      <p:sp>
        <p:nvSpPr>
          <p:cNvPr id="5" name="Freeform 5"/>
          <p:cNvSpPr/>
          <p:nvPr/>
        </p:nvSpPr>
        <p:spPr>
          <a:xfrm>
            <a:off x="15891096" y="8737833"/>
            <a:ext cx="4793807" cy="4802539"/>
          </a:xfrm>
          <a:custGeom>
            <a:avLst/>
            <a:gdLst/>
            <a:ahLst/>
            <a:cxnLst/>
            <a:rect l="l" t="t" r="r" b="b"/>
            <a:pathLst>
              <a:path w="4793807" h="4802539">
                <a:moveTo>
                  <a:pt x="0" y="0"/>
                </a:moveTo>
                <a:lnTo>
                  <a:pt x="4793808" y="0"/>
                </a:lnTo>
                <a:lnTo>
                  <a:pt x="4793808" y="4802539"/>
                </a:lnTo>
                <a:lnTo>
                  <a:pt x="0" y="4802539"/>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flipH="1">
            <a:off x="17055059" y="1028700"/>
            <a:ext cx="1675621" cy="3401366"/>
          </a:xfrm>
          <a:custGeom>
            <a:avLst/>
            <a:gdLst/>
            <a:ahLst/>
            <a:cxnLst/>
            <a:rect l="l" t="t" r="r" b="b"/>
            <a:pathLst>
              <a:path w="1675621" h="3401366">
                <a:moveTo>
                  <a:pt x="1675621" y="0"/>
                </a:moveTo>
                <a:lnTo>
                  <a:pt x="0" y="0"/>
                </a:lnTo>
                <a:lnTo>
                  <a:pt x="0" y="3401366"/>
                </a:lnTo>
                <a:lnTo>
                  <a:pt x="1675621" y="3401366"/>
                </a:lnTo>
                <a:lnTo>
                  <a:pt x="1675621" y="0"/>
                </a:lnTo>
                <a:close/>
              </a:path>
            </a:pathLst>
          </a:custGeom>
          <a:blipFill>
            <a:blip r:embed="rId7"/>
            <a:stretch>
              <a:fillRect/>
            </a:stretch>
          </a:blipFill>
        </p:spPr>
      </p:sp>
      <p:sp>
        <p:nvSpPr>
          <p:cNvPr id="7" name="Freeform 7"/>
          <p:cNvSpPr/>
          <p:nvPr/>
        </p:nvSpPr>
        <p:spPr>
          <a:xfrm>
            <a:off x="-646921" y="1028700"/>
            <a:ext cx="1675621" cy="3401366"/>
          </a:xfrm>
          <a:custGeom>
            <a:avLst/>
            <a:gdLst/>
            <a:ahLst/>
            <a:cxnLst/>
            <a:rect l="l" t="t" r="r" b="b"/>
            <a:pathLst>
              <a:path w="1675621" h="3401366">
                <a:moveTo>
                  <a:pt x="0" y="0"/>
                </a:moveTo>
                <a:lnTo>
                  <a:pt x="1675621" y="0"/>
                </a:lnTo>
                <a:lnTo>
                  <a:pt x="1675621" y="3401366"/>
                </a:lnTo>
                <a:lnTo>
                  <a:pt x="0" y="3401366"/>
                </a:lnTo>
                <a:lnTo>
                  <a:pt x="0" y="0"/>
                </a:lnTo>
                <a:close/>
              </a:path>
            </a:pathLst>
          </a:custGeom>
          <a:blipFill>
            <a:blip r:embed="rId7"/>
            <a:stretch>
              <a:fillRect/>
            </a:stretch>
          </a:blipFill>
        </p:spPr>
      </p:sp>
      <p:grpSp>
        <p:nvGrpSpPr>
          <p:cNvPr id="8" name="Group 8"/>
          <p:cNvGrpSpPr/>
          <p:nvPr/>
        </p:nvGrpSpPr>
        <p:grpSpPr>
          <a:xfrm>
            <a:off x="1481891" y="4802586"/>
            <a:ext cx="2919836" cy="3115504"/>
            <a:chOff x="0" y="0"/>
            <a:chExt cx="769010" cy="820544"/>
          </a:xfrm>
        </p:grpSpPr>
        <p:sp>
          <p:nvSpPr>
            <p:cNvPr id="9" name="Freeform 9"/>
            <p:cNvSpPr/>
            <p:nvPr/>
          </p:nvSpPr>
          <p:spPr>
            <a:xfrm>
              <a:off x="0" y="0"/>
              <a:ext cx="769010" cy="820544"/>
            </a:xfrm>
            <a:custGeom>
              <a:avLst/>
              <a:gdLst/>
              <a:ahLst/>
              <a:cxnLst/>
              <a:rect l="l" t="t" r="r" b="b"/>
              <a:pathLst>
                <a:path w="769010" h="820544">
                  <a:moveTo>
                    <a:pt x="76893" y="0"/>
                  </a:moveTo>
                  <a:lnTo>
                    <a:pt x="692117" y="0"/>
                  </a:lnTo>
                  <a:cubicBezTo>
                    <a:pt x="734584" y="0"/>
                    <a:pt x="769010" y="34426"/>
                    <a:pt x="769010" y="76893"/>
                  </a:cubicBezTo>
                  <a:lnTo>
                    <a:pt x="769010" y="743651"/>
                  </a:lnTo>
                  <a:cubicBezTo>
                    <a:pt x="769010" y="764044"/>
                    <a:pt x="760909" y="783602"/>
                    <a:pt x="746489" y="798023"/>
                  </a:cubicBezTo>
                  <a:cubicBezTo>
                    <a:pt x="732069" y="812443"/>
                    <a:pt x="712510" y="820544"/>
                    <a:pt x="692117" y="820544"/>
                  </a:cubicBezTo>
                  <a:lnTo>
                    <a:pt x="76893" y="820544"/>
                  </a:lnTo>
                  <a:cubicBezTo>
                    <a:pt x="56500" y="820544"/>
                    <a:pt x="36942" y="812443"/>
                    <a:pt x="22522" y="798023"/>
                  </a:cubicBezTo>
                  <a:cubicBezTo>
                    <a:pt x="8101" y="783602"/>
                    <a:pt x="0" y="764044"/>
                    <a:pt x="0" y="743651"/>
                  </a:cubicBezTo>
                  <a:lnTo>
                    <a:pt x="0" y="76893"/>
                  </a:lnTo>
                  <a:cubicBezTo>
                    <a:pt x="0" y="56500"/>
                    <a:pt x="8101" y="36942"/>
                    <a:pt x="22522" y="22522"/>
                  </a:cubicBezTo>
                  <a:cubicBezTo>
                    <a:pt x="36942" y="8101"/>
                    <a:pt x="56500" y="0"/>
                    <a:pt x="76893" y="0"/>
                  </a:cubicBezTo>
                  <a:close/>
                </a:path>
              </a:pathLst>
            </a:custGeom>
            <a:gradFill rotWithShape="1">
              <a:gsLst>
                <a:gs pos="0">
                  <a:srgbClr val="431F8A">
                    <a:alpha val="100000"/>
                  </a:srgbClr>
                </a:gs>
                <a:gs pos="100000">
                  <a:srgbClr val="6A2E90">
                    <a:alpha val="100000"/>
                  </a:srgbClr>
                </a:gs>
              </a:gsLst>
              <a:lin ang="0"/>
            </a:gradFill>
          </p:spPr>
        </p:sp>
        <p:sp>
          <p:nvSpPr>
            <p:cNvPr id="10" name="TextBox 10"/>
            <p:cNvSpPr txBox="1"/>
            <p:nvPr/>
          </p:nvSpPr>
          <p:spPr>
            <a:xfrm>
              <a:off x="0" y="-57150"/>
              <a:ext cx="769010" cy="877694"/>
            </a:xfrm>
            <a:prstGeom prst="rect">
              <a:avLst/>
            </a:prstGeom>
          </p:spPr>
          <p:txBody>
            <a:bodyPr lIns="50800" tIns="50800" rIns="50800" bIns="50800" rtlCol="0" anchor="ctr"/>
            <a:lstStyle/>
            <a:p>
              <a:pPr marL="0" lvl="0" indent="0" algn="ctr">
                <a:lnSpc>
                  <a:spcPts val="3359"/>
                </a:lnSpc>
              </a:pPr>
              <a:endParaRPr/>
            </a:p>
          </p:txBody>
        </p:sp>
      </p:grpSp>
      <p:grpSp>
        <p:nvGrpSpPr>
          <p:cNvPr id="11" name="Group 11"/>
          <p:cNvGrpSpPr/>
          <p:nvPr/>
        </p:nvGrpSpPr>
        <p:grpSpPr>
          <a:xfrm>
            <a:off x="4583840" y="4802586"/>
            <a:ext cx="2919836" cy="3115504"/>
            <a:chOff x="0" y="0"/>
            <a:chExt cx="769010" cy="820544"/>
          </a:xfrm>
        </p:grpSpPr>
        <p:sp>
          <p:nvSpPr>
            <p:cNvPr id="12" name="Freeform 12"/>
            <p:cNvSpPr/>
            <p:nvPr/>
          </p:nvSpPr>
          <p:spPr>
            <a:xfrm>
              <a:off x="0" y="0"/>
              <a:ext cx="769010" cy="820544"/>
            </a:xfrm>
            <a:custGeom>
              <a:avLst/>
              <a:gdLst/>
              <a:ahLst/>
              <a:cxnLst/>
              <a:rect l="l" t="t" r="r" b="b"/>
              <a:pathLst>
                <a:path w="769010" h="820544">
                  <a:moveTo>
                    <a:pt x="76893" y="0"/>
                  </a:moveTo>
                  <a:lnTo>
                    <a:pt x="692117" y="0"/>
                  </a:lnTo>
                  <a:cubicBezTo>
                    <a:pt x="734584" y="0"/>
                    <a:pt x="769010" y="34426"/>
                    <a:pt x="769010" y="76893"/>
                  </a:cubicBezTo>
                  <a:lnTo>
                    <a:pt x="769010" y="743651"/>
                  </a:lnTo>
                  <a:cubicBezTo>
                    <a:pt x="769010" y="764044"/>
                    <a:pt x="760909" y="783602"/>
                    <a:pt x="746489" y="798023"/>
                  </a:cubicBezTo>
                  <a:cubicBezTo>
                    <a:pt x="732069" y="812443"/>
                    <a:pt x="712510" y="820544"/>
                    <a:pt x="692117" y="820544"/>
                  </a:cubicBezTo>
                  <a:lnTo>
                    <a:pt x="76893" y="820544"/>
                  </a:lnTo>
                  <a:cubicBezTo>
                    <a:pt x="56500" y="820544"/>
                    <a:pt x="36942" y="812443"/>
                    <a:pt x="22522" y="798023"/>
                  </a:cubicBezTo>
                  <a:cubicBezTo>
                    <a:pt x="8101" y="783602"/>
                    <a:pt x="0" y="764044"/>
                    <a:pt x="0" y="743651"/>
                  </a:cubicBezTo>
                  <a:lnTo>
                    <a:pt x="0" y="76893"/>
                  </a:lnTo>
                  <a:cubicBezTo>
                    <a:pt x="0" y="56500"/>
                    <a:pt x="8101" y="36942"/>
                    <a:pt x="22522" y="22522"/>
                  </a:cubicBezTo>
                  <a:cubicBezTo>
                    <a:pt x="36942" y="8101"/>
                    <a:pt x="56500" y="0"/>
                    <a:pt x="76893" y="0"/>
                  </a:cubicBezTo>
                  <a:close/>
                </a:path>
              </a:pathLst>
            </a:custGeom>
            <a:gradFill rotWithShape="1">
              <a:gsLst>
                <a:gs pos="0">
                  <a:srgbClr val="431F8A">
                    <a:alpha val="100000"/>
                  </a:srgbClr>
                </a:gs>
                <a:gs pos="100000">
                  <a:srgbClr val="6A2E90">
                    <a:alpha val="100000"/>
                  </a:srgbClr>
                </a:gs>
              </a:gsLst>
              <a:lin ang="0"/>
            </a:gradFill>
          </p:spPr>
        </p:sp>
        <p:sp>
          <p:nvSpPr>
            <p:cNvPr id="13" name="TextBox 13"/>
            <p:cNvSpPr txBox="1"/>
            <p:nvPr/>
          </p:nvSpPr>
          <p:spPr>
            <a:xfrm>
              <a:off x="0" y="-57150"/>
              <a:ext cx="769010" cy="877694"/>
            </a:xfrm>
            <a:prstGeom prst="rect">
              <a:avLst/>
            </a:prstGeom>
          </p:spPr>
          <p:txBody>
            <a:bodyPr lIns="50800" tIns="50800" rIns="50800" bIns="50800" rtlCol="0" anchor="ctr"/>
            <a:lstStyle/>
            <a:p>
              <a:pPr marL="0" lvl="0" indent="0" algn="ctr">
                <a:lnSpc>
                  <a:spcPts val="3359"/>
                </a:lnSpc>
              </a:pPr>
              <a:endParaRPr/>
            </a:p>
          </p:txBody>
        </p:sp>
      </p:grpSp>
      <p:grpSp>
        <p:nvGrpSpPr>
          <p:cNvPr id="14" name="Group 14"/>
          <p:cNvGrpSpPr/>
          <p:nvPr/>
        </p:nvGrpSpPr>
        <p:grpSpPr>
          <a:xfrm>
            <a:off x="7684651" y="4802586"/>
            <a:ext cx="2919836" cy="3115504"/>
            <a:chOff x="0" y="0"/>
            <a:chExt cx="769010" cy="820544"/>
          </a:xfrm>
        </p:grpSpPr>
        <p:sp>
          <p:nvSpPr>
            <p:cNvPr id="15" name="Freeform 15"/>
            <p:cNvSpPr/>
            <p:nvPr/>
          </p:nvSpPr>
          <p:spPr>
            <a:xfrm>
              <a:off x="0" y="0"/>
              <a:ext cx="769010" cy="820544"/>
            </a:xfrm>
            <a:custGeom>
              <a:avLst/>
              <a:gdLst/>
              <a:ahLst/>
              <a:cxnLst/>
              <a:rect l="l" t="t" r="r" b="b"/>
              <a:pathLst>
                <a:path w="769010" h="820544">
                  <a:moveTo>
                    <a:pt x="76893" y="0"/>
                  </a:moveTo>
                  <a:lnTo>
                    <a:pt x="692117" y="0"/>
                  </a:lnTo>
                  <a:cubicBezTo>
                    <a:pt x="734584" y="0"/>
                    <a:pt x="769010" y="34426"/>
                    <a:pt x="769010" y="76893"/>
                  </a:cubicBezTo>
                  <a:lnTo>
                    <a:pt x="769010" y="743651"/>
                  </a:lnTo>
                  <a:cubicBezTo>
                    <a:pt x="769010" y="764044"/>
                    <a:pt x="760909" y="783602"/>
                    <a:pt x="746489" y="798023"/>
                  </a:cubicBezTo>
                  <a:cubicBezTo>
                    <a:pt x="732069" y="812443"/>
                    <a:pt x="712510" y="820544"/>
                    <a:pt x="692117" y="820544"/>
                  </a:cubicBezTo>
                  <a:lnTo>
                    <a:pt x="76893" y="820544"/>
                  </a:lnTo>
                  <a:cubicBezTo>
                    <a:pt x="56500" y="820544"/>
                    <a:pt x="36942" y="812443"/>
                    <a:pt x="22522" y="798023"/>
                  </a:cubicBezTo>
                  <a:cubicBezTo>
                    <a:pt x="8101" y="783602"/>
                    <a:pt x="0" y="764044"/>
                    <a:pt x="0" y="743651"/>
                  </a:cubicBezTo>
                  <a:lnTo>
                    <a:pt x="0" y="76893"/>
                  </a:lnTo>
                  <a:cubicBezTo>
                    <a:pt x="0" y="56500"/>
                    <a:pt x="8101" y="36942"/>
                    <a:pt x="22522" y="22522"/>
                  </a:cubicBezTo>
                  <a:cubicBezTo>
                    <a:pt x="36942" y="8101"/>
                    <a:pt x="56500" y="0"/>
                    <a:pt x="76893" y="0"/>
                  </a:cubicBezTo>
                  <a:close/>
                </a:path>
              </a:pathLst>
            </a:custGeom>
            <a:gradFill rotWithShape="1">
              <a:gsLst>
                <a:gs pos="0">
                  <a:srgbClr val="431F8A">
                    <a:alpha val="100000"/>
                  </a:srgbClr>
                </a:gs>
                <a:gs pos="100000">
                  <a:srgbClr val="6A2E90">
                    <a:alpha val="100000"/>
                  </a:srgbClr>
                </a:gs>
              </a:gsLst>
              <a:lin ang="0"/>
            </a:gradFill>
          </p:spPr>
        </p:sp>
        <p:sp>
          <p:nvSpPr>
            <p:cNvPr id="16" name="TextBox 16"/>
            <p:cNvSpPr txBox="1"/>
            <p:nvPr/>
          </p:nvSpPr>
          <p:spPr>
            <a:xfrm>
              <a:off x="0" y="-57150"/>
              <a:ext cx="769010" cy="877694"/>
            </a:xfrm>
            <a:prstGeom prst="rect">
              <a:avLst/>
            </a:prstGeom>
          </p:spPr>
          <p:txBody>
            <a:bodyPr lIns="50800" tIns="50800" rIns="50800" bIns="50800" rtlCol="0" anchor="ctr"/>
            <a:lstStyle/>
            <a:p>
              <a:pPr marL="0" lvl="0" indent="0" algn="ctr">
                <a:lnSpc>
                  <a:spcPts val="3359"/>
                </a:lnSpc>
              </a:pPr>
              <a:endParaRPr/>
            </a:p>
          </p:txBody>
        </p:sp>
      </p:grpSp>
      <p:sp>
        <p:nvSpPr>
          <p:cNvPr id="17" name="TextBox 17"/>
          <p:cNvSpPr txBox="1"/>
          <p:nvPr/>
        </p:nvSpPr>
        <p:spPr>
          <a:xfrm>
            <a:off x="7010277" y="1123950"/>
            <a:ext cx="4267447" cy="578152"/>
          </a:xfrm>
          <a:prstGeom prst="rect">
            <a:avLst/>
          </a:prstGeom>
        </p:spPr>
        <p:txBody>
          <a:bodyPr lIns="0" tIns="0" rIns="0" bIns="0" rtlCol="0" anchor="t">
            <a:spAutoFit/>
          </a:bodyPr>
          <a:lstStyle/>
          <a:p>
            <a:pPr marL="0" lvl="0" indent="0" algn="ctr">
              <a:lnSpc>
                <a:spcPts val="4332"/>
              </a:lnSpc>
            </a:pPr>
            <a:r>
              <a:rPr lang="en-US" sz="4466">
                <a:solidFill>
                  <a:srgbClr val="FFFFFF"/>
                </a:solidFill>
                <a:latin typeface="TT Interphases"/>
                <a:ea typeface="TT Interphases"/>
                <a:cs typeface="TT Interphases"/>
                <a:sym typeface="TT Interphases"/>
              </a:rPr>
              <a:t>Key Outcomes,</a:t>
            </a:r>
          </a:p>
        </p:txBody>
      </p:sp>
      <p:sp>
        <p:nvSpPr>
          <p:cNvPr id="18" name="TextBox 18"/>
          <p:cNvSpPr txBox="1"/>
          <p:nvPr/>
        </p:nvSpPr>
        <p:spPr>
          <a:xfrm>
            <a:off x="1881823" y="5184306"/>
            <a:ext cx="2119971" cy="225597"/>
          </a:xfrm>
          <a:prstGeom prst="rect">
            <a:avLst/>
          </a:prstGeom>
        </p:spPr>
        <p:txBody>
          <a:bodyPr lIns="0" tIns="0" rIns="0" bIns="0" rtlCol="0" anchor="t">
            <a:spAutoFit/>
          </a:bodyPr>
          <a:lstStyle/>
          <a:p>
            <a:pPr marL="0" lvl="0" indent="0" algn="ctr">
              <a:lnSpc>
                <a:spcPts val="1798"/>
              </a:lnSpc>
            </a:pPr>
            <a:r>
              <a:rPr lang="en-US" sz="1853" b="1">
                <a:solidFill>
                  <a:srgbClr val="FFFFFF"/>
                </a:solidFill>
                <a:latin typeface="TT Interphases Bold"/>
                <a:ea typeface="TT Interphases Bold"/>
                <a:cs typeface="TT Interphases Bold"/>
                <a:sym typeface="TT Interphases Bold"/>
              </a:rPr>
              <a:t>Accurate Retrieval</a:t>
            </a:r>
          </a:p>
        </p:txBody>
      </p:sp>
      <p:sp>
        <p:nvSpPr>
          <p:cNvPr id="19" name="TextBox 19"/>
          <p:cNvSpPr txBox="1"/>
          <p:nvPr/>
        </p:nvSpPr>
        <p:spPr>
          <a:xfrm>
            <a:off x="4994273" y="5184306"/>
            <a:ext cx="2119971" cy="225597"/>
          </a:xfrm>
          <a:prstGeom prst="rect">
            <a:avLst/>
          </a:prstGeom>
        </p:spPr>
        <p:txBody>
          <a:bodyPr lIns="0" tIns="0" rIns="0" bIns="0" rtlCol="0" anchor="t">
            <a:spAutoFit/>
          </a:bodyPr>
          <a:lstStyle/>
          <a:p>
            <a:pPr marL="0" lvl="0" indent="0" algn="ctr">
              <a:lnSpc>
                <a:spcPts val="1798"/>
              </a:lnSpc>
            </a:pPr>
            <a:r>
              <a:rPr lang="en-US" sz="1853" b="1">
                <a:solidFill>
                  <a:srgbClr val="FFFFFF"/>
                </a:solidFill>
                <a:latin typeface="TT Interphases Bold"/>
                <a:ea typeface="TT Interphases Bold"/>
                <a:cs typeface="TT Interphases Bold"/>
                <a:sym typeface="TT Interphases Bold"/>
              </a:rPr>
              <a:t>Grounded Answers</a:t>
            </a:r>
          </a:p>
        </p:txBody>
      </p:sp>
      <p:sp>
        <p:nvSpPr>
          <p:cNvPr id="20" name="TextBox 20"/>
          <p:cNvSpPr txBox="1"/>
          <p:nvPr/>
        </p:nvSpPr>
        <p:spPr>
          <a:xfrm>
            <a:off x="4417306" y="2031648"/>
            <a:ext cx="9453388" cy="578152"/>
          </a:xfrm>
          <a:prstGeom prst="rect">
            <a:avLst/>
          </a:prstGeom>
        </p:spPr>
        <p:txBody>
          <a:bodyPr lIns="0" tIns="0" rIns="0" bIns="0" rtlCol="0" anchor="t">
            <a:spAutoFit/>
          </a:bodyPr>
          <a:lstStyle/>
          <a:p>
            <a:pPr marL="0" lvl="0" indent="0" algn="ctr">
              <a:lnSpc>
                <a:spcPts val="4332"/>
              </a:lnSpc>
            </a:pPr>
            <a:r>
              <a:rPr lang="en-US" sz="4466" b="1">
                <a:solidFill>
                  <a:srgbClr val="A94BC6"/>
                </a:solidFill>
                <a:latin typeface="TT Interphases Bold"/>
                <a:ea typeface="TT Interphases Bold"/>
                <a:cs typeface="TT Interphases Bold"/>
                <a:sym typeface="TT Interphases Bold"/>
              </a:rPr>
              <a:t>Limitations &amp; Future Improvements</a:t>
            </a:r>
          </a:p>
        </p:txBody>
      </p:sp>
      <p:sp>
        <p:nvSpPr>
          <p:cNvPr id="21" name="TextBox 21"/>
          <p:cNvSpPr txBox="1"/>
          <p:nvPr/>
        </p:nvSpPr>
        <p:spPr>
          <a:xfrm>
            <a:off x="1628388" y="3306762"/>
            <a:ext cx="15031223" cy="521758"/>
          </a:xfrm>
          <a:prstGeom prst="rect">
            <a:avLst/>
          </a:prstGeom>
        </p:spPr>
        <p:txBody>
          <a:bodyPr lIns="0" tIns="0" rIns="0" bIns="0" rtlCol="0" anchor="t">
            <a:spAutoFit/>
          </a:bodyPr>
          <a:lstStyle/>
          <a:p>
            <a:pPr marL="0" lvl="0" indent="0" algn="ctr">
              <a:lnSpc>
                <a:spcPts val="2166"/>
              </a:lnSpc>
            </a:pPr>
            <a:r>
              <a:rPr lang="en-US" sz="1666">
                <a:solidFill>
                  <a:srgbClr val="FFFFFF"/>
                </a:solidFill>
                <a:latin typeface="TT Interphases"/>
                <a:ea typeface="TT Interphases"/>
                <a:cs typeface="TT Interphases"/>
                <a:sym typeface="TT Interphases"/>
              </a:rPr>
              <a:t>The Finance Knowledge Assistant demonstrates strong retrieval accuracy and grounded answer generation. Below are the core outcomes achieved, known limitations, and planned enhancements for future iterations.</a:t>
            </a:r>
          </a:p>
        </p:txBody>
      </p:sp>
      <p:grpSp>
        <p:nvGrpSpPr>
          <p:cNvPr id="22" name="Group 22"/>
          <p:cNvGrpSpPr/>
          <p:nvPr/>
        </p:nvGrpSpPr>
        <p:grpSpPr>
          <a:xfrm>
            <a:off x="10785462" y="4802586"/>
            <a:ext cx="2919836" cy="3115504"/>
            <a:chOff x="0" y="0"/>
            <a:chExt cx="769010" cy="820544"/>
          </a:xfrm>
        </p:grpSpPr>
        <p:sp>
          <p:nvSpPr>
            <p:cNvPr id="23" name="Freeform 23"/>
            <p:cNvSpPr/>
            <p:nvPr/>
          </p:nvSpPr>
          <p:spPr>
            <a:xfrm>
              <a:off x="0" y="0"/>
              <a:ext cx="769010" cy="820544"/>
            </a:xfrm>
            <a:custGeom>
              <a:avLst/>
              <a:gdLst/>
              <a:ahLst/>
              <a:cxnLst/>
              <a:rect l="l" t="t" r="r" b="b"/>
              <a:pathLst>
                <a:path w="769010" h="820544">
                  <a:moveTo>
                    <a:pt x="76893" y="0"/>
                  </a:moveTo>
                  <a:lnTo>
                    <a:pt x="692117" y="0"/>
                  </a:lnTo>
                  <a:cubicBezTo>
                    <a:pt x="734584" y="0"/>
                    <a:pt x="769010" y="34426"/>
                    <a:pt x="769010" y="76893"/>
                  </a:cubicBezTo>
                  <a:lnTo>
                    <a:pt x="769010" y="743651"/>
                  </a:lnTo>
                  <a:cubicBezTo>
                    <a:pt x="769010" y="764044"/>
                    <a:pt x="760909" y="783602"/>
                    <a:pt x="746489" y="798023"/>
                  </a:cubicBezTo>
                  <a:cubicBezTo>
                    <a:pt x="732069" y="812443"/>
                    <a:pt x="712510" y="820544"/>
                    <a:pt x="692117" y="820544"/>
                  </a:cubicBezTo>
                  <a:lnTo>
                    <a:pt x="76893" y="820544"/>
                  </a:lnTo>
                  <a:cubicBezTo>
                    <a:pt x="56500" y="820544"/>
                    <a:pt x="36942" y="812443"/>
                    <a:pt x="22522" y="798023"/>
                  </a:cubicBezTo>
                  <a:cubicBezTo>
                    <a:pt x="8101" y="783602"/>
                    <a:pt x="0" y="764044"/>
                    <a:pt x="0" y="743651"/>
                  </a:cubicBezTo>
                  <a:lnTo>
                    <a:pt x="0" y="76893"/>
                  </a:lnTo>
                  <a:cubicBezTo>
                    <a:pt x="0" y="56500"/>
                    <a:pt x="8101" y="36942"/>
                    <a:pt x="22522" y="22522"/>
                  </a:cubicBezTo>
                  <a:cubicBezTo>
                    <a:pt x="36942" y="8101"/>
                    <a:pt x="56500" y="0"/>
                    <a:pt x="76893" y="0"/>
                  </a:cubicBezTo>
                  <a:close/>
                </a:path>
              </a:pathLst>
            </a:custGeom>
            <a:gradFill rotWithShape="1">
              <a:gsLst>
                <a:gs pos="0">
                  <a:srgbClr val="431F8A">
                    <a:alpha val="100000"/>
                  </a:srgbClr>
                </a:gs>
                <a:gs pos="100000">
                  <a:srgbClr val="6A2E90">
                    <a:alpha val="100000"/>
                  </a:srgbClr>
                </a:gs>
              </a:gsLst>
              <a:lin ang="0"/>
            </a:gradFill>
          </p:spPr>
        </p:sp>
        <p:sp>
          <p:nvSpPr>
            <p:cNvPr id="24" name="TextBox 24"/>
            <p:cNvSpPr txBox="1"/>
            <p:nvPr/>
          </p:nvSpPr>
          <p:spPr>
            <a:xfrm>
              <a:off x="0" y="-57150"/>
              <a:ext cx="769010" cy="877694"/>
            </a:xfrm>
            <a:prstGeom prst="rect">
              <a:avLst/>
            </a:prstGeom>
          </p:spPr>
          <p:txBody>
            <a:bodyPr lIns="50800" tIns="50800" rIns="50800" bIns="50800" rtlCol="0" anchor="ctr"/>
            <a:lstStyle/>
            <a:p>
              <a:pPr marL="0" lvl="0" indent="0" algn="ctr">
                <a:lnSpc>
                  <a:spcPts val="3359"/>
                </a:lnSpc>
              </a:pPr>
              <a:endParaRPr/>
            </a:p>
          </p:txBody>
        </p:sp>
      </p:grpSp>
      <p:grpSp>
        <p:nvGrpSpPr>
          <p:cNvPr id="25" name="Group 25"/>
          <p:cNvGrpSpPr/>
          <p:nvPr/>
        </p:nvGrpSpPr>
        <p:grpSpPr>
          <a:xfrm>
            <a:off x="13886273" y="4802586"/>
            <a:ext cx="2919836" cy="3115504"/>
            <a:chOff x="0" y="0"/>
            <a:chExt cx="769010" cy="820544"/>
          </a:xfrm>
        </p:grpSpPr>
        <p:sp>
          <p:nvSpPr>
            <p:cNvPr id="26" name="Freeform 26"/>
            <p:cNvSpPr/>
            <p:nvPr/>
          </p:nvSpPr>
          <p:spPr>
            <a:xfrm>
              <a:off x="0" y="0"/>
              <a:ext cx="769010" cy="820544"/>
            </a:xfrm>
            <a:custGeom>
              <a:avLst/>
              <a:gdLst/>
              <a:ahLst/>
              <a:cxnLst/>
              <a:rect l="l" t="t" r="r" b="b"/>
              <a:pathLst>
                <a:path w="769010" h="820544">
                  <a:moveTo>
                    <a:pt x="76893" y="0"/>
                  </a:moveTo>
                  <a:lnTo>
                    <a:pt x="692117" y="0"/>
                  </a:lnTo>
                  <a:cubicBezTo>
                    <a:pt x="734584" y="0"/>
                    <a:pt x="769010" y="34426"/>
                    <a:pt x="769010" y="76893"/>
                  </a:cubicBezTo>
                  <a:lnTo>
                    <a:pt x="769010" y="743651"/>
                  </a:lnTo>
                  <a:cubicBezTo>
                    <a:pt x="769010" y="764044"/>
                    <a:pt x="760909" y="783602"/>
                    <a:pt x="746489" y="798023"/>
                  </a:cubicBezTo>
                  <a:cubicBezTo>
                    <a:pt x="732069" y="812443"/>
                    <a:pt x="712510" y="820544"/>
                    <a:pt x="692117" y="820544"/>
                  </a:cubicBezTo>
                  <a:lnTo>
                    <a:pt x="76893" y="820544"/>
                  </a:lnTo>
                  <a:cubicBezTo>
                    <a:pt x="56500" y="820544"/>
                    <a:pt x="36942" y="812443"/>
                    <a:pt x="22522" y="798023"/>
                  </a:cubicBezTo>
                  <a:cubicBezTo>
                    <a:pt x="8101" y="783602"/>
                    <a:pt x="0" y="764044"/>
                    <a:pt x="0" y="743651"/>
                  </a:cubicBezTo>
                  <a:lnTo>
                    <a:pt x="0" y="76893"/>
                  </a:lnTo>
                  <a:cubicBezTo>
                    <a:pt x="0" y="56500"/>
                    <a:pt x="8101" y="36942"/>
                    <a:pt x="22522" y="22522"/>
                  </a:cubicBezTo>
                  <a:cubicBezTo>
                    <a:pt x="36942" y="8101"/>
                    <a:pt x="56500" y="0"/>
                    <a:pt x="76893" y="0"/>
                  </a:cubicBezTo>
                  <a:close/>
                </a:path>
              </a:pathLst>
            </a:custGeom>
            <a:gradFill rotWithShape="1">
              <a:gsLst>
                <a:gs pos="0">
                  <a:srgbClr val="431F8A">
                    <a:alpha val="100000"/>
                  </a:srgbClr>
                </a:gs>
                <a:gs pos="100000">
                  <a:srgbClr val="6A2E90">
                    <a:alpha val="100000"/>
                  </a:srgbClr>
                </a:gs>
              </a:gsLst>
              <a:lin ang="0"/>
            </a:gradFill>
          </p:spPr>
        </p:sp>
        <p:sp>
          <p:nvSpPr>
            <p:cNvPr id="27" name="TextBox 27"/>
            <p:cNvSpPr txBox="1"/>
            <p:nvPr/>
          </p:nvSpPr>
          <p:spPr>
            <a:xfrm>
              <a:off x="0" y="-57150"/>
              <a:ext cx="769010" cy="877694"/>
            </a:xfrm>
            <a:prstGeom prst="rect">
              <a:avLst/>
            </a:prstGeom>
          </p:spPr>
          <p:txBody>
            <a:bodyPr lIns="50800" tIns="50800" rIns="50800" bIns="50800" rtlCol="0" anchor="ctr"/>
            <a:lstStyle/>
            <a:p>
              <a:pPr marL="0" lvl="0" indent="0" algn="ctr">
                <a:lnSpc>
                  <a:spcPts val="3359"/>
                </a:lnSpc>
              </a:pPr>
              <a:endParaRPr/>
            </a:p>
          </p:txBody>
        </p:sp>
      </p:grpSp>
      <p:sp>
        <p:nvSpPr>
          <p:cNvPr id="28" name="TextBox 28"/>
          <p:cNvSpPr txBox="1"/>
          <p:nvPr/>
        </p:nvSpPr>
        <p:spPr>
          <a:xfrm>
            <a:off x="1671173" y="5835205"/>
            <a:ext cx="2541271" cy="937260"/>
          </a:xfrm>
          <a:prstGeom prst="rect">
            <a:avLst/>
          </a:prstGeom>
        </p:spPr>
        <p:txBody>
          <a:bodyPr lIns="0" tIns="0" rIns="0" bIns="0" rtlCol="0" anchor="t">
            <a:spAutoFit/>
          </a:bodyPr>
          <a:lstStyle/>
          <a:p>
            <a:pPr marL="0" lvl="0" indent="0" algn="ctr">
              <a:lnSpc>
                <a:spcPts val="1560"/>
              </a:lnSpc>
            </a:pPr>
            <a:r>
              <a:rPr lang="en-US" sz="1200">
                <a:solidFill>
                  <a:srgbClr val="FFFFFF"/>
                </a:solidFill>
                <a:latin typeface="TT Interphases"/>
                <a:ea typeface="TT Interphases"/>
                <a:cs typeface="TT Interphases"/>
                <a:sym typeface="TT Interphases"/>
              </a:rPr>
              <a:t>ChromaDB vector search consistently retrieved the most relevant financial statements, enabling precise, context-aware responses across multi-turn conversations.</a:t>
            </a:r>
          </a:p>
        </p:txBody>
      </p:sp>
      <p:sp>
        <p:nvSpPr>
          <p:cNvPr id="29" name="TextBox 29"/>
          <p:cNvSpPr txBox="1"/>
          <p:nvPr/>
        </p:nvSpPr>
        <p:spPr>
          <a:xfrm>
            <a:off x="4783623" y="5835205"/>
            <a:ext cx="2541271" cy="937260"/>
          </a:xfrm>
          <a:prstGeom prst="rect">
            <a:avLst/>
          </a:prstGeom>
        </p:spPr>
        <p:txBody>
          <a:bodyPr lIns="0" tIns="0" rIns="0" bIns="0" rtlCol="0" anchor="t">
            <a:spAutoFit/>
          </a:bodyPr>
          <a:lstStyle/>
          <a:p>
            <a:pPr marL="0" lvl="0" indent="0" algn="ctr">
              <a:lnSpc>
                <a:spcPts val="1560"/>
              </a:lnSpc>
            </a:pPr>
            <a:r>
              <a:rPr lang="en-US" sz="1200">
                <a:solidFill>
                  <a:srgbClr val="FFFFFF"/>
                </a:solidFill>
                <a:latin typeface="TT Interphases"/>
                <a:ea typeface="TT Interphases"/>
                <a:cs typeface="TT Interphases"/>
                <a:sym typeface="TT Interphases"/>
              </a:rPr>
              <a:t>LLM responses are anchored to retrieved document chunks, minimizing hallucinations and ensuring all answers are traceable to source financial data.</a:t>
            </a:r>
          </a:p>
        </p:txBody>
      </p:sp>
      <p:sp>
        <p:nvSpPr>
          <p:cNvPr id="30" name="TextBox 30"/>
          <p:cNvSpPr txBox="1"/>
          <p:nvPr/>
        </p:nvSpPr>
        <p:spPr>
          <a:xfrm>
            <a:off x="8106723" y="5184306"/>
            <a:ext cx="2119971" cy="225597"/>
          </a:xfrm>
          <a:prstGeom prst="rect">
            <a:avLst/>
          </a:prstGeom>
        </p:spPr>
        <p:txBody>
          <a:bodyPr lIns="0" tIns="0" rIns="0" bIns="0" rtlCol="0" anchor="t">
            <a:spAutoFit/>
          </a:bodyPr>
          <a:lstStyle/>
          <a:p>
            <a:pPr marL="0" lvl="0" indent="0" algn="ctr">
              <a:lnSpc>
                <a:spcPts val="1798"/>
              </a:lnSpc>
            </a:pPr>
            <a:r>
              <a:rPr lang="en-US" sz="1853" b="1">
                <a:solidFill>
                  <a:srgbClr val="FFFFFF"/>
                </a:solidFill>
                <a:latin typeface="TT Interphases Bold"/>
                <a:ea typeface="TT Interphases Bold"/>
                <a:cs typeface="TT Interphases Bold"/>
                <a:sym typeface="TT Interphases Bold"/>
              </a:rPr>
              <a:t>Data Scope</a:t>
            </a:r>
          </a:p>
        </p:txBody>
      </p:sp>
      <p:sp>
        <p:nvSpPr>
          <p:cNvPr id="31" name="TextBox 31"/>
          <p:cNvSpPr txBox="1"/>
          <p:nvPr/>
        </p:nvSpPr>
        <p:spPr>
          <a:xfrm>
            <a:off x="7896073" y="5835205"/>
            <a:ext cx="2541271" cy="937260"/>
          </a:xfrm>
          <a:prstGeom prst="rect">
            <a:avLst/>
          </a:prstGeom>
        </p:spPr>
        <p:txBody>
          <a:bodyPr lIns="0" tIns="0" rIns="0" bIns="0" rtlCol="0" anchor="t">
            <a:spAutoFit/>
          </a:bodyPr>
          <a:lstStyle/>
          <a:p>
            <a:pPr marL="0" lvl="0" indent="0" algn="ctr">
              <a:lnSpc>
                <a:spcPts val="1560"/>
              </a:lnSpc>
            </a:pPr>
            <a:r>
              <a:rPr lang="en-US" sz="1200">
                <a:solidFill>
                  <a:srgbClr val="FFFFFF"/>
                </a:solidFill>
                <a:latin typeface="TT Interphases"/>
                <a:ea typeface="TT Interphases"/>
                <a:cs typeface="TT Interphases"/>
                <a:sym typeface="TT Interphases"/>
              </a:rPr>
              <a:t>Current limitation: data is restricted to Indian IT sector companies from Yahoo Finance. Cross-sector and global coverage is not yet supported in this version.</a:t>
            </a:r>
          </a:p>
        </p:txBody>
      </p:sp>
      <p:sp>
        <p:nvSpPr>
          <p:cNvPr id="32" name="TextBox 32"/>
          <p:cNvSpPr txBox="1"/>
          <p:nvPr/>
        </p:nvSpPr>
        <p:spPr>
          <a:xfrm>
            <a:off x="11175987" y="5184306"/>
            <a:ext cx="2119971" cy="225597"/>
          </a:xfrm>
          <a:prstGeom prst="rect">
            <a:avLst/>
          </a:prstGeom>
        </p:spPr>
        <p:txBody>
          <a:bodyPr lIns="0" tIns="0" rIns="0" bIns="0" rtlCol="0" anchor="t">
            <a:spAutoFit/>
          </a:bodyPr>
          <a:lstStyle/>
          <a:p>
            <a:pPr marL="0" lvl="0" indent="0" algn="ctr">
              <a:lnSpc>
                <a:spcPts val="1798"/>
              </a:lnSpc>
            </a:pPr>
            <a:r>
              <a:rPr lang="en-US" sz="1853" b="1">
                <a:solidFill>
                  <a:srgbClr val="FFFFFF"/>
                </a:solidFill>
                <a:latin typeface="TT Interphases Bold"/>
                <a:ea typeface="TT Interphases Bold"/>
                <a:cs typeface="TT Interphases Bold"/>
                <a:sym typeface="TT Interphases Bold"/>
              </a:rPr>
              <a:t>Memory &amp; Context</a:t>
            </a:r>
          </a:p>
        </p:txBody>
      </p:sp>
      <p:sp>
        <p:nvSpPr>
          <p:cNvPr id="33" name="TextBox 33"/>
          <p:cNvSpPr txBox="1"/>
          <p:nvPr/>
        </p:nvSpPr>
        <p:spPr>
          <a:xfrm>
            <a:off x="11008523" y="6130480"/>
            <a:ext cx="2541271" cy="937260"/>
          </a:xfrm>
          <a:prstGeom prst="rect">
            <a:avLst/>
          </a:prstGeom>
        </p:spPr>
        <p:txBody>
          <a:bodyPr lIns="0" tIns="0" rIns="0" bIns="0" rtlCol="0" anchor="t">
            <a:spAutoFit/>
          </a:bodyPr>
          <a:lstStyle/>
          <a:p>
            <a:pPr marL="0" lvl="0" indent="0" algn="ctr">
              <a:lnSpc>
                <a:spcPts val="1560"/>
              </a:lnSpc>
            </a:pPr>
            <a:r>
              <a:rPr lang="en-US" sz="1200">
                <a:solidFill>
                  <a:srgbClr val="FFFFFF"/>
                </a:solidFill>
                <a:latin typeface="TT Interphases"/>
                <a:ea typeface="TT Interphases"/>
                <a:cs typeface="TT Interphases"/>
                <a:sym typeface="TT Interphases"/>
              </a:rPr>
              <a:t>Conversation memory handles follow-up questions effectively within a session, though long conversation histories may dilute retrieval precision over time.</a:t>
            </a:r>
          </a:p>
        </p:txBody>
      </p:sp>
      <p:sp>
        <p:nvSpPr>
          <p:cNvPr id="34" name="TextBox 34"/>
          <p:cNvSpPr txBox="1"/>
          <p:nvPr/>
        </p:nvSpPr>
        <p:spPr>
          <a:xfrm>
            <a:off x="14078189" y="5184306"/>
            <a:ext cx="2536005" cy="225597"/>
          </a:xfrm>
          <a:prstGeom prst="rect">
            <a:avLst/>
          </a:prstGeom>
        </p:spPr>
        <p:txBody>
          <a:bodyPr lIns="0" tIns="0" rIns="0" bIns="0" rtlCol="0" anchor="t">
            <a:spAutoFit/>
          </a:bodyPr>
          <a:lstStyle/>
          <a:p>
            <a:pPr marL="0" lvl="0" indent="0" algn="ctr">
              <a:lnSpc>
                <a:spcPts val="1798"/>
              </a:lnSpc>
            </a:pPr>
            <a:r>
              <a:rPr lang="en-US" sz="1853" b="1">
                <a:solidFill>
                  <a:srgbClr val="FFFFFF"/>
                </a:solidFill>
                <a:latin typeface="TT Interphases Bold"/>
                <a:ea typeface="TT Interphases Bold"/>
                <a:cs typeface="TT Interphases Bold"/>
                <a:sym typeface="TT Interphases Bold"/>
              </a:rPr>
              <a:t>Future Roadmap</a:t>
            </a:r>
          </a:p>
        </p:txBody>
      </p:sp>
      <p:sp>
        <p:nvSpPr>
          <p:cNvPr id="35" name="TextBox 35"/>
          <p:cNvSpPr txBox="1"/>
          <p:nvPr/>
        </p:nvSpPr>
        <p:spPr>
          <a:xfrm>
            <a:off x="14120973" y="6130480"/>
            <a:ext cx="2541271" cy="746760"/>
          </a:xfrm>
          <a:prstGeom prst="rect">
            <a:avLst/>
          </a:prstGeom>
        </p:spPr>
        <p:txBody>
          <a:bodyPr lIns="0" tIns="0" rIns="0" bIns="0" rtlCol="0" anchor="t">
            <a:spAutoFit/>
          </a:bodyPr>
          <a:lstStyle/>
          <a:p>
            <a:pPr marL="0" lvl="0" indent="0" algn="ctr">
              <a:lnSpc>
                <a:spcPts val="1560"/>
              </a:lnSpc>
            </a:pPr>
            <a:r>
              <a:rPr lang="en-US" sz="1200">
                <a:solidFill>
                  <a:srgbClr val="FFFFFF"/>
                </a:solidFill>
                <a:latin typeface="TT Interphases"/>
                <a:ea typeface="TT Interphases"/>
                <a:cs typeface="TT Interphases"/>
                <a:sym typeface="TT Interphases"/>
              </a:rPr>
              <a:t>Planned: multi-source ingestion (SEC, NSE), real-time data refresh, expanded sector coverage, and a persistent user session memory layer.</a:t>
            </a:r>
          </a:p>
        </p:txBody>
      </p:sp>
      <p:grpSp>
        <p:nvGrpSpPr>
          <p:cNvPr id="38" name="Group 38"/>
          <p:cNvGrpSpPr/>
          <p:nvPr/>
        </p:nvGrpSpPr>
        <p:grpSpPr>
          <a:xfrm>
            <a:off x="5429224" y="8767760"/>
            <a:ext cx="7072362" cy="876334"/>
            <a:chOff x="0" y="0"/>
            <a:chExt cx="3915949" cy="406400"/>
          </a:xfrm>
        </p:grpSpPr>
        <p:sp>
          <p:nvSpPr>
            <p:cNvPr id="39" name="Freeform 39"/>
            <p:cNvSpPr/>
            <p:nvPr/>
          </p:nvSpPr>
          <p:spPr>
            <a:xfrm>
              <a:off x="0" y="0"/>
              <a:ext cx="3915949" cy="406400"/>
            </a:xfrm>
            <a:custGeom>
              <a:avLst/>
              <a:gdLst/>
              <a:ahLst/>
              <a:cxnLst/>
              <a:rect l="l" t="t" r="r" b="b"/>
              <a:pathLst>
                <a:path w="3915949" h="406400">
                  <a:moveTo>
                    <a:pt x="3712749" y="0"/>
                  </a:moveTo>
                  <a:cubicBezTo>
                    <a:pt x="3824973" y="0"/>
                    <a:pt x="3915949" y="90976"/>
                    <a:pt x="3915949" y="203200"/>
                  </a:cubicBezTo>
                  <a:cubicBezTo>
                    <a:pt x="3915949" y="315424"/>
                    <a:pt x="3824973" y="406400"/>
                    <a:pt x="3712749" y="406400"/>
                  </a:cubicBezTo>
                  <a:lnTo>
                    <a:pt x="203200" y="406400"/>
                  </a:lnTo>
                  <a:cubicBezTo>
                    <a:pt x="90976" y="406400"/>
                    <a:pt x="0" y="315424"/>
                    <a:pt x="0" y="203200"/>
                  </a:cubicBezTo>
                  <a:cubicBezTo>
                    <a:pt x="0" y="90976"/>
                    <a:pt x="90976" y="0"/>
                    <a:pt x="203200" y="0"/>
                  </a:cubicBezTo>
                  <a:close/>
                </a:path>
              </a:pathLst>
            </a:custGeom>
            <a:gradFill rotWithShape="1">
              <a:gsLst>
                <a:gs pos="0">
                  <a:srgbClr val="401D89">
                    <a:alpha val="100000"/>
                  </a:srgbClr>
                </a:gs>
                <a:gs pos="100000">
                  <a:srgbClr val="D2689C">
                    <a:alpha val="100000"/>
                  </a:srgbClr>
                </a:gs>
              </a:gsLst>
              <a:lin ang="0"/>
            </a:gradFill>
          </p:spPr>
        </p:sp>
        <p:sp>
          <p:nvSpPr>
            <p:cNvPr id="40" name="TextBox 40"/>
            <p:cNvSpPr txBox="1"/>
            <p:nvPr/>
          </p:nvSpPr>
          <p:spPr>
            <a:xfrm>
              <a:off x="0" y="-57150"/>
              <a:ext cx="3915949" cy="463550"/>
            </a:xfrm>
            <a:prstGeom prst="rect">
              <a:avLst/>
            </a:prstGeom>
          </p:spPr>
          <p:txBody>
            <a:bodyPr lIns="50800" tIns="50800" rIns="50800" bIns="50800" rtlCol="0" anchor="ctr"/>
            <a:lstStyle/>
            <a:p>
              <a:pPr marL="0" lvl="0" indent="0" algn="ctr">
                <a:lnSpc>
                  <a:spcPts val="3359"/>
                </a:lnSpc>
              </a:pPr>
              <a:endParaRPr/>
            </a:p>
          </p:txBody>
        </p:sp>
      </p:grpSp>
      <p:sp>
        <p:nvSpPr>
          <p:cNvPr id="41" name="TextBox 41"/>
          <p:cNvSpPr txBox="1"/>
          <p:nvPr/>
        </p:nvSpPr>
        <p:spPr>
          <a:xfrm>
            <a:off x="7277547" y="8786323"/>
            <a:ext cx="3734045" cy="576792"/>
          </a:xfrm>
          <a:prstGeom prst="rect">
            <a:avLst/>
          </a:prstGeom>
        </p:spPr>
        <p:txBody>
          <a:bodyPr lIns="0" tIns="0" rIns="0" bIns="0" rtlCol="0" anchor="t">
            <a:spAutoFit/>
          </a:bodyPr>
          <a:lstStyle/>
          <a:p>
            <a:pPr marL="0" lvl="0" indent="0" algn="ctr">
              <a:lnSpc>
                <a:spcPts val="2333"/>
              </a:lnSpc>
              <a:spcBef>
                <a:spcPct val="0"/>
              </a:spcBef>
            </a:pPr>
            <a:r>
              <a:rPr lang="en-US" sz="1666" dirty="0">
                <a:solidFill>
                  <a:srgbClr val="FFFFFF"/>
                </a:solidFill>
                <a:latin typeface="TT Interphases"/>
                <a:ea typeface="TT Interphases"/>
                <a:cs typeface="TT Interphases"/>
                <a:sym typeface="TT Interphases"/>
              </a:rPr>
              <a:t>Finance Knowledge Assistant — RAG Capstone</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2026617">
            <a:off x="3395976" y="3190853"/>
            <a:ext cx="20299771" cy="6754287"/>
          </a:xfrm>
          <a:custGeom>
            <a:avLst/>
            <a:gdLst/>
            <a:ahLst/>
            <a:cxnLst/>
            <a:rect l="l" t="t" r="r" b="b"/>
            <a:pathLst>
              <a:path w="20299771" h="6754287">
                <a:moveTo>
                  <a:pt x="0" y="0"/>
                </a:moveTo>
                <a:lnTo>
                  <a:pt x="20299771" y="0"/>
                </a:lnTo>
                <a:lnTo>
                  <a:pt x="20299771" y="6754287"/>
                </a:lnTo>
                <a:lnTo>
                  <a:pt x="0" y="6754287"/>
                </a:lnTo>
                <a:lnTo>
                  <a:pt x="0" y="0"/>
                </a:lnTo>
                <a:close/>
              </a:path>
            </a:pathLst>
          </a:custGeom>
          <a:blipFill>
            <a:blip r:embed="rId2">
              <a:alphaModFix amt="15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8841392" y="587451"/>
            <a:ext cx="9122342" cy="9105756"/>
          </a:xfrm>
          <a:custGeom>
            <a:avLst/>
            <a:gdLst/>
            <a:ahLst/>
            <a:cxnLst/>
            <a:rect l="l" t="t" r="r" b="b"/>
            <a:pathLst>
              <a:path w="9122342" h="9105756">
                <a:moveTo>
                  <a:pt x="0" y="0"/>
                </a:moveTo>
                <a:lnTo>
                  <a:pt x="9122342" y="0"/>
                </a:lnTo>
                <a:lnTo>
                  <a:pt x="9122342" y="9105756"/>
                </a:lnTo>
                <a:lnTo>
                  <a:pt x="0" y="9105756"/>
                </a:lnTo>
                <a:lnTo>
                  <a:pt x="0" y="0"/>
                </a:lnTo>
                <a:close/>
              </a:path>
            </a:pathLst>
          </a:custGeom>
          <a:blipFill>
            <a:blip r:embed="rId4"/>
            <a:stretch>
              <a:fillRect/>
            </a:stretch>
          </a:blipFill>
        </p:spPr>
      </p:sp>
      <p:sp>
        <p:nvSpPr>
          <p:cNvPr id="4" name="Freeform 4"/>
          <p:cNvSpPr/>
          <p:nvPr/>
        </p:nvSpPr>
        <p:spPr>
          <a:xfrm rot="2157946">
            <a:off x="10971715" y="1704128"/>
            <a:ext cx="7674174" cy="2885362"/>
          </a:xfrm>
          <a:custGeom>
            <a:avLst/>
            <a:gdLst/>
            <a:ahLst/>
            <a:cxnLst/>
            <a:rect l="l" t="t" r="r" b="b"/>
            <a:pathLst>
              <a:path w="7674174" h="2885362">
                <a:moveTo>
                  <a:pt x="0" y="0"/>
                </a:moveTo>
                <a:lnTo>
                  <a:pt x="7674174" y="0"/>
                </a:lnTo>
                <a:lnTo>
                  <a:pt x="7674174" y="2885362"/>
                </a:lnTo>
                <a:lnTo>
                  <a:pt x="0" y="2885362"/>
                </a:lnTo>
                <a:lnTo>
                  <a:pt x="0" y="0"/>
                </a:lnTo>
                <a:close/>
              </a:path>
            </a:pathLst>
          </a:custGeom>
          <a:blipFill>
            <a:blip r:embed="rId5">
              <a:extLst>
                <a:ext uri="{96DAC541-7B7A-43D3-8B79-37D633B846F1}">
                  <asvg:svgBlip xmlns:asvg="http://schemas.microsoft.com/office/drawing/2016/SVG/main" xmlns="" r:embed="rId6"/>
                </a:ext>
              </a:extLst>
            </a:blip>
            <a:stretch>
              <a:fillRect b="-32984"/>
            </a:stretch>
          </a:blipFill>
        </p:spPr>
      </p:sp>
      <p:sp>
        <p:nvSpPr>
          <p:cNvPr id="5" name="Freeform 5"/>
          <p:cNvSpPr/>
          <p:nvPr/>
        </p:nvSpPr>
        <p:spPr>
          <a:xfrm rot="2157946" flipV="1">
            <a:off x="8438712" y="4719029"/>
            <a:ext cx="7674174" cy="3837087"/>
          </a:xfrm>
          <a:custGeom>
            <a:avLst/>
            <a:gdLst/>
            <a:ahLst/>
            <a:cxnLst/>
            <a:rect l="l" t="t" r="r" b="b"/>
            <a:pathLst>
              <a:path w="7674174" h="3837087">
                <a:moveTo>
                  <a:pt x="0" y="3837087"/>
                </a:moveTo>
                <a:lnTo>
                  <a:pt x="7674174" y="3837087"/>
                </a:lnTo>
                <a:lnTo>
                  <a:pt x="7674174" y="0"/>
                </a:lnTo>
                <a:lnTo>
                  <a:pt x="0" y="0"/>
                </a:lnTo>
                <a:lnTo>
                  <a:pt x="0" y="3837087"/>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6" name="Group 6"/>
          <p:cNvGrpSpPr/>
          <p:nvPr/>
        </p:nvGrpSpPr>
        <p:grpSpPr>
          <a:xfrm>
            <a:off x="9975622" y="1713388"/>
            <a:ext cx="6853883" cy="685388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01D89">
                    <a:alpha val="100000"/>
                  </a:srgbClr>
                </a:gs>
                <a:gs pos="100000">
                  <a:srgbClr val="D2689C">
                    <a:alpha val="100000"/>
                  </a:srgbClr>
                </a:gs>
              </a:gsLst>
              <a:lin ang="0"/>
            </a:gradFill>
          </p:spPr>
        </p:sp>
        <p:sp>
          <p:nvSpPr>
            <p:cNvPr id="8" name="TextBox 8"/>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10176794" y="1914560"/>
            <a:ext cx="6451538" cy="645153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a:stretch>
            </a:blipFill>
          </p:spPr>
        </p:sp>
      </p:grpSp>
      <p:sp>
        <p:nvSpPr>
          <p:cNvPr id="11" name="Freeform 11"/>
          <p:cNvSpPr/>
          <p:nvPr/>
        </p:nvSpPr>
        <p:spPr>
          <a:xfrm>
            <a:off x="-458594" y="5993565"/>
            <a:ext cx="1519526" cy="3084508"/>
          </a:xfrm>
          <a:custGeom>
            <a:avLst/>
            <a:gdLst/>
            <a:ahLst/>
            <a:cxnLst/>
            <a:rect l="l" t="t" r="r" b="b"/>
            <a:pathLst>
              <a:path w="1519526" h="3084508">
                <a:moveTo>
                  <a:pt x="0" y="0"/>
                </a:moveTo>
                <a:lnTo>
                  <a:pt x="1519526" y="0"/>
                </a:lnTo>
                <a:lnTo>
                  <a:pt x="1519526" y="3084508"/>
                </a:lnTo>
                <a:lnTo>
                  <a:pt x="0" y="3084508"/>
                </a:lnTo>
                <a:lnTo>
                  <a:pt x="0" y="0"/>
                </a:lnTo>
                <a:close/>
              </a:path>
            </a:pathLst>
          </a:custGeom>
          <a:blipFill>
            <a:blip r:embed="rId8"/>
            <a:stretch>
              <a:fillRect/>
            </a:stretch>
          </a:blipFill>
        </p:spPr>
      </p:sp>
      <p:sp>
        <p:nvSpPr>
          <p:cNvPr id="12" name="Freeform 12"/>
          <p:cNvSpPr/>
          <p:nvPr/>
        </p:nvSpPr>
        <p:spPr>
          <a:xfrm flipH="1">
            <a:off x="16818832" y="0"/>
            <a:ext cx="2071591" cy="4205152"/>
          </a:xfrm>
          <a:custGeom>
            <a:avLst/>
            <a:gdLst/>
            <a:ahLst/>
            <a:cxnLst/>
            <a:rect l="l" t="t" r="r" b="b"/>
            <a:pathLst>
              <a:path w="2071591" h="4205152">
                <a:moveTo>
                  <a:pt x="2071591" y="0"/>
                </a:moveTo>
                <a:lnTo>
                  <a:pt x="0" y="0"/>
                </a:lnTo>
                <a:lnTo>
                  <a:pt x="0" y="4205152"/>
                </a:lnTo>
                <a:lnTo>
                  <a:pt x="2071591" y="4205152"/>
                </a:lnTo>
                <a:lnTo>
                  <a:pt x="2071591" y="0"/>
                </a:lnTo>
                <a:close/>
              </a:path>
            </a:pathLst>
          </a:custGeom>
          <a:blipFill>
            <a:blip r:embed="rId8"/>
            <a:stretch>
              <a:fillRect/>
            </a:stretch>
          </a:blipFill>
        </p:spPr>
      </p:sp>
      <p:sp>
        <p:nvSpPr>
          <p:cNvPr id="14" name="Freeform 14"/>
          <p:cNvSpPr/>
          <p:nvPr/>
        </p:nvSpPr>
        <p:spPr>
          <a:xfrm>
            <a:off x="7481992" y="-3498726"/>
            <a:ext cx="4793807" cy="4802539"/>
          </a:xfrm>
          <a:custGeom>
            <a:avLst/>
            <a:gdLst/>
            <a:ahLst/>
            <a:cxnLst/>
            <a:rect l="l" t="t" r="r" b="b"/>
            <a:pathLst>
              <a:path w="4793807" h="4802539">
                <a:moveTo>
                  <a:pt x="0" y="0"/>
                </a:moveTo>
                <a:lnTo>
                  <a:pt x="4793807" y="0"/>
                </a:lnTo>
                <a:lnTo>
                  <a:pt x="4793807" y="4802539"/>
                </a:lnTo>
                <a:lnTo>
                  <a:pt x="0" y="4802539"/>
                </a:lnTo>
                <a:lnTo>
                  <a:pt x="0" y="0"/>
                </a:lnTo>
                <a:close/>
              </a:path>
            </a:pathLst>
          </a:custGeom>
          <a:blipFill>
            <a:blip r:embed="rId9">
              <a:extLst>
                <a:ext uri="{96DAC541-7B7A-43D3-8B79-37D633B846F1}">
                  <asvg:svgBlip xmlns:asvg="http://schemas.microsoft.com/office/drawing/2016/SVG/main" xmlns="" r:embed="rId12"/>
                </a:ext>
              </a:extLst>
            </a:blip>
            <a:stretch>
              <a:fillRect/>
            </a:stretch>
          </a:blipFill>
        </p:spPr>
      </p:sp>
      <p:sp>
        <p:nvSpPr>
          <p:cNvPr id="15" name="Freeform 15"/>
          <p:cNvSpPr/>
          <p:nvPr/>
        </p:nvSpPr>
        <p:spPr>
          <a:xfrm>
            <a:off x="16108917" y="8366098"/>
            <a:ext cx="4940090" cy="4949088"/>
          </a:xfrm>
          <a:custGeom>
            <a:avLst/>
            <a:gdLst/>
            <a:ahLst/>
            <a:cxnLst/>
            <a:rect l="l" t="t" r="r" b="b"/>
            <a:pathLst>
              <a:path w="4940090" h="4949088">
                <a:moveTo>
                  <a:pt x="0" y="0"/>
                </a:moveTo>
                <a:lnTo>
                  <a:pt x="4940090" y="0"/>
                </a:lnTo>
                <a:lnTo>
                  <a:pt x="4940090" y="4949088"/>
                </a:lnTo>
                <a:lnTo>
                  <a:pt x="0" y="4949088"/>
                </a:lnTo>
                <a:lnTo>
                  <a:pt x="0" y="0"/>
                </a:lnTo>
                <a:close/>
              </a:path>
            </a:pathLst>
          </a:custGeom>
          <a:blipFill>
            <a:blip r:embed="rId9">
              <a:extLst>
                <a:ext uri="{96DAC541-7B7A-43D3-8B79-37D633B846F1}">
                  <asvg:svgBlip xmlns:asvg="http://schemas.microsoft.com/office/drawing/2016/SVG/main" xmlns="" r:embed="rId12"/>
                </a:ext>
              </a:extLst>
            </a:blip>
            <a:stretch>
              <a:fillRect/>
            </a:stretch>
          </a:blipFill>
        </p:spPr>
      </p:sp>
      <p:sp>
        <p:nvSpPr>
          <p:cNvPr id="17" name="Freeform 17"/>
          <p:cNvSpPr/>
          <p:nvPr/>
        </p:nvSpPr>
        <p:spPr>
          <a:xfrm>
            <a:off x="9510649" y="8082370"/>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r:embed="rId13" cstate="print">
              <a:extLst>
                <a:ext uri="{96DAC541-7B7A-43D3-8B79-37D633B846F1}">
                  <asvg:svgBlip xmlns:asvg="http://schemas.microsoft.com/office/drawing/2016/SVG/main" xmlns="" r:embed="rId16"/>
                </a:ext>
              </a:extLst>
            </a:blip>
            <a:stretch>
              <a:fillRect t="-106388" r="-103152"/>
            </a:stretch>
          </a:blipFill>
        </p:spPr>
      </p:sp>
      <p:grpSp>
        <p:nvGrpSpPr>
          <p:cNvPr id="18" name="Group 18"/>
          <p:cNvGrpSpPr/>
          <p:nvPr/>
        </p:nvGrpSpPr>
        <p:grpSpPr>
          <a:xfrm>
            <a:off x="4854775" y="5926686"/>
            <a:ext cx="5254433" cy="641311"/>
            <a:chOff x="0" y="0"/>
            <a:chExt cx="3329743" cy="406400"/>
          </a:xfrm>
        </p:grpSpPr>
        <p:sp>
          <p:nvSpPr>
            <p:cNvPr id="19" name="Freeform 19"/>
            <p:cNvSpPr/>
            <p:nvPr/>
          </p:nvSpPr>
          <p:spPr>
            <a:xfrm>
              <a:off x="0" y="0"/>
              <a:ext cx="3329743" cy="406400"/>
            </a:xfrm>
            <a:custGeom>
              <a:avLst/>
              <a:gdLst/>
              <a:ahLst/>
              <a:cxnLst/>
              <a:rect l="l" t="t" r="r" b="b"/>
              <a:pathLst>
                <a:path w="3329743" h="406400">
                  <a:moveTo>
                    <a:pt x="3126543" y="0"/>
                  </a:moveTo>
                  <a:cubicBezTo>
                    <a:pt x="3238767" y="0"/>
                    <a:pt x="3329743" y="90976"/>
                    <a:pt x="3329743" y="203200"/>
                  </a:cubicBezTo>
                  <a:cubicBezTo>
                    <a:pt x="3329743" y="315424"/>
                    <a:pt x="3238767" y="406400"/>
                    <a:pt x="3126543" y="406400"/>
                  </a:cubicBezTo>
                  <a:lnTo>
                    <a:pt x="203200" y="406400"/>
                  </a:lnTo>
                  <a:cubicBezTo>
                    <a:pt x="90976" y="406400"/>
                    <a:pt x="0" y="315424"/>
                    <a:pt x="0" y="203200"/>
                  </a:cubicBezTo>
                  <a:cubicBezTo>
                    <a:pt x="0" y="90976"/>
                    <a:pt x="90976" y="0"/>
                    <a:pt x="203200" y="0"/>
                  </a:cubicBezTo>
                  <a:close/>
                </a:path>
              </a:pathLst>
            </a:custGeom>
            <a:gradFill rotWithShape="1">
              <a:gsLst>
                <a:gs pos="0">
                  <a:srgbClr val="401D89">
                    <a:alpha val="100000"/>
                  </a:srgbClr>
                </a:gs>
                <a:gs pos="100000">
                  <a:srgbClr val="D2689C">
                    <a:alpha val="100000"/>
                  </a:srgbClr>
                </a:gs>
              </a:gsLst>
              <a:lin ang="0"/>
            </a:gradFill>
          </p:spPr>
        </p:sp>
        <p:sp>
          <p:nvSpPr>
            <p:cNvPr id="20" name="TextBox 20"/>
            <p:cNvSpPr txBox="1"/>
            <p:nvPr/>
          </p:nvSpPr>
          <p:spPr>
            <a:xfrm>
              <a:off x="0" y="-57150"/>
              <a:ext cx="3329743" cy="463550"/>
            </a:xfrm>
            <a:prstGeom prst="rect">
              <a:avLst/>
            </a:prstGeom>
          </p:spPr>
          <p:txBody>
            <a:bodyPr lIns="50800" tIns="50800" rIns="50800" bIns="50800" rtlCol="0" anchor="ctr"/>
            <a:lstStyle/>
            <a:p>
              <a:pPr marL="0" lvl="0" indent="0" algn="ctr">
                <a:lnSpc>
                  <a:spcPts val="3359"/>
                </a:lnSpc>
              </a:pPr>
              <a:endParaRPr/>
            </a:p>
          </p:txBody>
        </p:sp>
      </p:grpSp>
      <p:sp>
        <p:nvSpPr>
          <p:cNvPr id="21" name="TextBox 21"/>
          <p:cNvSpPr txBox="1"/>
          <p:nvPr/>
        </p:nvSpPr>
        <p:spPr>
          <a:xfrm>
            <a:off x="1927008" y="1198688"/>
            <a:ext cx="2885638" cy="188595"/>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TT Interphases"/>
                <a:ea typeface="TT Interphases"/>
                <a:cs typeface="TT Interphases"/>
                <a:sym typeface="TT Interphases"/>
              </a:rPr>
              <a:t>Finance RAG Capstone</a:t>
            </a:r>
          </a:p>
        </p:txBody>
      </p:sp>
      <p:sp>
        <p:nvSpPr>
          <p:cNvPr id="23" name="TextBox 23"/>
          <p:cNvSpPr txBox="1"/>
          <p:nvPr/>
        </p:nvSpPr>
        <p:spPr>
          <a:xfrm>
            <a:off x="1028700" y="3490069"/>
            <a:ext cx="6228661" cy="1732705"/>
          </a:xfrm>
          <a:prstGeom prst="rect">
            <a:avLst/>
          </a:prstGeom>
        </p:spPr>
        <p:txBody>
          <a:bodyPr lIns="0" tIns="0" rIns="0" bIns="0" rtlCol="0" anchor="t">
            <a:spAutoFit/>
          </a:bodyPr>
          <a:lstStyle/>
          <a:p>
            <a:pPr marL="0" lvl="0" indent="0" algn="l">
              <a:lnSpc>
                <a:spcPts val="12940"/>
              </a:lnSpc>
            </a:pPr>
            <a:r>
              <a:rPr lang="en-US" sz="13340" b="1">
                <a:solidFill>
                  <a:srgbClr val="A94BC6"/>
                </a:solidFill>
                <a:latin typeface="TT Interphases Bold"/>
                <a:ea typeface="TT Interphases Bold"/>
                <a:cs typeface="TT Interphases Bold"/>
                <a:sym typeface="TT Interphases Bold"/>
              </a:rPr>
              <a:t>Thank</a:t>
            </a:r>
          </a:p>
        </p:txBody>
      </p:sp>
      <p:sp>
        <p:nvSpPr>
          <p:cNvPr id="24" name="TextBox 24"/>
          <p:cNvSpPr txBox="1"/>
          <p:nvPr/>
        </p:nvSpPr>
        <p:spPr>
          <a:xfrm>
            <a:off x="1028700" y="5133714"/>
            <a:ext cx="3429263" cy="1732705"/>
          </a:xfrm>
          <a:prstGeom prst="rect">
            <a:avLst/>
          </a:prstGeom>
        </p:spPr>
        <p:txBody>
          <a:bodyPr lIns="0" tIns="0" rIns="0" bIns="0" rtlCol="0" anchor="t">
            <a:spAutoFit/>
          </a:bodyPr>
          <a:lstStyle/>
          <a:p>
            <a:pPr marL="0" lvl="0" indent="0" algn="l">
              <a:lnSpc>
                <a:spcPts val="12940"/>
              </a:lnSpc>
            </a:pPr>
            <a:r>
              <a:rPr lang="en-US" sz="13340" b="1">
                <a:solidFill>
                  <a:srgbClr val="FFFFFF"/>
                </a:solidFill>
                <a:latin typeface="TT Interphases Bold"/>
                <a:ea typeface="TT Interphases Bold"/>
                <a:cs typeface="TT Interphases Bold"/>
                <a:sym typeface="TT Interphases Bold"/>
              </a:rPr>
              <a:t>You!</a:t>
            </a:r>
          </a:p>
        </p:txBody>
      </p:sp>
      <p:sp>
        <p:nvSpPr>
          <p:cNvPr id="25" name="TextBox 25"/>
          <p:cNvSpPr txBox="1"/>
          <p:nvPr/>
        </p:nvSpPr>
        <p:spPr>
          <a:xfrm>
            <a:off x="5254214" y="5950211"/>
            <a:ext cx="4455554" cy="542951"/>
          </a:xfrm>
          <a:prstGeom prst="rect">
            <a:avLst/>
          </a:prstGeom>
        </p:spPr>
        <p:txBody>
          <a:bodyPr lIns="0" tIns="0" rIns="0" bIns="0" rtlCol="0" anchor="t">
            <a:spAutoFit/>
          </a:bodyPr>
          <a:lstStyle/>
          <a:p>
            <a:pPr marL="0" lvl="0" indent="0" algn="ctr">
              <a:lnSpc>
                <a:spcPts val="2225"/>
              </a:lnSpc>
              <a:spcBef>
                <a:spcPct val="0"/>
              </a:spcBef>
            </a:pPr>
            <a:r>
              <a:rPr lang="en-US" sz="1589">
                <a:solidFill>
                  <a:srgbClr val="FFFFFF"/>
                </a:solidFill>
                <a:latin typeface="TT Interphases"/>
                <a:ea typeface="TT Interphases"/>
                <a:cs typeface="TT Interphases"/>
                <a:sym typeface="TT Interphases"/>
              </a:rPr>
              <a:t>Ready for Demo — Finance Knowledge Assistant RAG</a:t>
            </a:r>
          </a:p>
        </p:txBody>
      </p:sp>
      <p:sp>
        <p:nvSpPr>
          <p:cNvPr id="26" name="Freeform 26"/>
          <p:cNvSpPr/>
          <p:nvPr/>
        </p:nvSpPr>
        <p:spPr>
          <a:xfrm>
            <a:off x="1028700" y="1053061"/>
            <a:ext cx="781082" cy="781082"/>
          </a:xfrm>
          <a:custGeom>
            <a:avLst/>
            <a:gdLst/>
            <a:ahLst/>
            <a:cxnLst/>
            <a:rect l="l" t="t" r="r" b="b"/>
            <a:pathLst>
              <a:path w="781082" h="781082">
                <a:moveTo>
                  <a:pt x="0" y="0"/>
                </a:moveTo>
                <a:lnTo>
                  <a:pt x="781082" y="0"/>
                </a:lnTo>
                <a:lnTo>
                  <a:pt x="781082" y="781082"/>
                </a:lnTo>
                <a:lnTo>
                  <a:pt x="0" y="781082"/>
                </a:lnTo>
                <a:lnTo>
                  <a:pt x="0" y="0"/>
                </a:lnTo>
                <a:close/>
              </a:path>
            </a:pathLst>
          </a:custGeom>
          <a:blipFill>
            <a:blip r:embed="rId17" cstate="print">
              <a:extLst>
                <a:ext uri="{96DAC541-7B7A-43D3-8B79-37D633B846F1}">
                  <asvg:svgBlip xmlns:asvg="http://schemas.microsoft.com/office/drawing/2016/SVG/main" xmlns="" r:embed="rId18"/>
                </a:ext>
              </a:extLst>
            </a:blip>
            <a:stretch>
              <a:fillRect/>
            </a:stretch>
          </a:blipFill>
        </p:spPr>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1265</Words>
  <Application>Microsoft Office PowerPoint</Application>
  <PresentationFormat>Custom</PresentationFormat>
  <Paragraphs>114</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TT Interphases</vt:lpstr>
      <vt:lpstr>TT Interphases Italics</vt:lpstr>
      <vt:lpstr>TT Interphases Bold</vt:lpstr>
      <vt:lpstr>TT Interphases Bold Italics</vt:lpstr>
      <vt:lpstr>Wingdings</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Finance Knowledge Assistant with RAG</dc:title>
  <cp:lastModifiedBy>Windows User</cp:lastModifiedBy>
  <cp:revision>3</cp:revision>
  <dcterms:created xsi:type="dcterms:W3CDTF">2006-08-16T00:00:00Z</dcterms:created>
  <dcterms:modified xsi:type="dcterms:W3CDTF">2026-07-23T05:17:26Z</dcterms:modified>
  <dc:identifier>DAHQLNRXPus</dc:identifier>
</cp:coreProperties>
</file>